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76" r:id="rId27"/>
    <p:sldId id="264" r:id="rId15"/>
    <p:sldId id="265" r:id="rId16"/>
    <p:sldId id="266" r:id="rId17"/>
    <p:sldId id="267" r:id="rId18"/>
    <p:sldId id="268" r:id="rId19"/>
    <p:sldId id="269" r:id="rId20"/>
    <p:sldId id="270" r:id="rId21"/>
    <p:sldId id="271" r:id="rId22"/>
    <p:sldId id="272" r:id="rId23"/>
    <p:sldId id="277" r:id="rId28"/>
    <p:sldId id="278" r:id="rId29"/>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914400" y="2560320"/>
            <a:ext cx="3657600"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9144000" cy="1097280"/>
          </a:xfrm>
          <a:prstGeom prst="rect">
            <a:avLst/>
          </a:prstGeom>
          <a:noFill/>
        </p:spPr>
        <p:txBody>
          <a:bodyPr wrap="square">
            <a:spAutoFit/>
          </a:bodyPr>
          <a:lstStyle/>
          <a:p>
            <a:pPr algn="l">
              <a:defRPr sz="4400" b="1">
                <a:solidFill>
                  <a:srgbClr val="FFFFFF"/>
                </a:solidFill>
                <a:latin typeface="Calibri"/>
              </a:defRPr>
            </a:pPr>
            <a:r>
              <a:t>Enterprise AI Agent Platform</a:t>
            </a:r>
          </a:p>
        </p:txBody>
      </p:sp>
      <p:sp>
        <p:nvSpPr>
          <p:cNvPr id="4" name="TextBox 3"/>
          <p:cNvSpPr txBox="1"/>
          <p:nvPr/>
        </p:nvSpPr>
        <p:spPr>
          <a:xfrm>
            <a:off x="914400" y="3840480"/>
            <a:ext cx="9144000" cy="731520"/>
          </a:xfrm>
          <a:prstGeom prst="rect">
            <a:avLst/>
          </a:prstGeom>
          <a:noFill/>
        </p:spPr>
        <p:txBody>
          <a:bodyPr wrap="square">
            <a:spAutoFit/>
          </a:bodyPr>
          <a:lstStyle/>
          <a:p>
            <a:pPr algn="l">
              <a:defRPr sz="2200" b="0">
                <a:solidFill>
                  <a:srgbClr val="999999"/>
                </a:solidFill>
                <a:latin typeface="Calibri"/>
              </a:defRPr>
            </a:pPr>
            <a:r>
              <a:t>On-Premise AI Infrastructure for Secure, Compliant Manufacturing Operations</a:t>
            </a:r>
          </a:p>
        </p:txBody>
      </p:sp>
      <p:sp>
        <p:nvSpPr>
          <p:cNvPr id="5" name="TextBox 4"/>
          <p:cNvSpPr txBox="1"/>
          <p:nvPr/>
        </p:nvSpPr>
        <p:spPr>
          <a:xfrm>
            <a:off x="914400" y="5029200"/>
            <a:ext cx="4572000" cy="457200"/>
          </a:xfrm>
          <a:prstGeom prst="rect">
            <a:avLst/>
          </a:prstGeom>
          <a:noFill/>
        </p:spPr>
        <p:txBody>
          <a:bodyPr wrap="square">
            <a:spAutoFit/>
          </a:bodyPr>
          <a:lstStyle/>
          <a:p>
            <a:pPr algn="l">
              <a:defRPr sz="1600" b="0">
                <a:solidFill>
                  <a:srgbClr val="00C9A7"/>
                </a:solidFill>
                <a:latin typeface="Calibri"/>
              </a:defRPr>
            </a:pPr>
            <a:r>
              <a:t>Business Case &amp; Technical Architecture</a:t>
            </a:r>
          </a:p>
        </p:txBody>
      </p:sp>
      <p:sp>
        <p:nvSpPr>
          <p:cNvPr id="6" name="TextBox 5"/>
          <p:cNvSpPr txBox="1"/>
          <p:nvPr/>
        </p:nvSpPr>
        <p:spPr>
          <a:xfrm>
            <a:off x="914400" y="5669280"/>
            <a:ext cx="4572000" cy="365760"/>
          </a:xfrm>
          <a:prstGeom prst="rect">
            <a:avLst/>
          </a:prstGeom>
          <a:noFill/>
        </p:spPr>
        <p:txBody>
          <a:bodyPr wrap="square">
            <a:spAutoFit/>
          </a:bodyPr>
          <a:lstStyle/>
          <a:p>
            <a:pPr algn="l">
              <a:defRPr sz="1200" b="0">
                <a:solidFill>
                  <a:srgbClr val="999999"/>
                </a:solidFill>
                <a:latin typeface="Calibri"/>
              </a:defRPr>
            </a:pPr>
            <a:r>
              <a:t>Confidential — Internal Use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600" b="1">
                <a:solidFill>
                  <a:srgbClr val="FFFFFF"/>
                </a:solidFill>
                <a:latin typeface="Calibri"/>
              </a:defRPr>
            </a:pPr>
            <a:r>
              <a:t>Agenda</a:t>
            </a:r>
          </a:p>
        </p:txBody>
      </p:sp>
      <p:sp>
        <p:nvSpPr>
          <p:cNvPr id="3" name="Rectangle 2"/>
          <p:cNvSpPr/>
          <p:nvPr/>
        </p:nvSpPr>
        <p:spPr>
          <a:xfrm>
            <a:off x="731520" y="1097280"/>
            <a:ext cx="10515600" cy="254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554480"/>
            <a:ext cx="5029200" cy="4572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72768"/>
            <a:ext cx="5029200" cy="457200"/>
          </a:xfrm>
          <a:prstGeom prst="rect">
            <a:avLst/>
          </a:prstGeom>
          <a:noFill/>
        </p:spPr>
        <p:txBody>
          <a:bodyPr wrap="square">
            <a:spAutoFit/>
          </a:bodyPr>
          <a:lstStyle/>
          <a:p>
            <a:pPr algn="l">
              <a:defRPr sz="1600" b="1">
                <a:solidFill>
                  <a:srgbClr val="FFFFFF"/>
                </a:solidFill>
                <a:latin typeface="Calibri"/>
              </a:defRPr>
            </a:pPr>
            <a:r>
              <a:t>  PART 1 — Senior Management</a:t>
            </a:r>
          </a:p>
        </p:txBody>
      </p:sp>
      <p:sp>
        <p:nvSpPr>
          <p:cNvPr id="6" name="TextBox 5"/>
          <p:cNvSpPr txBox="1"/>
          <p:nvPr/>
        </p:nvSpPr>
        <p:spPr>
          <a:xfrm>
            <a:off x="914400" y="2194560"/>
            <a:ext cx="4754880" cy="2743200"/>
          </a:xfrm>
          <a:prstGeom prst="rect">
            <a:avLst/>
          </a:prstGeom>
          <a:noFill/>
        </p:spPr>
        <p:txBody>
          <a:bodyPr wrap="square">
            <a:spAutoFit/>
          </a:bodyPr>
          <a:lstStyle/>
          <a:p>
            <a:pPr>
              <a:spcAft>
                <a:spcPts val="800"/>
              </a:spcAft>
              <a:defRPr sz="1600">
                <a:solidFill>
                  <a:srgbClr val="E0E0E0"/>
                </a:solidFill>
                <a:latin typeface="Calibri"/>
              </a:defRPr>
            </a:pPr>
            <a:r>
              <a:t>1.  The Challenge: AI in Regulated Environments</a:t>
            </a:r>
          </a:p>
          <a:p>
            <a:pPr>
              <a:spcAft>
                <a:spcPts val="800"/>
              </a:spcAft>
              <a:defRPr sz="1600">
                <a:solidFill>
                  <a:srgbClr val="E0E0E0"/>
                </a:solidFill>
                <a:latin typeface="Calibri"/>
              </a:defRPr>
            </a:pPr>
            <a:r>
              <a:t>2.  Why On-Premise? Business Case</a:t>
            </a:r>
          </a:p>
          <a:p>
            <a:pPr>
              <a:spcAft>
                <a:spcPts val="800"/>
              </a:spcAft>
              <a:defRPr sz="1600">
                <a:solidFill>
                  <a:srgbClr val="E0E0E0"/>
                </a:solidFill>
                <a:latin typeface="Calibri"/>
              </a:defRPr>
            </a:pPr>
            <a:r>
              <a:t>3.  Cloud API vs. On-Premise Comparison</a:t>
            </a:r>
          </a:p>
          <a:p>
            <a:pPr>
              <a:spcAft>
                <a:spcPts val="800"/>
              </a:spcAft>
              <a:defRPr sz="1600">
                <a:solidFill>
                  <a:srgbClr val="E0E0E0"/>
                </a:solidFill>
                <a:latin typeface="Calibri"/>
              </a:defRPr>
            </a:pPr>
            <a:r>
              <a:t>4.  Platform Overview &amp; Key Capabilities</a:t>
            </a:r>
          </a:p>
          <a:p>
            <a:pPr>
              <a:spcAft>
                <a:spcPts val="800"/>
              </a:spcAft>
              <a:defRPr sz="1600">
                <a:solidFill>
                  <a:srgbClr val="E0E0E0"/>
                </a:solidFill>
                <a:latin typeface="Calibri"/>
              </a:defRPr>
            </a:pPr>
            <a:r>
              <a:t>5.  ROI &amp; Strategic Value</a:t>
            </a:r>
          </a:p>
        </p:txBody>
      </p:sp>
      <p:sp>
        <p:nvSpPr>
          <p:cNvPr id="7" name="Rectangle 6"/>
          <p:cNvSpPr/>
          <p:nvPr/>
        </p:nvSpPr>
        <p:spPr>
          <a:xfrm>
            <a:off x="6217920" y="1554480"/>
            <a:ext cx="5029200" cy="4572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1572768"/>
            <a:ext cx="5029200" cy="457200"/>
          </a:xfrm>
          <a:prstGeom prst="rect">
            <a:avLst/>
          </a:prstGeom>
          <a:noFill/>
        </p:spPr>
        <p:txBody>
          <a:bodyPr wrap="square">
            <a:spAutoFit/>
          </a:bodyPr>
          <a:lstStyle/>
          <a:p>
            <a:pPr algn="l">
              <a:defRPr sz="1600" b="1">
                <a:solidFill>
                  <a:srgbClr val="FFFFFF"/>
                </a:solidFill>
                <a:latin typeface="Calibri"/>
              </a:defRPr>
            </a:pPr>
            <a:r>
              <a:t>  PART 2 — IT &amp; Compliance</a:t>
            </a:r>
          </a:p>
        </p:txBody>
      </p:sp>
      <p:sp>
        <p:nvSpPr>
          <p:cNvPr id="9" name="TextBox 8"/>
          <p:cNvSpPr txBox="1"/>
          <p:nvPr/>
        </p:nvSpPr>
        <p:spPr>
          <a:xfrm>
            <a:off x="6400800" y="2194560"/>
            <a:ext cx="4754880" cy="2743200"/>
          </a:xfrm>
          <a:prstGeom prst="rect">
            <a:avLst/>
          </a:prstGeom>
          <a:noFill/>
        </p:spPr>
        <p:txBody>
          <a:bodyPr wrap="square">
            <a:spAutoFit/>
          </a:bodyPr>
          <a:lstStyle/>
          <a:p>
            <a:pPr>
              <a:spcAft>
                <a:spcPts val="800"/>
              </a:spcAft>
              <a:defRPr sz="1600">
                <a:solidFill>
                  <a:srgbClr val="E0E0E0"/>
                </a:solidFill>
                <a:latin typeface="Calibri"/>
              </a:defRPr>
            </a:pPr>
            <a:r>
              <a:t>6.  What's Built — By The Numbers</a:t>
            </a:r>
          </a:p>
          <a:p>
            <a:pPr>
              <a:spcAft>
                <a:spcPts val="800"/>
              </a:spcAft>
              <a:defRPr sz="1600">
                <a:solidFill>
                  <a:srgbClr val="E0E0E0"/>
                </a:solidFill>
                <a:latin typeface="Calibri"/>
              </a:defRPr>
            </a:pPr>
            <a:r>
              <a:t>7.  7-Layer Security Architecture</a:t>
            </a:r>
          </a:p>
          <a:p>
            <a:pPr>
              <a:spcAft>
                <a:spcPts val="800"/>
              </a:spcAft>
              <a:defRPr sz="1600">
                <a:solidFill>
                  <a:srgbClr val="E0E0E0"/>
                </a:solidFill>
                <a:latin typeface="Calibri"/>
              </a:defRPr>
            </a:pPr>
            <a:r>
              <a:t>8.  Compliance Framework Coverage</a:t>
            </a:r>
          </a:p>
          <a:p>
            <a:pPr>
              <a:spcAft>
                <a:spcPts val="800"/>
              </a:spcAft>
              <a:defRPr sz="1600">
                <a:solidFill>
                  <a:srgbClr val="E0E0E0"/>
                </a:solidFill>
                <a:latin typeface="Calibri"/>
              </a:defRPr>
            </a:pPr>
            <a:r>
              <a:t>9.  Deployment Model &amp; Infrastructure</a:t>
            </a:r>
          </a:p>
          <a:p>
            <a:pPr>
              <a:spcAft>
                <a:spcPts val="800"/>
              </a:spcAft>
              <a:defRPr sz="1600">
                <a:solidFill>
                  <a:srgbClr val="E0E0E0"/>
                </a:solidFill>
                <a:latin typeface="Calibri"/>
              </a:defRPr>
            </a:pPr>
            <a:r>
              <a:t>10. Implementation Roadmap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2926080"/>
            <a:ext cx="12191695"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097280"/>
          </a:xfrm>
          <a:prstGeom prst="rect">
            <a:avLst/>
          </a:prstGeom>
          <a:noFill/>
        </p:spPr>
        <p:txBody>
          <a:bodyPr wrap="square">
            <a:spAutoFit/>
          </a:bodyPr>
          <a:lstStyle/>
          <a:p>
            <a:pPr algn="ctr">
              <a:defRPr sz="4000" b="1">
                <a:solidFill>
                  <a:srgbClr val="FFFFFF"/>
                </a:solidFill>
                <a:latin typeface="Calibri"/>
              </a:defRPr>
            </a:pPr>
            <a:r>
              <a:t>PART 1</a:t>
            </a:r>
          </a:p>
        </p:txBody>
      </p:sp>
      <p:sp>
        <p:nvSpPr>
          <p:cNvPr id="4" name="TextBox 3"/>
          <p:cNvSpPr txBox="1"/>
          <p:nvPr/>
        </p:nvSpPr>
        <p:spPr>
          <a:xfrm>
            <a:off x="1828800" y="3291840"/>
            <a:ext cx="8229600" cy="914400"/>
          </a:xfrm>
          <a:prstGeom prst="rect">
            <a:avLst/>
          </a:prstGeom>
          <a:noFill/>
        </p:spPr>
        <p:txBody>
          <a:bodyPr wrap="square">
            <a:spAutoFit/>
          </a:bodyPr>
          <a:lstStyle/>
          <a:p>
            <a:pPr algn="ctr">
              <a:defRPr sz="2000" b="0">
                <a:solidFill>
                  <a:srgbClr val="999999"/>
                </a:solidFill>
                <a:latin typeface="Calibri"/>
              </a:defRPr>
            </a:pPr>
            <a:r>
              <a:t>Senior Management — Business Case for On-Premise 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600" b="1">
                <a:solidFill>
                  <a:srgbClr val="FFFFFF"/>
                </a:solidFill>
                <a:latin typeface="Calibri"/>
              </a:defRPr>
            </a:pPr>
            <a:r>
              <a:t>The Challenge</a:t>
            </a:r>
          </a:p>
        </p:txBody>
      </p:sp>
      <p:sp>
        <p:nvSpPr>
          <p:cNvPr id="3" name="Rectangle 2"/>
          <p:cNvSpPr/>
          <p:nvPr/>
        </p:nvSpPr>
        <p:spPr>
          <a:xfrm>
            <a:off x="731520" y="1097280"/>
            <a:ext cx="10515600" cy="254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058400" cy="731520"/>
          </a:xfrm>
          <a:prstGeom prst="rect">
            <a:avLst/>
          </a:prstGeom>
          <a:noFill/>
        </p:spPr>
        <p:txBody>
          <a:bodyPr wrap="square">
            <a:spAutoFit/>
          </a:bodyPr>
          <a:lstStyle/>
          <a:p>
            <a:pPr algn="l">
              <a:defRPr sz="2200" b="0">
                <a:solidFill>
                  <a:srgbClr val="00C9A7"/>
                </a:solidFill>
                <a:latin typeface="Calibri"/>
              </a:defRPr>
            </a:pPr>
            <a:r>
              <a:t>How do we leverage AI’s transformative potential while protecting our most sensitive data?</a:t>
            </a:r>
          </a:p>
        </p:txBody>
      </p:sp>
      <p:sp>
        <p:nvSpPr>
          <p:cNvPr id="5" name="TextBox 4"/>
          <p:cNvSpPr txBox="1"/>
          <p:nvPr/>
        </p:nvSpPr>
        <p:spPr>
          <a:xfrm>
            <a:off x="914400" y="2560320"/>
            <a:ext cx="9601200" cy="3657600"/>
          </a:xfrm>
          <a:prstGeom prst="rect">
            <a:avLst/>
          </a:prstGeom>
          <a:noFill/>
        </p:spPr>
        <p:txBody>
          <a:bodyPr wrap="square">
            <a:spAutoFit/>
          </a:bodyPr>
          <a:lstStyle/>
          <a:p>
            <a:pPr>
              <a:spcAft>
                <a:spcPts val="1400"/>
              </a:spcAft>
              <a:defRPr sz="1800">
                <a:solidFill>
                  <a:srgbClr val="E0E0E0"/>
                </a:solidFill>
                <a:latin typeface="Calibri"/>
              </a:defRPr>
            </a:pPr>
            <a:r>
              <a:t>⚠️  95% of enterprise data is Class II or above — cannot leave our network</a:t>
            </a:r>
          </a:p>
          <a:p>
            <a:pPr>
              <a:spcAft>
                <a:spcPts val="1400"/>
              </a:spcAft>
              <a:defRPr sz="1800">
                <a:solidFill>
                  <a:srgbClr val="E0E0E0"/>
                </a:solidFill>
                <a:latin typeface="Calibri"/>
              </a:defRPr>
            </a:pPr>
            <a:r>
              <a:t>⚠️  Public AI services (ChatGPT, Copilot) process data on external servers</a:t>
            </a:r>
          </a:p>
          <a:p>
            <a:pPr>
              <a:spcAft>
                <a:spcPts val="1400"/>
              </a:spcAft>
              <a:defRPr sz="1800">
                <a:solidFill>
                  <a:srgbClr val="E0E0E0"/>
                </a:solidFill>
                <a:latin typeface="Calibri"/>
              </a:defRPr>
            </a:pPr>
            <a:r>
              <a:t>⚠️  Export-controlled technical data (Class IV) has legal restrictions</a:t>
            </a:r>
          </a:p>
          <a:p>
            <a:pPr>
              <a:spcAft>
                <a:spcPts val="1400"/>
              </a:spcAft>
              <a:defRPr sz="1800">
                <a:solidFill>
                  <a:srgbClr val="E0E0E0"/>
                </a:solidFill>
                <a:latin typeface="Calibri"/>
              </a:defRPr>
            </a:pPr>
            <a:r>
              <a:t>⚠️  Every AI prompt is a potential data leak if sent to cloud APIs</a:t>
            </a:r>
          </a:p>
          <a:p>
            <a:pPr>
              <a:spcAft>
                <a:spcPts val="1400"/>
              </a:spcAft>
              <a:defRPr sz="1800">
                <a:solidFill>
                  <a:srgbClr val="E0E0E0"/>
                </a:solidFill>
                <a:latin typeface="Calibri"/>
              </a:defRPr>
            </a:pPr>
          </a:p>
          <a:p>
            <a:pPr>
              <a:spcAft>
                <a:spcPts val="1400"/>
              </a:spcAft>
              <a:defRPr sz="1800">
                <a:solidFill>
                  <a:srgbClr val="E0E0E0"/>
                </a:solidFill>
                <a:latin typeface="Calibri"/>
              </a:defRPr>
            </a:pPr>
            <a:r>
              <a:t>✅  Employees already use AI — the question isn’t IF, but HOW SAFELY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600" b="1">
                <a:solidFill>
                  <a:srgbClr val="FFFFFF"/>
                </a:solidFill>
                <a:latin typeface="Calibri"/>
              </a:defRPr>
            </a:pPr>
            <a:r>
              <a:t>Why On-Premise AI?</a:t>
            </a:r>
          </a:p>
        </p:txBody>
      </p:sp>
      <p:sp>
        <p:nvSpPr>
          <p:cNvPr id="3" name="Rectangle 2"/>
          <p:cNvSpPr/>
          <p:nvPr/>
        </p:nvSpPr>
        <p:spPr>
          <a:xfrm>
            <a:off x="731520" y="1097280"/>
            <a:ext cx="10515600" cy="254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645920"/>
            <a:ext cx="2560320" cy="41148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2560320"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11680"/>
            <a:ext cx="2560320" cy="1097280"/>
          </a:xfrm>
          <a:prstGeom prst="rect">
            <a:avLst/>
          </a:prstGeom>
          <a:noFill/>
        </p:spPr>
        <p:txBody>
          <a:bodyPr wrap="square">
            <a:spAutoFit/>
          </a:bodyPr>
          <a:lstStyle/>
          <a:p>
            <a:pPr algn="ctr">
              <a:defRPr sz="2200" b="1">
                <a:solidFill>
                  <a:srgbClr val="007BFF"/>
                </a:solidFill>
                <a:latin typeface="Calibri"/>
              </a:defRPr>
            </a:pPr>
            <a:r>
              <a:t>Data</a:t>
            </a:r>
            <a:br/>
            <a:r>
              <a:t>Sovereignty</a:t>
            </a:r>
          </a:p>
        </p:txBody>
      </p:sp>
      <p:sp>
        <p:nvSpPr>
          <p:cNvPr id="7" name="TextBox 6"/>
          <p:cNvSpPr txBox="1"/>
          <p:nvPr/>
        </p:nvSpPr>
        <p:spPr>
          <a:xfrm>
            <a:off x="914400" y="3291840"/>
            <a:ext cx="2194560" cy="2286000"/>
          </a:xfrm>
          <a:prstGeom prst="rect">
            <a:avLst/>
          </a:prstGeom>
          <a:noFill/>
        </p:spPr>
        <p:txBody>
          <a:bodyPr wrap="square">
            <a:spAutoFit/>
          </a:bodyPr>
          <a:lstStyle/>
          <a:p>
            <a:pPr algn="ctr">
              <a:defRPr sz="1500" b="0">
                <a:solidFill>
                  <a:srgbClr val="E0E0E0"/>
                </a:solidFill>
                <a:latin typeface="Calibri"/>
              </a:defRPr>
            </a:pPr>
            <a:r>
              <a:t>All data stays within</a:t>
            </a:r>
            <a:br/>
            <a:r>
              <a:t>corporate network.</a:t>
            </a:r>
            <a:br/>
            <a:r>
              <a:t>Zero external API calls.</a:t>
            </a:r>
          </a:p>
        </p:txBody>
      </p:sp>
      <p:sp>
        <p:nvSpPr>
          <p:cNvPr id="8" name="Rectangle 7"/>
          <p:cNvSpPr/>
          <p:nvPr/>
        </p:nvSpPr>
        <p:spPr>
          <a:xfrm>
            <a:off x="3566160" y="1645920"/>
            <a:ext cx="2560320" cy="41148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66160" y="1645920"/>
            <a:ext cx="2560320" cy="508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011680"/>
            <a:ext cx="2560320" cy="1097280"/>
          </a:xfrm>
          <a:prstGeom prst="rect">
            <a:avLst/>
          </a:prstGeom>
          <a:noFill/>
        </p:spPr>
        <p:txBody>
          <a:bodyPr wrap="square">
            <a:spAutoFit/>
          </a:bodyPr>
          <a:lstStyle/>
          <a:p>
            <a:pPr algn="ctr">
              <a:defRPr sz="2200" b="1">
                <a:solidFill>
                  <a:srgbClr val="00C9A7"/>
                </a:solidFill>
                <a:latin typeface="Calibri"/>
              </a:defRPr>
            </a:pPr>
            <a:r>
              <a:t>Compliance</a:t>
            </a:r>
            <a:br/>
            <a:r>
              <a:t>by Design</a:t>
            </a:r>
          </a:p>
        </p:txBody>
      </p:sp>
      <p:sp>
        <p:nvSpPr>
          <p:cNvPr id="11" name="TextBox 10"/>
          <p:cNvSpPr txBox="1"/>
          <p:nvPr/>
        </p:nvSpPr>
        <p:spPr>
          <a:xfrm>
            <a:off x="3749040" y="3291840"/>
            <a:ext cx="2194560" cy="2286000"/>
          </a:xfrm>
          <a:prstGeom prst="rect">
            <a:avLst/>
          </a:prstGeom>
          <a:noFill/>
        </p:spPr>
        <p:txBody>
          <a:bodyPr wrap="square">
            <a:spAutoFit/>
          </a:bodyPr>
          <a:lstStyle/>
          <a:p>
            <a:pPr algn="ctr">
              <a:defRPr sz="1500" b="0">
                <a:solidFill>
                  <a:srgbClr val="E0E0E0"/>
                </a:solidFill>
                <a:latin typeface="Calibri"/>
              </a:defRPr>
            </a:pPr>
            <a:r>
              <a:t>Built for Export Control Policy,</a:t>
            </a:r>
            <a:br/>
            <a:r>
              <a:t>SOC 2, GDPR, ISO 27001</a:t>
            </a:r>
            <a:br/>
            <a:r>
              <a:t>from day one.</a:t>
            </a:r>
          </a:p>
        </p:txBody>
      </p:sp>
      <p:sp>
        <p:nvSpPr>
          <p:cNvPr id="12" name="Rectangle 11"/>
          <p:cNvSpPr/>
          <p:nvPr/>
        </p:nvSpPr>
        <p:spPr>
          <a:xfrm>
            <a:off x="6400800" y="1645920"/>
            <a:ext cx="2560320" cy="41148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1645920"/>
            <a:ext cx="2560320" cy="50800"/>
          </a:xfrm>
          <a:prstGeom prst="rect">
            <a:avLst/>
          </a:prstGeom>
          <a:solidFill>
            <a:srgbClr val="00C9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011680"/>
            <a:ext cx="2560320" cy="1097280"/>
          </a:xfrm>
          <a:prstGeom prst="rect">
            <a:avLst/>
          </a:prstGeom>
          <a:noFill/>
        </p:spPr>
        <p:txBody>
          <a:bodyPr wrap="square">
            <a:spAutoFit/>
          </a:bodyPr>
          <a:lstStyle/>
          <a:p>
            <a:pPr algn="ctr">
              <a:defRPr sz="2200" b="1">
                <a:solidFill>
                  <a:srgbClr val="00C953"/>
                </a:solidFill>
                <a:latin typeface="Calibri"/>
              </a:defRPr>
            </a:pPr>
            <a:r>
              <a:t>Cost</a:t>
            </a:r>
            <a:br/>
            <a:r>
              <a:t>Predictability</a:t>
            </a:r>
          </a:p>
        </p:txBody>
      </p:sp>
      <p:sp>
        <p:nvSpPr>
          <p:cNvPr id="15" name="TextBox 14"/>
          <p:cNvSpPr txBox="1"/>
          <p:nvPr/>
        </p:nvSpPr>
        <p:spPr>
          <a:xfrm>
            <a:off x="6583680" y="3291840"/>
            <a:ext cx="2194560" cy="2286000"/>
          </a:xfrm>
          <a:prstGeom prst="rect">
            <a:avLst/>
          </a:prstGeom>
          <a:noFill/>
        </p:spPr>
        <p:txBody>
          <a:bodyPr wrap="square">
            <a:spAutoFit/>
          </a:bodyPr>
          <a:lstStyle/>
          <a:p>
            <a:pPr algn="ctr">
              <a:defRPr sz="1500" b="0">
                <a:solidFill>
                  <a:srgbClr val="E0E0E0"/>
                </a:solidFill>
                <a:latin typeface="Calibri"/>
              </a:defRPr>
            </a:pPr>
            <a:r>
              <a:t>Fixed GPU cost.</a:t>
            </a:r>
            <a:br/>
            <a:r>
              <a:t>No per-token charges.</a:t>
            </a:r>
            <a:br/>
            <a:r>
              <a:t>No vendor lock-in.</a:t>
            </a:r>
          </a:p>
        </p:txBody>
      </p:sp>
      <p:sp>
        <p:nvSpPr>
          <p:cNvPr id="16" name="Rectangle 15"/>
          <p:cNvSpPr/>
          <p:nvPr/>
        </p:nvSpPr>
        <p:spPr>
          <a:xfrm>
            <a:off x="9235440" y="1645920"/>
            <a:ext cx="2560320" cy="41148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35440" y="1645920"/>
            <a:ext cx="2560320" cy="508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0" y="2011680"/>
            <a:ext cx="2560320" cy="1097280"/>
          </a:xfrm>
          <a:prstGeom prst="rect">
            <a:avLst/>
          </a:prstGeom>
          <a:noFill/>
        </p:spPr>
        <p:txBody>
          <a:bodyPr wrap="square">
            <a:spAutoFit/>
          </a:bodyPr>
          <a:lstStyle/>
          <a:p>
            <a:pPr algn="ctr">
              <a:defRPr sz="2200" b="1">
                <a:solidFill>
                  <a:srgbClr val="FF6B35"/>
                </a:solidFill>
                <a:latin typeface="Calibri"/>
              </a:defRPr>
            </a:pPr>
            <a:r>
              <a:t>Full</a:t>
            </a:r>
            <a:br/>
            <a:r>
              <a:t>Control</a:t>
            </a:r>
          </a:p>
        </p:txBody>
      </p:sp>
      <p:sp>
        <p:nvSpPr>
          <p:cNvPr id="19" name="TextBox 18"/>
          <p:cNvSpPr txBox="1"/>
          <p:nvPr/>
        </p:nvSpPr>
        <p:spPr>
          <a:xfrm>
            <a:off x="9418320" y="3291840"/>
            <a:ext cx="2194560" cy="2286000"/>
          </a:xfrm>
          <a:prstGeom prst="rect">
            <a:avLst/>
          </a:prstGeom>
          <a:noFill/>
        </p:spPr>
        <p:txBody>
          <a:bodyPr wrap="square">
            <a:spAutoFit/>
          </a:bodyPr>
          <a:lstStyle/>
          <a:p>
            <a:pPr algn="ctr">
              <a:defRPr sz="1500" b="0">
                <a:solidFill>
                  <a:srgbClr val="E0E0E0"/>
                </a:solidFill>
                <a:latin typeface="Calibri"/>
              </a:defRPr>
            </a:pPr>
            <a:r>
              <a:t>Audit every operation.</a:t>
            </a:r>
            <a:br/>
            <a:r>
              <a:t>Choose any model.</a:t>
            </a:r>
            <a:br/>
            <a:r>
              <a:t>Air-gap capable.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200" b="1">
                <a:solidFill>
                  <a:srgbClr val="FFFFFF"/>
                </a:solidFill>
                <a:latin typeface="Calibri"/>
              </a:defRPr>
            </a:pPr>
            <a:r>
              <a:t>Cloud API Keys vs. On-Premise AI</a:t>
            </a:r>
          </a:p>
        </p:txBody>
      </p:sp>
      <p:sp>
        <p:nvSpPr>
          <p:cNvPr id="3" name="Rectangle 2"/>
          <p:cNvSpPr/>
          <p:nvPr/>
        </p:nvSpPr>
        <p:spPr>
          <a:xfrm>
            <a:off x="731520" y="1097280"/>
            <a:ext cx="10515600" cy="254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463040"/>
            <a:ext cx="5029200" cy="548640"/>
          </a:xfrm>
          <a:prstGeom prst="rect">
            <a:avLst/>
          </a:prstGeom>
          <a:solidFill>
            <a:srgbClr val="FF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08760"/>
            <a:ext cx="5029200" cy="457200"/>
          </a:xfrm>
          <a:prstGeom prst="rect">
            <a:avLst/>
          </a:prstGeom>
          <a:noFill/>
        </p:spPr>
        <p:txBody>
          <a:bodyPr wrap="square">
            <a:spAutoFit/>
          </a:bodyPr>
          <a:lstStyle/>
          <a:p>
            <a:pPr algn="ctr">
              <a:defRPr sz="1800" b="1">
                <a:solidFill>
                  <a:srgbClr val="FFFFFF"/>
                </a:solidFill>
                <a:latin typeface="Calibri"/>
              </a:defRPr>
            </a:pPr>
            <a:r>
              <a:t>☁️  Cloud API (OpenAI, Azure, etc.)</a:t>
            </a:r>
          </a:p>
        </p:txBody>
      </p:sp>
      <p:sp>
        <p:nvSpPr>
          <p:cNvPr id="6" name="TextBox 5"/>
          <p:cNvSpPr txBox="1"/>
          <p:nvPr/>
        </p:nvSpPr>
        <p:spPr>
          <a:xfrm>
            <a:off x="914400" y="2194560"/>
            <a:ext cx="4754880" cy="4114800"/>
          </a:xfrm>
          <a:prstGeom prst="rect">
            <a:avLst/>
          </a:prstGeom>
          <a:noFill/>
        </p:spPr>
        <p:txBody>
          <a:bodyPr wrap="square">
            <a:spAutoFit/>
          </a:bodyPr>
          <a:lstStyle/>
          <a:p>
            <a:pPr>
              <a:spcAft>
                <a:spcPts val="800"/>
              </a:spcAft>
              <a:defRPr sz="1500">
                <a:solidFill>
                  <a:srgbClr val="E0E0E0"/>
                </a:solidFill>
                <a:latin typeface="Calibri"/>
              </a:defRPr>
            </a:pPr>
            <a:r>
              <a:t>❌  Data leaves corporate network</a:t>
            </a:r>
          </a:p>
          <a:p>
            <a:pPr>
              <a:spcAft>
                <a:spcPts val="800"/>
              </a:spcAft>
              <a:defRPr sz="1500">
                <a:solidFill>
                  <a:srgbClr val="E0E0E0"/>
                </a:solidFill>
                <a:latin typeface="Calibri"/>
              </a:defRPr>
            </a:pPr>
            <a:r>
              <a:t>❌  Per-token pricing — costs scale unpredictably</a:t>
            </a:r>
          </a:p>
          <a:p>
            <a:pPr>
              <a:spcAft>
                <a:spcPts val="800"/>
              </a:spcAft>
              <a:defRPr sz="1500">
                <a:solidFill>
                  <a:srgbClr val="E0E0E0"/>
                </a:solidFill>
                <a:latin typeface="Calibri"/>
              </a:defRPr>
            </a:pPr>
            <a:r>
              <a:t>❌  Vendor controls model updates &amp; deprecation</a:t>
            </a:r>
          </a:p>
          <a:p>
            <a:pPr>
              <a:spcAft>
                <a:spcPts val="800"/>
              </a:spcAft>
              <a:defRPr sz="1500">
                <a:solidFill>
                  <a:srgbClr val="E0E0E0"/>
                </a:solidFill>
                <a:latin typeface="Calibri"/>
              </a:defRPr>
            </a:pPr>
            <a:r>
              <a:t>❌  Limited audit trail (vendor-side logs)</a:t>
            </a:r>
          </a:p>
          <a:p>
            <a:pPr>
              <a:spcAft>
                <a:spcPts val="800"/>
              </a:spcAft>
              <a:defRPr sz="1500">
                <a:solidFill>
                  <a:srgbClr val="E0E0E0"/>
                </a:solidFill>
                <a:latin typeface="Calibri"/>
              </a:defRPr>
            </a:pPr>
            <a:r>
              <a:t>❌  Compliance risk: data residency concerns</a:t>
            </a:r>
          </a:p>
          <a:p>
            <a:pPr>
              <a:spcAft>
                <a:spcPts val="800"/>
              </a:spcAft>
              <a:defRPr sz="1500">
                <a:solidFill>
                  <a:srgbClr val="E0E0E0"/>
                </a:solidFill>
                <a:latin typeface="Calibri"/>
              </a:defRPr>
            </a:pPr>
            <a:r>
              <a:t>❌  Vendor lock-in to specific API format</a:t>
            </a:r>
          </a:p>
          <a:p>
            <a:pPr>
              <a:spcAft>
                <a:spcPts val="800"/>
              </a:spcAft>
              <a:defRPr sz="1500">
                <a:solidFill>
                  <a:srgbClr val="E0E0E0"/>
                </a:solidFill>
                <a:latin typeface="Calibri"/>
              </a:defRPr>
            </a:pPr>
            <a:r>
              <a:t>❌  Internet dependency — no air-gap option</a:t>
            </a:r>
          </a:p>
          <a:p>
            <a:pPr>
              <a:spcAft>
                <a:spcPts val="800"/>
              </a:spcAft>
              <a:defRPr sz="1500">
                <a:solidFill>
                  <a:srgbClr val="E0E0E0"/>
                </a:solidFill>
                <a:latin typeface="Calibri"/>
              </a:defRPr>
            </a:pPr>
          </a:p>
          <a:p>
            <a:pPr>
              <a:spcAft>
                <a:spcPts val="800"/>
              </a:spcAft>
              <a:defRPr sz="1500">
                <a:solidFill>
                  <a:srgbClr val="E0E0E0"/>
                </a:solidFill>
                <a:latin typeface="Calibri"/>
              </a:defRPr>
            </a:pPr>
            <a:r>
              <a:t>✅  Fast to start (no infrastructure needed)</a:t>
            </a:r>
          </a:p>
          <a:p>
            <a:pPr>
              <a:spcAft>
                <a:spcPts val="800"/>
              </a:spcAft>
              <a:defRPr sz="1500">
                <a:solidFill>
                  <a:srgbClr val="E0E0E0"/>
                </a:solidFill>
                <a:latin typeface="Calibri"/>
              </a:defRPr>
            </a:pPr>
            <a:r>
              <a:t>✅  Always latest models</a:t>
            </a:r>
          </a:p>
          <a:p>
            <a:pPr>
              <a:spcAft>
                <a:spcPts val="800"/>
              </a:spcAft>
              <a:defRPr sz="1500">
                <a:solidFill>
                  <a:srgbClr val="E0E0E0"/>
                </a:solidFill>
                <a:latin typeface="Calibri"/>
              </a:defRPr>
            </a:pPr>
            <a:r>
              <a:t>✅  No GPU procurement</a:t>
            </a:r>
          </a:p>
        </p:txBody>
      </p:sp>
      <p:sp>
        <p:nvSpPr>
          <p:cNvPr id="7" name="Rectangle 6"/>
          <p:cNvSpPr/>
          <p:nvPr/>
        </p:nvSpPr>
        <p:spPr>
          <a:xfrm>
            <a:off x="6217920" y="1463040"/>
            <a:ext cx="5029200" cy="548640"/>
          </a:xfrm>
          <a:prstGeom prst="rect">
            <a:avLst/>
          </a:prstGeom>
          <a:solidFill>
            <a:srgbClr val="00C9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1508760"/>
            <a:ext cx="5029200" cy="457200"/>
          </a:xfrm>
          <a:prstGeom prst="rect">
            <a:avLst/>
          </a:prstGeom>
          <a:noFill/>
        </p:spPr>
        <p:txBody>
          <a:bodyPr wrap="square">
            <a:spAutoFit/>
          </a:bodyPr>
          <a:lstStyle/>
          <a:p>
            <a:pPr algn="ctr">
              <a:defRPr sz="1800" b="1">
                <a:solidFill>
                  <a:srgbClr val="FFFFFF"/>
                </a:solidFill>
                <a:latin typeface="Calibri"/>
              </a:defRPr>
            </a:pPr>
            <a:r>
              <a:t>🏢  On-Premise (Our Platform)</a:t>
            </a:r>
          </a:p>
        </p:txBody>
      </p:sp>
      <p:sp>
        <p:nvSpPr>
          <p:cNvPr id="9" name="TextBox 8"/>
          <p:cNvSpPr txBox="1"/>
          <p:nvPr/>
        </p:nvSpPr>
        <p:spPr>
          <a:xfrm>
            <a:off x="6400800" y="2194560"/>
            <a:ext cx="4754880" cy="4114800"/>
          </a:xfrm>
          <a:prstGeom prst="rect">
            <a:avLst/>
          </a:prstGeom>
          <a:noFill/>
        </p:spPr>
        <p:txBody>
          <a:bodyPr wrap="square">
            <a:spAutoFit/>
          </a:bodyPr>
          <a:lstStyle/>
          <a:p>
            <a:pPr>
              <a:spcAft>
                <a:spcPts val="800"/>
              </a:spcAft>
              <a:defRPr sz="1500">
                <a:solidFill>
                  <a:srgbClr val="E0E0E0"/>
                </a:solidFill>
                <a:latin typeface="Calibri"/>
              </a:defRPr>
            </a:pPr>
            <a:r>
              <a:t>✅  Data never leaves your building</a:t>
            </a:r>
          </a:p>
          <a:p>
            <a:pPr>
              <a:spcAft>
                <a:spcPts val="800"/>
              </a:spcAft>
              <a:defRPr sz="1500">
                <a:solidFill>
                  <a:srgbClr val="E0E0E0"/>
                </a:solidFill>
                <a:latin typeface="Calibri"/>
              </a:defRPr>
            </a:pPr>
            <a:r>
              <a:t>✅  Fixed cost — predictable OPEX/CAPEX</a:t>
            </a:r>
          </a:p>
          <a:p>
            <a:pPr>
              <a:spcAft>
                <a:spcPts val="800"/>
              </a:spcAft>
              <a:defRPr sz="1500">
                <a:solidFill>
                  <a:srgbClr val="E0E0E0"/>
                </a:solidFill>
                <a:latin typeface="Calibri"/>
              </a:defRPr>
            </a:pPr>
            <a:r>
              <a:t>✅  Full model control (choose, swap, fine-tune)</a:t>
            </a:r>
          </a:p>
          <a:p>
            <a:pPr>
              <a:spcAft>
                <a:spcPts val="800"/>
              </a:spcAft>
              <a:defRPr sz="1500">
                <a:solidFill>
                  <a:srgbClr val="E0E0E0"/>
                </a:solidFill>
                <a:latin typeface="Calibri"/>
              </a:defRPr>
            </a:pPr>
            <a:r>
              <a:t>✅  Complete audit trail (7-year retention)</a:t>
            </a:r>
          </a:p>
          <a:p>
            <a:pPr>
              <a:spcAft>
                <a:spcPts val="800"/>
              </a:spcAft>
              <a:defRPr sz="1500">
                <a:solidFill>
                  <a:srgbClr val="E0E0E0"/>
                </a:solidFill>
                <a:latin typeface="Calibri"/>
              </a:defRPr>
            </a:pPr>
            <a:r>
              <a:t>✅  Compliance built-in from architecture level</a:t>
            </a:r>
          </a:p>
          <a:p>
            <a:pPr>
              <a:spcAft>
                <a:spcPts val="800"/>
              </a:spcAft>
              <a:defRPr sz="1500">
                <a:solidFill>
                  <a:srgbClr val="E0E0E0"/>
                </a:solidFill>
                <a:latin typeface="Calibri"/>
              </a:defRPr>
            </a:pPr>
            <a:r>
              <a:t>✅  Model-agnostic (LiteLLM abstraction layer)</a:t>
            </a:r>
          </a:p>
          <a:p>
            <a:pPr>
              <a:spcAft>
                <a:spcPts val="800"/>
              </a:spcAft>
              <a:defRPr sz="1500">
                <a:solidFill>
                  <a:srgbClr val="E0E0E0"/>
                </a:solidFill>
                <a:latin typeface="Calibri"/>
              </a:defRPr>
            </a:pPr>
            <a:r>
              <a:t>✅  Air-gap deployment available</a:t>
            </a:r>
          </a:p>
          <a:p>
            <a:pPr>
              <a:spcAft>
                <a:spcPts val="800"/>
              </a:spcAft>
              <a:defRPr sz="1500">
                <a:solidFill>
                  <a:srgbClr val="E0E0E0"/>
                </a:solidFill>
                <a:latin typeface="Calibri"/>
              </a:defRPr>
            </a:pPr>
          </a:p>
          <a:p>
            <a:pPr>
              <a:spcAft>
                <a:spcPts val="800"/>
              </a:spcAft>
              <a:defRPr sz="1500">
                <a:solidFill>
                  <a:srgbClr val="E0E0E0"/>
                </a:solidFill>
                <a:latin typeface="Calibri"/>
              </a:defRPr>
            </a:pPr>
            <a:r>
              <a:t>⚠️  Requires GPU infrastructure investment</a:t>
            </a:r>
          </a:p>
          <a:p>
            <a:pPr>
              <a:spcAft>
                <a:spcPts val="800"/>
              </a:spcAft>
              <a:defRPr sz="1500">
                <a:solidFill>
                  <a:srgbClr val="E0E0E0"/>
                </a:solidFill>
                <a:latin typeface="Calibri"/>
              </a:defRPr>
            </a:pPr>
            <a:r>
              <a:t>⚠️  Model updates require internal testing</a:t>
            </a:r>
          </a:p>
          <a:p>
            <a:pPr>
              <a:spcAft>
                <a:spcPts val="800"/>
              </a:spcAft>
              <a:defRPr sz="1500">
                <a:solidFill>
                  <a:srgbClr val="E0E0E0"/>
                </a:solidFill>
                <a:latin typeface="Calibri"/>
              </a:defRPr>
            </a:pPr>
            <a:r>
              <a:t>⚠️  Needs skilled team for maintenance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600" b="1">
                <a:solidFill>
                  <a:srgbClr val="FFFFFF"/>
                </a:solidFill>
                <a:latin typeface="Calibri"/>
              </a:defRPr>
            </a:pPr>
            <a:r>
              <a:t>Platform Capabilities</a:t>
            </a:r>
          </a:p>
        </p:txBody>
      </p:sp>
      <p:sp>
        <p:nvSpPr>
          <p:cNvPr id="3" name="Rectangle 2"/>
          <p:cNvSpPr/>
          <p:nvPr/>
        </p:nvSpPr>
        <p:spPr>
          <a:xfrm>
            <a:off x="731520" y="1097280"/>
            <a:ext cx="10515600" cy="254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554480"/>
            <a:ext cx="5303520" cy="13716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37360"/>
            <a:ext cx="4754880" cy="457200"/>
          </a:xfrm>
          <a:prstGeom prst="rect">
            <a:avLst/>
          </a:prstGeom>
          <a:noFill/>
        </p:spPr>
        <p:txBody>
          <a:bodyPr wrap="square">
            <a:spAutoFit/>
          </a:bodyPr>
          <a:lstStyle/>
          <a:p>
            <a:pPr algn="l">
              <a:defRPr sz="1800" b="1">
                <a:solidFill>
                  <a:srgbClr val="007BFF"/>
                </a:solidFill>
                <a:latin typeface="Calibri"/>
              </a:defRPr>
            </a:pPr>
            <a:r>
              <a:t>💬  Intelligent Document Q&amp;A</a:t>
            </a:r>
          </a:p>
        </p:txBody>
      </p:sp>
      <p:sp>
        <p:nvSpPr>
          <p:cNvPr id="6" name="TextBox 5"/>
          <p:cNvSpPr txBox="1"/>
          <p:nvPr/>
        </p:nvSpPr>
        <p:spPr>
          <a:xfrm>
            <a:off x="1005840" y="2286000"/>
            <a:ext cx="4754880" cy="457200"/>
          </a:xfrm>
          <a:prstGeom prst="rect">
            <a:avLst/>
          </a:prstGeom>
          <a:noFill/>
        </p:spPr>
        <p:txBody>
          <a:bodyPr wrap="square">
            <a:spAutoFit/>
          </a:bodyPr>
          <a:lstStyle/>
          <a:p>
            <a:pPr algn="l">
              <a:defRPr sz="1400" b="0">
                <a:solidFill>
                  <a:srgbClr val="E0E0E0"/>
                </a:solidFill>
                <a:latin typeface="Calibri"/>
              </a:defRPr>
            </a:pPr>
            <a:r>
              <a:t>Ask questions across 10,000+ documents in natural language</a:t>
            </a:r>
          </a:p>
        </p:txBody>
      </p:sp>
      <p:sp>
        <p:nvSpPr>
          <p:cNvPr id="7" name="Rectangle 6"/>
          <p:cNvSpPr/>
          <p:nvPr/>
        </p:nvSpPr>
        <p:spPr>
          <a:xfrm>
            <a:off x="6400800" y="1554480"/>
            <a:ext cx="5303520" cy="13716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737360"/>
            <a:ext cx="4754880" cy="457200"/>
          </a:xfrm>
          <a:prstGeom prst="rect">
            <a:avLst/>
          </a:prstGeom>
          <a:noFill/>
        </p:spPr>
        <p:txBody>
          <a:bodyPr wrap="square">
            <a:spAutoFit/>
          </a:bodyPr>
          <a:lstStyle/>
          <a:p>
            <a:pPr algn="l">
              <a:defRPr sz="1800" b="1">
                <a:solidFill>
                  <a:srgbClr val="007BFF"/>
                </a:solidFill>
                <a:latin typeface="Calibri"/>
              </a:defRPr>
            </a:pPr>
            <a:r>
              <a:t>🤖  Multi-Agent Orchestration</a:t>
            </a:r>
          </a:p>
        </p:txBody>
      </p:sp>
      <p:sp>
        <p:nvSpPr>
          <p:cNvPr id="9" name="TextBox 8"/>
          <p:cNvSpPr txBox="1"/>
          <p:nvPr/>
        </p:nvSpPr>
        <p:spPr>
          <a:xfrm>
            <a:off x="6675120" y="2286000"/>
            <a:ext cx="4754880" cy="457200"/>
          </a:xfrm>
          <a:prstGeom prst="rect">
            <a:avLst/>
          </a:prstGeom>
          <a:noFill/>
        </p:spPr>
        <p:txBody>
          <a:bodyPr wrap="square">
            <a:spAutoFit/>
          </a:bodyPr>
          <a:lstStyle/>
          <a:p>
            <a:pPr algn="l">
              <a:defRPr sz="1400" b="0">
                <a:solidFill>
                  <a:srgbClr val="E0E0E0"/>
                </a:solidFill>
                <a:latin typeface="Calibri"/>
              </a:defRPr>
            </a:pPr>
            <a:r>
              <a:t>OBSERVE-&gt;THINK-&gt;VERIFY reasoning cycle with structured multi-agent collaboration</a:t>
            </a:r>
          </a:p>
        </p:txBody>
      </p:sp>
      <p:sp>
        <p:nvSpPr>
          <p:cNvPr id="10" name="Rectangle 9"/>
          <p:cNvSpPr/>
          <p:nvPr/>
        </p:nvSpPr>
        <p:spPr>
          <a:xfrm>
            <a:off x="731520" y="3200400"/>
            <a:ext cx="5303520" cy="13716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383280"/>
            <a:ext cx="4754880" cy="457200"/>
          </a:xfrm>
          <a:prstGeom prst="rect">
            <a:avLst/>
          </a:prstGeom>
          <a:noFill/>
        </p:spPr>
        <p:txBody>
          <a:bodyPr wrap="square">
            <a:spAutoFit/>
          </a:bodyPr>
          <a:lstStyle/>
          <a:p>
            <a:pPr algn="l">
              <a:defRPr sz="1800" b="1">
                <a:solidFill>
                  <a:srgbClr val="007BFF"/>
                </a:solidFill>
                <a:latin typeface="Calibri"/>
              </a:defRPr>
            </a:pPr>
            <a:r>
              <a:t>🔍  Hybrid Search (RAG)</a:t>
            </a:r>
          </a:p>
        </p:txBody>
      </p:sp>
      <p:sp>
        <p:nvSpPr>
          <p:cNvPr id="12" name="TextBox 11"/>
          <p:cNvSpPr txBox="1"/>
          <p:nvPr/>
        </p:nvSpPr>
        <p:spPr>
          <a:xfrm>
            <a:off x="1005840" y="3931920"/>
            <a:ext cx="4754880" cy="457200"/>
          </a:xfrm>
          <a:prstGeom prst="rect">
            <a:avLst/>
          </a:prstGeom>
          <a:noFill/>
        </p:spPr>
        <p:txBody>
          <a:bodyPr wrap="square">
            <a:spAutoFit/>
          </a:bodyPr>
          <a:lstStyle/>
          <a:p>
            <a:pPr algn="l">
              <a:defRPr sz="1400" b="0">
                <a:solidFill>
                  <a:srgbClr val="E0E0E0"/>
                </a:solidFill>
                <a:latin typeface="Calibri"/>
              </a:defRPr>
            </a:pPr>
            <a:r>
              <a:t>Semantic + keyword search with cross-document citations</a:t>
            </a:r>
          </a:p>
        </p:txBody>
      </p:sp>
      <p:sp>
        <p:nvSpPr>
          <p:cNvPr id="13" name="Rectangle 12"/>
          <p:cNvSpPr/>
          <p:nvPr/>
        </p:nvSpPr>
        <p:spPr>
          <a:xfrm>
            <a:off x="6400800" y="3200400"/>
            <a:ext cx="5303520" cy="13716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3383280"/>
            <a:ext cx="4754880" cy="457200"/>
          </a:xfrm>
          <a:prstGeom prst="rect">
            <a:avLst/>
          </a:prstGeom>
          <a:noFill/>
        </p:spPr>
        <p:txBody>
          <a:bodyPr wrap="square">
            <a:spAutoFit/>
          </a:bodyPr>
          <a:lstStyle/>
          <a:p>
            <a:pPr algn="l">
              <a:defRPr sz="1800" b="1">
                <a:solidFill>
                  <a:srgbClr val="007BFF"/>
                </a:solidFill>
                <a:latin typeface="Calibri"/>
              </a:defRPr>
            </a:pPr>
            <a:r>
              <a:t>🏭  SAP &amp; MES Integration</a:t>
            </a:r>
          </a:p>
        </p:txBody>
      </p:sp>
      <p:sp>
        <p:nvSpPr>
          <p:cNvPr id="15" name="TextBox 14"/>
          <p:cNvSpPr txBox="1"/>
          <p:nvPr/>
        </p:nvSpPr>
        <p:spPr>
          <a:xfrm>
            <a:off x="6675120" y="3931920"/>
            <a:ext cx="4754880" cy="457200"/>
          </a:xfrm>
          <a:prstGeom prst="rect">
            <a:avLst/>
          </a:prstGeom>
          <a:noFill/>
        </p:spPr>
        <p:txBody>
          <a:bodyPr wrap="square">
            <a:spAutoFit/>
          </a:bodyPr>
          <a:lstStyle/>
          <a:p>
            <a:pPr algn="l">
              <a:defRPr sz="1400" b="0">
                <a:solidFill>
                  <a:srgbClr val="E0E0E0"/>
                </a:solidFill>
                <a:latin typeface="Calibri"/>
              </a:defRPr>
            </a:pPr>
            <a:r>
              <a:t>Real-time read access to ERP and manufacturing systems</a:t>
            </a:r>
          </a:p>
        </p:txBody>
      </p:sp>
      <p:sp>
        <p:nvSpPr>
          <p:cNvPr id="16" name="Rectangle 15"/>
          <p:cNvSpPr/>
          <p:nvPr/>
        </p:nvSpPr>
        <p:spPr>
          <a:xfrm>
            <a:off x="731520" y="4846320"/>
            <a:ext cx="5303520" cy="13716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029200"/>
            <a:ext cx="4754880" cy="457200"/>
          </a:xfrm>
          <a:prstGeom prst="rect">
            <a:avLst/>
          </a:prstGeom>
          <a:noFill/>
        </p:spPr>
        <p:txBody>
          <a:bodyPr wrap="square">
            <a:spAutoFit/>
          </a:bodyPr>
          <a:lstStyle/>
          <a:p>
            <a:pPr algn="l">
              <a:defRPr sz="1800" b="1">
                <a:solidFill>
                  <a:srgbClr val="007BFF"/>
                </a:solidFill>
                <a:latin typeface="Calibri"/>
              </a:defRPr>
            </a:pPr>
            <a:r>
              <a:t>✅  Human-in-the-Loop</a:t>
            </a:r>
          </a:p>
        </p:txBody>
      </p:sp>
      <p:sp>
        <p:nvSpPr>
          <p:cNvPr id="18" name="TextBox 17"/>
          <p:cNvSpPr txBox="1"/>
          <p:nvPr/>
        </p:nvSpPr>
        <p:spPr>
          <a:xfrm>
            <a:off x="1005840" y="5577840"/>
            <a:ext cx="4754880" cy="457200"/>
          </a:xfrm>
          <a:prstGeom prst="rect">
            <a:avLst/>
          </a:prstGeom>
          <a:noFill/>
        </p:spPr>
        <p:txBody>
          <a:bodyPr wrap="square">
            <a:spAutoFit/>
          </a:bodyPr>
          <a:lstStyle/>
          <a:p>
            <a:pPr algn="l">
              <a:defRPr sz="1400" b="0">
                <a:solidFill>
                  <a:srgbClr val="E0E0E0"/>
                </a:solidFill>
                <a:latin typeface="Calibri"/>
              </a:defRPr>
            </a:pPr>
            <a:r>
              <a:t>All write operations require human approval before execution</a:t>
            </a:r>
          </a:p>
        </p:txBody>
      </p:sp>
      <p:sp>
        <p:nvSpPr>
          <p:cNvPr id="19" name="Rectangle 18"/>
          <p:cNvSpPr/>
          <p:nvPr/>
        </p:nvSpPr>
        <p:spPr>
          <a:xfrm>
            <a:off x="6400800" y="4846320"/>
            <a:ext cx="5303520" cy="13716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5029200"/>
            <a:ext cx="4754880" cy="457200"/>
          </a:xfrm>
          <a:prstGeom prst="rect">
            <a:avLst/>
          </a:prstGeom>
          <a:noFill/>
        </p:spPr>
        <p:txBody>
          <a:bodyPr wrap="square">
            <a:spAutoFit/>
          </a:bodyPr>
          <a:lstStyle/>
          <a:p>
            <a:pPr algn="l">
              <a:defRPr sz="1800" b="1">
                <a:solidFill>
                  <a:srgbClr val="007BFF"/>
                </a:solidFill>
                <a:latin typeface="Calibri"/>
              </a:defRPr>
            </a:pPr>
            <a:r>
              <a:t>📊  Intelligent Model Routing</a:t>
            </a:r>
          </a:p>
        </p:txBody>
      </p:sp>
      <p:sp>
        <p:nvSpPr>
          <p:cNvPr id="21" name="TextBox 20"/>
          <p:cNvSpPr txBox="1"/>
          <p:nvPr/>
        </p:nvSpPr>
        <p:spPr>
          <a:xfrm>
            <a:off x="6675120" y="5577840"/>
            <a:ext cx="4754880" cy="457200"/>
          </a:xfrm>
          <a:prstGeom prst="rect">
            <a:avLst/>
          </a:prstGeom>
          <a:noFill/>
        </p:spPr>
        <p:txBody>
          <a:bodyPr wrap="square">
            <a:spAutoFit/>
          </a:bodyPr>
          <a:lstStyle/>
          <a:p>
            <a:pPr algn="l">
              <a:defRPr sz="1400" b="0">
                <a:solidFill>
                  <a:srgbClr val="E0E0E0"/>
                </a:solidFill>
                <a:latin typeface="Calibri"/>
              </a:defRPr>
            </a:pPr>
            <a:r>
              <a:t>3-tier routing (7B/32B/72B) saves 60-70% GPU costs vs. single-model approach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600" b="1">
                <a:solidFill>
                  <a:srgbClr val="FFFFFF"/>
                </a:solidFill>
                <a:latin typeface="Calibri"/>
              </a:defRPr>
            </a:pPr>
            <a:r>
              <a:t>ROI &amp; Strategic Value</a:t>
            </a:r>
          </a:p>
        </p:txBody>
      </p:sp>
      <p:sp>
        <p:nvSpPr>
          <p:cNvPr id="3" name="Rectangle 2"/>
          <p:cNvSpPr/>
          <p:nvPr/>
        </p:nvSpPr>
        <p:spPr>
          <a:xfrm>
            <a:off x="731520" y="1097280"/>
            <a:ext cx="10515600" cy="254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645920"/>
            <a:ext cx="2286000" cy="18288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2286000" cy="381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20240"/>
            <a:ext cx="2286000" cy="914400"/>
          </a:xfrm>
          <a:prstGeom prst="rect">
            <a:avLst/>
          </a:prstGeom>
          <a:noFill/>
        </p:spPr>
        <p:txBody>
          <a:bodyPr wrap="square">
            <a:spAutoFit/>
          </a:bodyPr>
          <a:lstStyle/>
          <a:p>
            <a:pPr algn="ctr">
              <a:defRPr sz="4200" b="1">
                <a:solidFill>
                  <a:srgbClr val="007BFF"/>
                </a:solidFill>
                <a:latin typeface="Calibri"/>
              </a:defRPr>
            </a:pPr>
            <a:r>
              <a:t>60-70%</a:t>
            </a:r>
          </a:p>
        </p:txBody>
      </p:sp>
      <p:sp>
        <p:nvSpPr>
          <p:cNvPr id="7" name="TextBox 6"/>
          <p:cNvSpPr txBox="1"/>
          <p:nvPr/>
        </p:nvSpPr>
        <p:spPr>
          <a:xfrm>
            <a:off x="731520" y="2834640"/>
            <a:ext cx="2286000" cy="548640"/>
          </a:xfrm>
          <a:prstGeom prst="rect">
            <a:avLst/>
          </a:prstGeom>
          <a:noFill/>
        </p:spPr>
        <p:txBody>
          <a:bodyPr wrap="square">
            <a:spAutoFit/>
          </a:bodyPr>
          <a:lstStyle/>
          <a:p>
            <a:pPr algn="ctr">
              <a:defRPr sz="1300" b="0">
                <a:solidFill>
                  <a:srgbClr val="E0E0E0"/>
                </a:solidFill>
                <a:latin typeface="Calibri"/>
              </a:defRPr>
            </a:pPr>
            <a:r>
              <a:t>GPU Cost Savings</a:t>
            </a:r>
            <a:br/>
            <a:r>
              <a:t>vs. single model</a:t>
            </a:r>
          </a:p>
        </p:txBody>
      </p:sp>
      <p:sp>
        <p:nvSpPr>
          <p:cNvPr id="8" name="Rectangle 7"/>
          <p:cNvSpPr/>
          <p:nvPr/>
        </p:nvSpPr>
        <p:spPr>
          <a:xfrm>
            <a:off x="3291840" y="1645920"/>
            <a:ext cx="2286000" cy="18288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91840" y="1645920"/>
            <a:ext cx="2286000" cy="38100"/>
          </a:xfrm>
          <a:prstGeom prst="rect">
            <a:avLst/>
          </a:prstGeom>
          <a:solidFill>
            <a:srgbClr val="00C9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1920240"/>
            <a:ext cx="2286000" cy="914400"/>
          </a:xfrm>
          <a:prstGeom prst="rect">
            <a:avLst/>
          </a:prstGeom>
          <a:noFill/>
        </p:spPr>
        <p:txBody>
          <a:bodyPr wrap="square">
            <a:spAutoFit/>
          </a:bodyPr>
          <a:lstStyle/>
          <a:p>
            <a:pPr algn="ctr">
              <a:defRPr sz="4200" b="1">
                <a:solidFill>
                  <a:srgbClr val="00C953"/>
                </a:solidFill>
                <a:latin typeface="Calibri"/>
              </a:defRPr>
            </a:pPr>
            <a:r>
              <a:t>0</a:t>
            </a:r>
          </a:p>
        </p:txBody>
      </p:sp>
      <p:sp>
        <p:nvSpPr>
          <p:cNvPr id="11" name="TextBox 10"/>
          <p:cNvSpPr txBox="1"/>
          <p:nvPr/>
        </p:nvSpPr>
        <p:spPr>
          <a:xfrm>
            <a:off x="3291840" y="2834640"/>
            <a:ext cx="2286000" cy="548640"/>
          </a:xfrm>
          <a:prstGeom prst="rect">
            <a:avLst/>
          </a:prstGeom>
          <a:noFill/>
        </p:spPr>
        <p:txBody>
          <a:bodyPr wrap="square">
            <a:spAutoFit/>
          </a:bodyPr>
          <a:lstStyle/>
          <a:p>
            <a:pPr algn="ctr">
              <a:defRPr sz="1300" b="0">
                <a:solidFill>
                  <a:srgbClr val="E0E0E0"/>
                </a:solidFill>
                <a:latin typeface="Calibri"/>
              </a:defRPr>
            </a:pPr>
            <a:r>
              <a:t>Data Leaks</a:t>
            </a:r>
            <a:br/>
            <a:r>
              <a:t>to External Services</a:t>
            </a:r>
          </a:p>
        </p:txBody>
      </p:sp>
      <p:sp>
        <p:nvSpPr>
          <p:cNvPr id="12" name="Rectangle 11"/>
          <p:cNvSpPr/>
          <p:nvPr/>
        </p:nvSpPr>
        <p:spPr>
          <a:xfrm>
            <a:off x="5852160" y="1645920"/>
            <a:ext cx="2286000" cy="18288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52160" y="1645920"/>
            <a:ext cx="2286000" cy="381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0" y="1920240"/>
            <a:ext cx="2286000" cy="914400"/>
          </a:xfrm>
          <a:prstGeom prst="rect">
            <a:avLst/>
          </a:prstGeom>
          <a:noFill/>
        </p:spPr>
        <p:txBody>
          <a:bodyPr wrap="square">
            <a:spAutoFit/>
          </a:bodyPr>
          <a:lstStyle/>
          <a:p>
            <a:pPr algn="ctr">
              <a:defRPr sz="4200" b="1">
                <a:solidFill>
                  <a:srgbClr val="00C9A7"/>
                </a:solidFill>
                <a:latin typeface="Calibri"/>
              </a:defRPr>
            </a:pPr>
            <a:r>
              <a:t>100%</a:t>
            </a:r>
          </a:p>
        </p:txBody>
      </p:sp>
      <p:sp>
        <p:nvSpPr>
          <p:cNvPr id="15" name="TextBox 14"/>
          <p:cNvSpPr txBox="1"/>
          <p:nvPr/>
        </p:nvSpPr>
        <p:spPr>
          <a:xfrm>
            <a:off x="5852160" y="2834640"/>
            <a:ext cx="2286000" cy="548640"/>
          </a:xfrm>
          <a:prstGeom prst="rect">
            <a:avLst/>
          </a:prstGeom>
          <a:noFill/>
        </p:spPr>
        <p:txBody>
          <a:bodyPr wrap="square">
            <a:spAutoFit/>
          </a:bodyPr>
          <a:lstStyle/>
          <a:p>
            <a:pPr algn="ctr">
              <a:defRPr sz="1300" b="0">
                <a:solidFill>
                  <a:srgbClr val="E0E0E0"/>
                </a:solidFill>
                <a:latin typeface="Calibri"/>
              </a:defRPr>
            </a:pPr>
            <a:r>
              <a:t>Audit Coverage</a:t>
            </a:r>
            <a:br/>
            <a:r>
              <a:t>7-Year Retention</a:t>
            </a:r>
          </a:p>
        </p:txBody>
      </p:sp>
      <p:sp>
        <p:nvSpPr>
          <p:cNvPr id="16" name="Rectangle 15"/>
          <p:cNvSpPr/>
          <p:nvPr/>
        </p:nvSpPr>
        <p:spPr>
          <a:xfrm>
            <a:off x="8412480" y="1645920"/>
            <a:ext cx="2286000" cy="18288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12480" y="1645920"/>
            <a:ext cx="2286000" cy="381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1920240"/>
            <a:ext cx="2286000" cy="914400"/>
          </a:xfrm>
          <a:prstGeom prst="rect">
            <a:avLst/>
          </a:prstGeom>
          <a:noFill/>
        </p:spPr>
        <p:txBody>
          <a:bodyPr wrap="square">
            <a:spAutoFit/>
          </a:bodyPr>
          <a:lstStyle/>
          <a:p>
            <a:pPr algn="ctr">
              <a:defRPr sz="4200" b="1">
                <a:solidFill>
                  <a:srgbClr val="FF6B35"/>
                </a:solidFill>
                <a:latin typeface="Calibri"/>
              </a:defRPr>
            </a:pPr>
            <a:r>
              <a:t>&lt; 500ms</a:t>
            </a:r>
          </a:p>
        </p:txBody>
      </p:sp>
      <p:sp>
        <p:nvSpPr>
          <p:cNvPr id="19" name="TextBox 18"/>
          <p:cNvSpPr txBox="1"/>
          <p:nvPr/>
        </p:nvSpPr>
        <p:spPr>
          <a:xfrm>
            <a:off x="8412480" y="2834640"/>
            <a:ext cx="2286000" cy="548640"/>
          </a:xfrm>
          <a:prstGeom prst="rect">
            <a:avLst/>
          </a:prstGeom>
          <a:noFill/>
        </p:spPr>
        <p:txBody>
          <a:bodyPr wrap="square">
            <a:spAutoFit/>
          </a:bodyPr>
          <a:lstStyle/>
          <a:p>
            <a:pPr algn="ctr">
              <a:defRPr sz="1300" b="0">
                <a:solidFill>
                  <a:srgbClr val="E0E0E0"/>
                </a:solidFill>
                <a:latin typeface="Calibri"/>
              </a:defRPr>
            </a:pPr>
            <a:r>
              <a:t>Response Latency</a:t>
            </a:r>
            <a:br/>
            <a:r>
              <a:t>on Local Network</a:t>
            </a:r>
          </a:p>
        </p:txBody>
      </p:sp>
      <p:sp>
        <p:nvSpPr>
          <p:cNvPr id="20" name="TextBox 19"/>
          <p:cNvSpPr txBox="1"/>
          <p:nvPr/>
        </p:nvSpPr>
        <p:spPr>
          <a:xfrm>
            <a:off x="731520" y="3931920"/>
            <a:ext cx="10058400" cy="457200"/>
          </a:xfrm>
          <a:prstGeom prst="rect">
            <a:avLst/>
          </a:prstGeom>
          <a:noFill/>
        </p:spPr>
        <p:txBody>
          <a:bodyPr wrap="square">
            <a:spAutoFit/>
          </a:bodyPr>
          <a:lstStyle/>
          <a:p>
            <a:pPr algn="l">
              <a:defRPr sz="2200" b="1">
                <a:solidFill>
                  <a:srgbClr val="FFFFFF"/>
                </a:solidFill>
                <a:latin typeface="Calibri"/>
              </a:defRPr>
            </a:pPr>
            <a:r>
              <a:t>Strategic Benefits</a:t>
            </a:r>
          </a:p>
        </p:txBody>
      </p:sp>
      <p:sp>
        <p:nvSpPr>
          <p:cNvPr id="21" name="TextBox 20"/>
          <p:cNvSpPr txBox="1"/>
          <p:nvPr/>
        </p:nvSpPr>
        <p:spPr>
          <a:xfrm>
            <a:off x="914400" y="4572000"/>
            <a:ext cx="9601200" cy="1828800"/>
          </a:xfrm>
          <a:prstGeom prst="rect">
            <a:avLst/>
          </a:prstGeom>
          <a:noFill/>
        </p:spPr>
        <p:txBody>
          <a:bodyPr wrap="square">
            <a:spAutoFit/>
          </a:bodyPr>
          <a:lstStyle/>
          <a:p>
            <a:pPr>
              <a:spcAft>
                <a:spcPts val="1000"/>
              </a:spcAft>
              <a:defRPr sz="1600">
                <a:solidFill>
                  <a:srgbClr val="E0E0E0"/>
                </a:solidFill>
                <a:latin typeface="Calibri"/>
              </a:defRPr>
            </a:pPr>
            <a:r>
              <a:t>•  Eliminate shadow AI usage — give employees a safe, approved AI tool</a:t>
            </a:r>
          </a:p>
          <a:p>
            <a:pPr>
              <a:spcAft>
                <a:spcPts val="1000"/>
              </a:spcAft>
              <a:defRPr sz="1600">
                <a:solidFill>
                  <a:srgbClr val="E0E0E0"/>
                </a:solidFill>
                <a:latin typeface="Calibri"/>
              </a:defRPr>
            </a:pPr>
            <a:r>
              <a:t>•  Competitive advantage: AI-powered operations without compliance risk</a:t>
            </a:r>
          </a:p>
          <a:p>
            <a:pPr>
              <a:spcAft>
                <a:spcPts val="1000"/>
              </a:spcAft>
              <a:defRPr sz="1600">
                <a:solidFill>
                  <a:srgbClr val="E0E0E0"/>
                </a:solidFill>
                <a:latin typeface="Calibri"/>
              </a:defRPr>
            </a:pPr>
            <a:r>
              <a:t>•  Future-proof: model-agnostic architecture, swap models without code changes</a:t>
            </a:r>
          </a:p>
          <a:p>
            <a:pPr>
              <a:spcAft>
                <a:spcPts val="1000"/>
              </a:spcAft>
              <a:defRPr sz="1600">
                <a:solidFill>
                  <a:srgbClr val="E0E0E0"/>
                </a:solidFill>
                <a:latin typeface="Calibri"/>
              </a:defRPr>
            </a:pPr>
            <a:r>
              <a:t>•  Phase 9 complete — production-hardened platform ready for immediate deployment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2926080"/>
            <a:ext cx="12191695"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097280"/>
          </a:xfrm>
          <a:prstGeom prst="rect">
            <a:avLst/>
          </a:prstGeom>
          <a:noFill/>
        </p:spPr>
        <p:txBody>
          <a:bodyPr wrap="square">
            <a:spAutoFit/>
          </a:bodyPr>
          <a:lstStyle/>
          <a:p>
            <a:pPr algn="ctr">
              <a:defRPr sz="4000" b="1">
                <a:solidFill>
                  <a:srgbClr val="FFFFFF"/>
                </a:solidFill>
                <a:latin typeface="Calibri"/>
              </a:defRPr>
            </a:pPr>
            <a:r>
              <a:t>PART 2</a:t>
            </a:r>
          </a:p>
        </p:txBody>
      </p:sp>
      <p:sp>
        <p:nvSpPr>
          <p:cNvPr id="4" name="TextBox 3"/>
          <p:cNvSpPr txBox="1"/>
          <p:nvPr/>
        </p:nvSpPr>
        <p:spPr>
          <a:xfrm>
            <a:off x="1828800" y="3291840"/>
            <a:ext cx="8229600" cy="914400"/>
          </a:xfrm>
          <a:prstGeom prst="rect">
            <a:avLst/>
          </a:prstGeom>
          <a:noFill/>
        </p:spPr>
        <p:txBody>
          <a:bodyPr wrap="square">
            <a:spAutoFit/>
          </a:bodyPr>
          <a:lstStyle/>
          <a:p>
            <a:pPr algn="ctr">
              <a:defRPr sz="2000" b="0">
                <a:solidFill>
                  <a:srgbClr val="999999"/>
                </a:solidFill>
                <a:latin typeface="Calibri"/>
              </a:defRPr>
            </a:pPr>
            <a:r>
              <a:t>IT &amp; Compliance — Technical Architecture &amp; Policy Alignment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600" b="1">
                <a:solidFill>
                  <a:srgbClr val="FFFFFF"/>
                </a:solidFill>
                <a:latin typeface="Calibri"/>
              </a:defRPr>
            </a:pPr>
            <a:r>
              <a:t>7-Layer Security Architecture</a:t>
            </a:r>
          </a:p>
        </p:txBody>
      </p:sp>
      <p:sp>
        <p:nvSpPr>
          <p:cNvPr id="3" name="Rectangle 2"/>
          <p:cNvSpPr/>
          <p:nvPr/>
        </p:nvSpPr>
        <p:spPr>
          <a:xfrm>
            <a:off x="731520" y="1097280"/>
            <a:ext cx="10515600" cy="254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463040"/>
            <a:ext cx="1097280" cy="54864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08760"/>
            <a:ext cx="1097280" cy="457200"/>
          </a:xfrm>
          <a:prstGeom prst="rect">
            <a:avLst/>
          </a:prstGeom>
          <a:noFill/>
        </p:spPr>
        <p:txBody>
          <a:bodyPr wrap="square">
            <a:spAutoFit/>
          </a:bodyPr>
          <a:lstStyle/>
          <a:p>
            <a:pPr algn="ctr">
              <a:defRPr sz="1300" b="1">
                <a:solidFill>
                  <a:srgbClr val="FFFFFF"/>
                </a:solidFill>
                <a:latin typeface="Calibri"/>
              </a:defRPr>
            </a:pPr>
            <a:r>
              <a:t>Layer 1</a:t>
            </a:r>
          </a:p>
        </p:txBody>
      </p:sp>
      <p:sp>
        <p:nvSpPr>
          <p:cNvPr id="6" name="TextBox 5"/>
          <p:cNvSpPr txBox="1"/>
          <p:nvPr/>
        </p:nvSpPr>
        <p:spPr>
          <a:xfrm>
            <a:off x="2011680" y="1508760"/>
            <a:ext cx="2286000" cy="457200"/>
          </a:xfrm>
          <a:prstGeom prst="rect">
            <a:avLst/>
          </a:prstGeom>
          <a:noFill/>
        </p:spPr>
        <p:txBody>
          <a:bodyPr wrap="square">
            <a:spAutoFit/>
          </a:bodyPr>
          <a:lstStyle/>
          <a:p>
            <a:pPr algn="l">
              <a:defRPr sz="1600" b="1">
                <a:solidFill>
                  <a:srgbClr val="FFFFFF"/>
                </a:solidFill>
                <a:latin typeface="Calibri"/>
              </a:defRPr>
            </a:pPr>
            <a:r>
              <a:t>UI Layer</a:t>
            </a:r>
          </a:p>
        </p:txBody>
      </p:sp>
      <p:sp>
        <p:nvSpPr>
          <p:cNvPr id="7" name="TextBox 6"/>
          <p:cNvSpPr txBox="1"/>
          <p:nvPr/>
        </p:nvSpPr>
        <p:spPr>
          <a:xfrm>
            <a:off x="4389120" y="1508760"/>
            <a:ext cx="6858000" cy="457200"/>
          </a:xfrm>
          <a:prstGeom prst="rect">
            <a:avLst/>
          </a:prstGeom>
          <a:noFill/>
        </p:spPr>
        <p:txBody>
          <a:bodyPr wrap="square">
            <a:spAutoFit/>
          </a:bodyPr>
          <a:lstStyle/>
          <a:p>
            <a:pPr algn="l">
              <a:defRPr sz="1400" b="0">
                <a:solidFill>
                  <a:srgbClr val="E0E0E0"/>
                </a:solidFill>
                <a:latin typeface="Calibri"/>
              </a:defRPr>
            </a:pPr>
            <a:r>
              <a:t>React 19 Web Application</a:t>
            </a:r>
          </a:p>
        </p:txBody>
      </p:sp>
      <p:sp>
        <p:nvSpPr>
          <p:cNvPr id="8" name="Rectangle 7"/>
          <p:cNvSpPr/>
          <p:nvPr/>
        </p:nvSpPr>
        <p:spPr>
          <a:xfrm>
            <a:off x="731520" y="2176272"/>
            <a:ext cx="1097280" cy="54864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221992"/>
            <a:ext cx="1097280" cy="457200"/>
          </a:xfrm>
          <a:prstGeom prst="rect">
            <a:avLst/>
          </a:prstGeom>
          <a:noFill/>
        </p:spPr>
        <p:txBody>
          <a:bodyPr wrap="square">
            <a:spAutoFit/>
          </a:bodyPr>
          <a:lstStyle/>
          <a:p>
            <a:pPr algn="ctr">
              <a:defRPr sz="1300" b="1">
                <a:solidFill>
                  <a:srgbClr val="FFFFFF"/>
                </a:solidFill>
                <a:latin typeface="Calibri"/>
              </a:defRPr>
            </a:pPr>
            <a:r>
              <a:t>Layer 2</a:t>
            </a:r>
          </a:p>
        </p:txBody>
      </p:sp>
      <p:sp>
        <p:nvSpPr>
          <p:cNvPr id="10" name="TextBox 9"/>
          <p:cNvSpPr txBox="1"/>
          <p:nvPr/>
        </p:nvSpPr>
        <p:spPr>
          <a:xfrm>
            <a:off x="2011680" y="2221992"/>
            <a:ext cx="2286000" cy="457200"/>
          </a:xfrm>
          <a:prstGeom prst="rect">
            <a:avLst/>
          </a:prstGeom>
          <a:noFill/>
        </p:spPr>
        <p:txBody>
          <a:bodyPr wrap="square">
            <a:spAutoFit/>
          </a:bodyPr>
          <a:lstStyle/>
          <a:p>
            <a:pPr algn="l">
              <a:defRPr sz="1600" b="1">
                <a:solidFill>
                  <a:srgbClr val="FFFFFF"/>
                </a:solidFill>
                <a:latin typeface="Calibri"/>
              </a:defRPr>
            </a:pPr>
            <a:r>
              <a:t>API Gateway</a:t>
            </a:r>
          </a:p>
        </p:txBody>
      </p:sp>
      <p:sp>
        <p:nvSpPr>
          <p:cNvPr id="11" name="TextBox 10"/>
          <p:cNvSpPr txBox="1"/>
          <p:nvPr/>
        </p:nvSpPr>
        <p:spPr>
          <a:xfrm>
            <a:off x="4389120" y="2221992"/>
            <a:ext cx="6858000" cy="457200"/>
          </a:xfrm>
          <a:prstGeom prst="rect">
            <a:avLst/>
          </a:prstGeom>
          <a:noFill/>
        </p:spPr>
        <p:txBody>
          <a:bodyPr wrap="square">
            <a:spAutoFit/>
          </a:bodyPr>
          <a:lstStyle/>
          <a:p>
            <a:pPr algn="l">
              <a:defRPr sz="1400" b="0">
                <a:solidFill>
                  <a:srgbClr val="E0E0E0"/>
                </a:solidFill>
                <a:latin typeface="Calibri"/>
              </a:defRPr>
            </a:pPr>
            <a:r>
              <a:t>FastAPI + JWT Auth + Rate Limiting</a:t>
            </a:r>
          </a:p>
        </p:txBody>
      </p:sp>
      <p:sp>
        <p:nvSpPr>
          <p:cNvPr id="12" name="Rectangle 11"/>
          <p:cNvSpPr/>
          <p:nvPr/>
        </p:nvSpPr>
        <p:spPr>
          <a:xfrm>
            <a:off x="731520" y="2889504"/>
            <a:ext cx="1097280" cy="54864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35224"/>
            <a:ext cx="1097280" cy="457200"/>
          </a:xfrm>
          <a:prstGeom prst="rect">
            <a:avLst/>
          </a:prstGeom>
          <a:noFill/>
        </p:spPr>
        <p:txBody>
          <a:bodyPr wrap="square">
            <a:spAutoFit/>
          </a:bodyPr>
          <a:lstStyle/>
          <a:p>
            <a:pPr algn="ctr">
              <a:defRPr sz="1300" b="1">
                <a:solidFill>
                  <a:srgbClr val="FFFFFF"/>
                </a:solidFill>
                <a:latin typeface="Calibri"/>
              </a:defRPr>
            </a:pPr>
            <a:r>
              <a:t>Layer 3</a:t>
            </a:r>
          </a:p>
        </p:txBody>
      </p:sp>
      <p:sp>
        <p:nvSpPr>
          <p:cNvPr id="14" name="TextBox 13"/>
          <p:cNvSpPr txBox="1"/>
          <p:nvPr/>
        </p:nvSpPr>
        <p:spPr>
          <a:xfrm>
            <a:off x="2011680" y="2935224"/>
            <a:ext cx="2286000" cy="457200"/>
          </a:xfrm>
          <a:prstGeom prst="rect">
            <a:avLst/>
          </a:prstGeom>
          <a:noFill/>
        </p:spPr>
        <p:txBody>
          <a:bodyPr wrap="square">
            <a:spAutoFit/>
          </a:bodyPr>
          <a:lstStyle/>
          <a:p>
            <a:pPr algn="l">
              <a:defRPr sz="1600" b="1">
                <a:solidFill>
                  <a:srgbClr val="FFFFFF"/>
                </a:solidFill>
                <a:latin typeface="Calibri"/>
              </a:defRPr>
            </a:pPr>
            <a:r>
              <a:t>Policy Engine</a:t>
            </a:r>
          </a:p>
        </p:txBody>
      </p:sp>
      <p:sp>
        <p:nvSpPr>
          <p:cNvPr id="15" name="TextBox 14"/>
          <p:cNvSpPr txBox="1"/>
          <p:nvPr/>
        </p:nvSpPr>
        <p:spPr>
          <a:xfrm>
            <a:off x="4389120" y="2935224"/>
            <a:ext cx="6858000" cy="457200"/>
          </a:xfrm>
          <a:prstGeom prst="rect">
            <a:avLst/>
          </a:prstGeom>
          <a:noFill/>
        </p:spPr>
        <p:txBody>
          <a:bodyPr wrap="square">
            <a:spAutoFit/>
          </a:bodyPr>
          <a:lstStyle/>
          <a:p>
            <a:pPr algn="l">
              <a:defRPr sz="1400" b="0">
                <a:solidFill>
                  <a:srgbClr val="E0E0E0"/>
                </a:solidFill>
                <a:latin typeface="Calibri"/>
              </a:defRPr>
            </a:pPr>
            <a:r>
              <a:t>RBAC + Tenant Isolation + Classification</a:t>
            </a:r>
          </a:p>
        </p:txBody>
      </p:sp>
      <p:sp>
        <p:nvSpPr>
          <p:cNvPr id="16" name="Rectangle 15"/>
          <p:cNvSpPr/>
          <p:nvPr/>
        </p:nvSpPr>
        <p:spPr>
          <a:xfrm>
            <a:off x="731520" y="3602736"/>
            <a:ext cx="1097280" cy="54864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648456"/>
            <a:ext cx="1097280" cy="457200"/>
          </a:xfrm>
          <a:prstGeom prst="rect">
            <a:avLst/>
          </a:prstGeom>
          <a:noFill/>
        </p:spPr>
        <p:txBody>
          <a:bodyPr wrap="square">
            <a:spAutoFit/>
          </a:bodyPr>
          <a:lstStyle/>
          <a:p>
            <a:pPr algn="ctr">
              <a:defRPr sz="1300" b="1">
                <a:solidFill>
                  <a:srgbClr val="FFFFFF"/>
                </a:solidFill>
                <a:latin typeface="Calibri"/>
              </a:defRPr>
            </a:pPr>
            <a:r>
              <a:t>Layer 4</a:t>
            </a:r>
          </a:p>
        </p:txBody>
      </p:sp>
      <p:sp>
        <p:nvSpPr>
          <p:cNvPr id="18" name="TextBox 17"/>
          <p:cNvSpPr txBox="1"/>
          <p:nvPr/>
        </p:nvSpPr>
        <p:spPr>
          <a:xfrm>
            <a:off x="2011680" y="3648456"/>
            <a:ext cx="2286000" cy="457200"/>
          </a:xfrm>
          <a:prstGeom prst="rect">
            <a:avLst/>
          </a:prstGeom>
          <a:noFill/>
        </p:spPr>
        <p:txBody>
          <a:bodyPr wrap="square">
            <a:spAutoFit/>
          </a:bodyPr>
          <a:lstStyle/>
          <a:p>
            <a:pPr algn="l">
              <a:defRPr sz="1600" b="1">
                <a:solidFill>
                  <a:srgbClr val="FFFFFF"/>
                </a:solidFill>
                <a:latin typeface="Calibri"/>
              </a:defRPr>
            </a:pPr>
            <a:r>
              <a:t>Agent Runtime</a:t>
            </a:r>
          </a:p>
        </p:txBody>
      </p:sp>
      <p:sp>
        <p:nvSpPr>
          <p:cNvPr id="19" name="TextBox 18"/>
          <p:cNvSpPr txBox="1"/>
          <p:nvPr/>
        </p:nvSpPr>
        <p:spPr>
          <a:xfrm>
            <a:off x="4389120" y="3648456"/>
            <a:ext cx="6858000" cy="457200"/>
          </a:xfrm>
          <a:prstGeom prst="rect">
            <a:avLst/>
          </a:prstGeom>
          <a:noFill/>
        </p:spPr>
        <p:txBody>
          <a:bodyPr wrap="square">
            <a:spAutoFit/>
          </a:bodyPr>
          <a:lstStyle/>
          <a:p>
            <a:pPr algn="l">
              <a:defRPr sz="1400" b="0">
                <a:solidFill>
                  <a:srgbClr val="E0E0E0"/>
                </a:solidFill>
                <a:latin typeface="Calibri"/>
              </a:defRPr>
            </a:pPr>
            <a:r>
              <a:t>Multi-Agent Orchestration</a:t>
            </a:r>
          </a:p>
        </p:txBody>
      </p:sp>
      <p:sp>
        <p:nvSpPr>
          <p:cNvPr id="20" name="Rectangle 19"/>
          <p:cNvSpPr/>
          <p:nvPr/>
        </p:nvSpPr>
        <p:spPr>
          <a:xfrm>
            <a:off x="731520" y="4315968"/>
            <a:ext cx="1097280" cy="548640"/>
          </a:xfrm>
          <a:prstGeom prst="rect">
            <a:avLst/>
          </a:prstGeom>
          <a:solidFill>
            <a:srgbClr val="00C9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361688"/>
            <a:ext cx="1097280" cy="457200"/>
          </a:xfrm>
          <a:prstGeom prst="rect">
            <a:avLst/>
          </a:prstGeom>
          <a:noFill/>
        </p:spPr>
        <p:txBody>
          <a:bodyPr wrap="square">
            <a:spAutoFit/>
          </a:bodyPr>
          <a:lstStyle/>
          <a:p>
            <a:pPr algn="ctr">
              <a:defRPr sz="1300" b="1">
                <a:solidFill>
                  <a:srgbClr val="FFFFFF"/>
                </a:solidFill>
                <a:latin typeface="Calibri"/>
              </a:defRPr>
            </a:pPr>
            <a:r>
              <a:t>Layer 5</a:t>
            </a:r>
          </a:p>
        </p:txBody>
      </p:sp>
      <p:sp>
        <p:nvSpPr>
          <p:cNvPr id="22" name="TextBox 21"/>
          <p:cNvSpPr txBox="1"/>
          <p:nvPr/>
        </p:nvSpPr>
        <p:spPr>
          <a:xfrm>
            <a:off x="2011680" y="4361688"/>
            <a:ext cx="2286000" cy="457200"/>
          </a:xfrm>
          <a:prstGeom prst="rect">
            <a:avLst/>
          </a:prstGeom>
          <a:noFill/>
        </p:spPr>
        <p:txBody>
          <a:bodyPr wrap="square">
            <a:spAutoFit/>
          </a:bodyPr>
          <a:lstStyle/>
          <a:p>
            <a:pPr algn="l">
              <a:defRPr sz="1600" b="1">
                <a:solidFill>
                  <a:srgbClr val="FFFFFF"/>
                </a:solidFill>
                <a:latin typeface="Calibri"/>
              </a:defRPr>
            </a:pPr>
            <a:r>
              <a:t>Tool Layer</a:t>
            </a:r>
          </a:p>
        </p:txBody>
      </p:sp>
      <p:sp>
        <p:nvSpPr>
          <p:cNvPr id="23" name="TextBox 22"/>
          <p:cNvSpPr txBox="1"/>
          <p:nvPr/>
        </p:nvSpPr>
        <p:spPr>
          <a:xfrm>
            <a:off x="4389120" y="4361688"/>
            <a:ext cx="6858000" cy="457200"/>
          </a:xfrm>
          <a:prstGeom prst="rect">
            <a:avLst/>
          </a:prstGeom>
          <a:noFill/>
        </p:spPr>
        <p:txBody>
          <a:bodyPr wrap="square">
            <a:spAutoFit/>
          </a:bodyPr>
          <a:lstStyle/>
          <a:p>
            <a:pPr algn="l">
              <a:defRPr sz="1400" b="0">
                <a:solidFill>
                  <a:srgbClr val="E0E0E0"/>
                </a:solidFill>
                <a:latin typeface="Calibri"/>
              </a:defRPr>
            </a:pPr>
            <a:r>
              <a:t>RAG + Enterprise Connectors + Approval Workflow</a:t>
            </a:r>
          </a:p>
        </p:txBody>
      </p:sp>
      <p:sp>
        <p:nvSpPr>
          <p:cNvPr id="24" name="Rectangle 23"/>
          <p:cNvSpPr/>
          <p:nvPr/>
        </p:nvSpPr>
        <p:spPr>
          <a:xfrm>
            <a:off x="731520" y="5029200"/>
            <a:ext cx="1097280" cy="548640"/>
          </a:xfrm>
          <a:prstGeom prst="rect">
            <a:avLst/>
          </a:prstGeom>
          <a:solidFill>
            <a:srgbClr val="00C9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074920"/>
            <a:ext cx="1097280" cy="457200"/>
          </a:xfrm>
          <a:prstGeom prst="rect">
            <a:avLst/>
          </a:prstGeom>
          <a:noFill/>
        </p:spPr>
        <p:txBody>
          <a:bodyPr wrap="square">
            <a:spAutoFit/>
          </a:bodyPr>
          <a:lstStyle/>
          <a:p>
            <a:pPr algn="ctr">
              <a:defRPr sz="1300" b="1">
                <a:solidFill>
                  <a:srgbClr val="FFFFFF"/>
                </a:solidFill>
                <a:latin typeface="Calibri"/>
              </a:defRPr>
            </a:pPr>
            <a:r>
              <a:t>Layer 6</a:t>
            </a:r>
          </a:p>
        </p:txBody>
      </p:sp>
      <p:sp>
        <p:nvSpPr>
          <p:cNvPr id="26" name="TextBox 25"/>
          <p:cNvSpPr txBox="1"/>
          <p:nvPr/>
        </p:nvSpPr>
        <p:spPr>
          <a:xfrm>
            <a:off x="2011680" y="5074920"/>
            <a:ext cx="2286000" cy="457200"/>
          </a:xfrm>
          <a:prstGeom prst="rect">
            <a:avLst/>
          </a:prstGeom>
          <a:noFill/>
        </p:spPr>
        <p:txBody>
          <a:bodyPr wrap="square">
            <a:spAutoFit/>
          </a:bodyPr>
          <a:lstStyle/>
          <a:p>
            <a:pPr algn="l">
              <a:defRPr sz="1600" b="1">
                <a:solidFill>
                  <a:srgbClr val="FFFFFF"/>
                </a:solidFill>
                <a:latin typeface="Calibri"/>
              </a:defRPr>
            </a:pPr>
            <a:r>
              <a:t>Model Layer</a:t>
            </a:r>
          </a:p>
        </p:txBody>
      </p:sp>
      <p:sp>
        <p:nvSpPr>
          <p:cNvPr id="27" name="TextBox 26"/>
          <p:cNvSpPr txBox="1"/>
          <p:nvPr/>
        </p:nvSpPr>
        <p:spPr>
          <a:xfrm>
            <a:off x="4389120" y="5074920"/>
            <a:ext cx="6858000" cy="457200"/>
          </a:xfrm>
          <a:prstGeom prst="rect">
            <a:avLst/>
          </a:prstGeom>
          <a:noFill/>
        </p:spPr>
        <p:txBody>
          <a:bodyPr wrap="square">
            <a:spAutoFit/>
          </a:bodyPr>
          <a:lstStyle/>
          <a:p>
            <a:pPr algn="l">
              <a:defRPr sz="1400" b="0">
                <a:solidFill>
                  <a:srgbClr val="E0E0E0"/>
                </a:solidFill>
                <a:latin typeface="Calibri"/>
              </a:defRPr>
            </a:pPr>
            <a:r>
              <a:t>LiteLLM Proxy — 3-Tier Routing (7B/32B/72B)</a:t>
            </a:r>
          </a:p>
        </p:txBody>
      </p:sp>
      <p:sp>
        <p:nvSpPr>
          <p:cNvPr id="28" name="Rectangle 27"/>
          <p:cNvSpPr/>
          <p:nvPr/>
        </p:nvSpPr>
        <p:spPr>
          <a:xfrm>
            <a:off x="731520" y="5742431"/>
            <a:ext cx="1097280" cy="54864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5788151"/>
            <a:ext cx="1097280" cy="457200"/>
          </a:xfrm>
          <a:prstGeom prst="rect">
            <a:avLst/>
          </a:prstGeom>
          <a:noFill/>
        </p:spPr>
        <p:txBody>
          <a:bodyPr wrap="square">
            <a:spAutoFit/>
          </a:bodyPr>
          <a:lstStyle/>
          <a:p>
            <a:pPr algn="ctr">
              <a:defRPr sz="1300" b="1">
                <a:solidFill>
                  <a:srgbClr val="FFFFFF"/>
                </a:solidFill>
                <a:latin typeface="Calibri"/>
              </a:defRPr>
            </a:pPr>
            <a:r>
              <a:t>Layer 7</a:t>
            </a:r>
          </a:p>
        </p:txBody>
      </p:sp>
      <p:sp>
        <p:nvSpPr>
          <p:cNvPr id="30" name="TextBox 29"/>
          <p:cNvSpPr txBox="1"/>
          <p:nvPr/>
        </p:nvSpPr>
        <p:spPr>
          <a:xfrm>
            <a:off x="2011680" y="5788151"/>
            <a:ext cx="2286000" cy="457200"/>
          </a:xfrm>
          <a:prstGeom prst="rect">
            <a:avLst/>
          </a:prstGeom>
          <a:noFill/>
        </p:spPr>
        <p:txBody>
          <a:bodyPr wrap="square">
            <a:spAutoFit/>
          </a:bodyPr>
          <a:lstStyle/>
          <a:p>
            <a:pPr algn="l">
              <a:defRPr sz="1600" b="1">
                <a:solidFill>
                  <a:srgbClr val="FFFFFF"/>
                </a:solidFill>
                <a:latin typeface="Calibri"/>
              </a:defRPr>
            </a:pPr>
            <a:r>
              <a:t>Data Layer</a:t>
            </a:r>
          </a:p>
        </p:txBody>
      </p:sp>
      <p:sp>
        <p:nvSpPr>
          <p:cNvPr id="31" name="TextBox 30"/>
          <p:cNvSpPr txBox="1"/>
          <p:nvPr/>
        </p:nvSpPr>
        <p:spPr>
          <a:xfrm>
            <a:off x="4389120" y="5788151"/>
            <a:ext cx="6858000" cy="457200"/>
          </a:xfrm>
          <a:prstGeom prst="rect">
            <a:avLst/>
          </a:prstGeom>
          <a:noFill/>
        </p:spPr>
        <p:txBody>
          <a:bodyPr wrap="square">
            <a:spAutoFit/>
          </a:bodyPr>
          <a:lstStyle/>
          <a:p>
            <a:pPr algn="l">
              <a:defRPr sz="1400" b="0">
                <a:solidFill>
                  <a:srgbClr val="E0E0E0"/>
                </a:solidFill>
                <a:latin typeface="Calibri"/>
              </a:defRPr>
            </a:pPr>
            <a:r>
              <a:t>PostgreSQL 16 + pgvector — Isolated VNET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600" b="1">
                <a:solidFill>
                  <a:srgbClr val="FFFFFF"/>
                </a:solidFill>
                <a:latin typeface="Calibri"/>
              </a:defRPr>
            </a:pPr>
            <a:r>
              <a:t>Compliance Framework Coverage</a:t>
            </a:r>
          </a:p>
        </p:txBody>
      </p:sp>
      <p:sp>
        <p:nvSpPr>
          <p:cNvPr id="3" name="Rectangle 2"/>
          <p:cNvSpPr/>
          <p:nvPr/>
        </p:nvSpPr>
        <p:spPr>
          <a:xfrm>
            <a:off x="731520" y="1097280"/>
            <a:ext cx="10515600" cy="254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463040"/>
            <a:ext cx="10515600" cy="530352"/>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08760"/>
            <a:ext cx="1371600" cy="365760"/>
          </a:xfrm>
          <a:prstGeom prst="rect">
            <a:avLst/>
          </a:prstGeom>
          <a:noFill/>
        </p:spPr>
        <p:txBody>
          <a:bodyPr wrap="square">
            <a:spAutoFit/>
          </a:bodyPr>
          <a:lstStyle/>
          <a:p>
            <a:pPr algn="l">
              <a:defRPr sz="1200" b="1">
                <a:solidFill>
                  <a:srgbClr val="007BFF"/>
                </a:solidFill>
                <a:latin typeface="Calibri"/>
              </a:defRPr>
            </a:pPr>
            <a:r>
              <a:t>Export Control Policy</a:t>
            </a:r>
          </a:p>
        </p:txBody>
      </p:sp>
      <p:sp>
        <p:nvSpPr>
          <p:cNvPr id="6" name="TextBox 5"/>
          <p:cNvSpPr txBox="1"/>
          <p:nvPr/>
        </p:nvSpPr>
        <p:spPr>
          <a:xfrm>
            <a:off x="2286000" y="1508760"/>
            <a:ext cx="2286000" cy="365760"/>
          </a:xfrm>
          <a:prstGeom prst="rect">
            <a:avLst/>
          </a:prstGeom>
          <a:noFill/>
        </p:spPr>
        <p:txBody>
          <a:bodyPr wrap="square">
            <a:spAutoFit/>
          </a:bodyPr>
          <a:lstStyle/>
          <a:p>
            <a:pPr algn="l">
              <a:defRPr sz="1200" b="1">
                <a:solidFill>
                  <a:srgbClr val="FFFFFF"/>
                </a:solidFill>
                <a:latin typeface="Calibri"/>
              </a:defRPr>
            </a:pPr>
            <a:r>
              <a:t>Global AI Policy</a:t>
            </a:r>
          </a:p>
        </p:txBody>
      </p:sp>
      <p:sp>
        <p:nvSpPr>
          <p:cNvPr id="7" name="TextBox 6"/>
          <p:cNvSpPr txBox="1"/>
          <p:nvPr/>
        </p:nvSpPr>
        <p:spPr>
          <a:xfrm>
            <a:off x="4754880" y="1508760"/>
            <a:ext cx="5029200" cy="365760"/>
          </a:xfrm>
          <a:prstGeom prst="rect">
            <a:avLst/>
          </a:prstGeom>
          <a:noFill/>
        </p:spPr>
        <p:txBody>
          <a:bodyPr wrap="square">
            <a:spAutoFit/>
          </a:bodyPr>
          <a:lstStyle/>
          <a:p>
            <a:pPr algn="l">
              <a:defRPr sz="1200" b="0">
                <a:solidFill>
                  <a:srgbClr val="E0E0E0"/>
                </a:solidFill>
                <a:latin typeface="Calibri"/>
              </a:defRPr>
            </a:pPr>
            <a:r>
              <a:t>AI Opt-Out, Data Governance, Approved Services</a:t>
            </a:r>
          </a:p>
        </p:txBody>
      </p:sp>
      <p:sp>
        <p:nvSpPr>
          <p:cNvPr id="8" name="TextBox 7"/>
          <p:cNvSpPr txBox="1"/>
          <p:nvPr/>
        </p:nvSpPr>
        <p:spPr>
          <a:xfrm>
            <a:off x="10058400" y="1508760"/>
            <a:ext cx="731520" cy="365760"/>
          </a:xfrm>
          <a:prstGeom prst="rect">
            <a:avLst/>
          </a:prstGeom>
          <a:noFill/>
        </p:spPr>
        <p:txBody>
          <a:bodyPr wrap="square">
            <a:spAutoFit/>
          </a:bodyPr>
          <a:lstStyle/>
          <a:p>
            <a:pPr algn="ctr">
              <a:defRPr sz="1400" b="0">
                <a:solidFill>
                  <a:srgbClr val="FFFFFF"/>
                </a:solidFill>
                <a:latin typeface="Calibri"/>
              </a:defRPr>
            </a:pPr>
            <a:r>
              <a:t>✅</a:t>
            </a:r>
          </a:p>
        </p:txBody>
      </p:sp>
      <p:sp>
        <p:nvSpPr>
          <p:cNvPr id="9" name="Rectangle 8"/>
          <p:cNvSpPr/>
          <p:nvPr/>
        </p:nvSpPr>
        <p:spPr>
          <a:xfrm>
            <a:off x="731520" y="2084832"/>
            <a:ext cx="10515600" cy="530352"/>
          </a:xfrm>
          <a:prstGeom prst="rect">
            <a:avLst/>
          </a:prstGeom>
          <a:solidFill>
            <a:srgbClr val="20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30552"/>
            <a:ext cx="1371600" cy="365760"/>
          </a:xfrm>
          <a:prstGeom prst="rect">
            <a:avLst/>
          </a:prstGeom>
          <a:noFill/>
        </p:spPr>
        <p:txBody>
          <a:bodyPr wrap="square">
            <a:spAutoFit/>
          </a:bodyPr>
          <a:lstStyle/>
          <a:p>
            <a:pPr algn="l">
              <a:defRPr sz="1200" b="1">
                <a:solidFill>
                  <a:srgbClr val="007BFF"/>
                </a:solidFill>
                <a:latin typeface="Calibri"/>
              </a:defRPr>
            </a:pPr>
            <a:r>
              <a:t>Data Classification Policy</a:t>
            </a:r>
          </a:p>
        </p:txBody>
      </p:sp>
      <p:sp>
        <p:nvSpPr>
          <p:cNvPr id="11" name="TextBox 10"/>
          <p:cNvSpPr txBox="1"/>
          <p:nvPr/>
        </p:nvSpPr>
        <p:spPr>
          <a:xfrm>
            <a:off x="2286000" y="2130552"/>
            <a:ext cx="2286000" cy="365760"/>
          </a:xfrm>
          <a:prstGeom prst="rect">
            <a:avLst/>
          </a:prstGeom>
          <a:noFill/>
        </p:spPr>
        <p:txBody>
          <a:bodyPr wrap="square">
            <a:spAutoFit/>
          </a:bodyPr>
          <a:lstStyle/>
          <a:p>
            <a:pPr algn="l">
              <a:defRPr sz="1200" b="1">
                <a:solidFill>
                  <a:srgbClr val="FFFFFF"/>
                </a:solidFill>
                <a:latin typeface="Calibri"/>
              </a:defRPr>
            </a:pPr>
            <a:r>
              <a:t>Information Classification</a:t>
            </a:r>
          </a:p>
        </p:txBody>
      </p:sp>
      <p:sp>
        <p:nvSpPr>
          <p:cNvPr id="12" name="TextBox 11"/>
          <p:cNvSpPr txBox="1"/>
          <p:nvPr/>
        </p:nvSpPr>
        <p:spPr>
          <a:xfrm>
            <a:off x="4754880" y="2130552"/>
            <a:ext cx="5029200" cy="365760"/>
          </a:xfrm>
          <a:prstGeom prst="rect">
            <a:avLst/>
          </a:prstGeom>
          <a:noFill/>
        </p:spPr>
        <p:txBody>
          <a:bodyPr wrap="square">
            <a:spAutoFit/>
          </a:bodyPr>
          <a:lstStyle/>
          <a:p>
            <a:pPr algn="l">
              <a:defRPr sz="1200" b="0">
                <a:solidFill>
                  <a:srgbClr val="E0E0E0"/>
                </a:solidFill>
                <a:latin typeface="Calibri"/>
              </a:defRPr>
            </a:pPr>
            <a:r>
              <a:t>Class I-IV Enforcement, Data Sovereignty</a:t>
            </a:r>
          </a:p>
        </p:txBody>
      </p:sp>
      <p:sp>
        <p:nvSpPr>
          <p:cNvPr id="13" name="TextBox 12"/>
          <p:cNvSpPr txBox="1"/>
          <p:nvPr/>
        </p:nvSpPr>
        <p:spPr>
          <a:xfrm>
            <a:off x="10058400" y="2130552"/>
            <a:ext cx="731520" cy="365760"/>
          </a:xfrm>
          <a:prstGeom prst="rect">
            <a:avLst/>
          </a:prstGeom>
          <a:noFill/>
        </p:spPr>
        <p:txBody>
          <a:bodyPr wrap="square">
            <a:spAutoFit/>
          </a:bodyPr>
          <a:lstStyle/>
          <a:p>
            <a:pPr algn="ctr">
              <a:defRPr sz="1400" b="0">
                <a:solidFill>
                  <a:srgbClr val="FFFFFF"/>
                </a:solidFill>
                <a:latin typeface="Calibri"/>
              </a:defRPr>
            </a:pPr>
            <a:r>
              <a:t>✅</a:t>
            </a:r>
          </a:p>
        </p:txBody>
      </p:sp>
      <p:sp>
        <p:nvSpPr>
          <p:cNvPr id="14" name="Rectangle 13"/>
          <p:cNvSpPr/>
          <p:nvPr/>
        </p:nvSpPr>
        <p:spPr>
          <a:xfrm>
            <a:off x="731520" y="2706624"/>
            <a:ext cx="10515600" cy="530352"/>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752344"/>
            <a:ext cx="1371600" cy="365760"/>
          </a:xfrm>
          <a:prstGeom prst="rect">
            <a:avLst/>
          </a:prstGeom>
          <a:noFill/>
        </p:spPr>
        <p:txBody>
          <a:bodyPr wrap="square">
            <a:spAutoFit/>
          </a:bodyPr>
          <a:lstStyle/>
          <a:p>
            <a:pPr algn="l">
              <a:defRPr sz="1200" b="1">
                <a:solidFill>
                  <a:srgbClr val="007BFF"/>
                </a:solidFill>
                <a:latin typeface="Calibri"/>
              </a:defRPr>
            </a:pPr>
            <a:r>
              <a:t>Confidential Information Policy</a:t>
            </a:r>
          </a:p>
        </p:txBody>
      </p:sp>
      <p:sp>
        <p:nvSpPr>
          <p:cNvPr id="16" name="TextBox 15"/>
          <p:cNvSpPr txBox="1"/>
          <p:nvPr/>
        </p:nvSpPr>
        <p:spPr>
          <a:xfrm>
            <a:off x="2286000" y="2752344"/>
            <a:ext cx="2286000" cy="365760"/>
          </a:xfrm>
          <a:prstGeom prst="rect">
            <a:avLst/>
          </a:prstGeom>
          <a:noFill/>
        </p:spPr>
        <p:txBody>
          <a:bodyPr wrap="square">
            <a:spAutoFit/>
          </a:bodyPr>
          <a:lstStyle/>
          <a:p>
            <a:pPr algn="l">
              <a:defRPr sz="1200" b="1">
                <a:solidFill>
                  <a:srgbClr val="FFFFFF"/>
                </a:solidFill>
                <a:latin typeface="Calibri"/>
              </a:defRPr>
            </a:pPr>
            <a:r>
              <a:t>Confidential Information</a:t>
            </a:r>
          </a:p>
        </p:txBody>
      </p:sp>
      <p:sp>
        <p:nvSpPr>
          <p:cNvPr id="17" name="TextBox 16"/>
          <p:cNvSpPr txBox="1"/>
          <p:nvPr/>
        </p:nvSpPr>
        <p:spPr>
          <a:xfrm>
            <a:off x="4754880" y="2752344"/>
            <a:ext cx="5029200" cy="365760"/>
          </a:xfrm>
          <a:prstGeom prst="rect">
            <a:avLst/>
          </a:prstGeom>
          <a:noFill/>
        </p:spPr>
        <p:txBody>
          <a:bodyPr wrap="square">
            <a:spAutoFit/>
          </a:bodyPr>
          <a:lstStyle/>
          <a:p>
            <a:pPr algn="l">
              <a:defRPr sz="1200" b="0">
                <a:solidFill>
                  <a:srgbClr val="E0E0E0"/>
                </a:solidFill>
                <a:latin typeface="Calibri"/>
              </a:defRPr>
            </a:pPr>
            <a:r>
              <a:t>Need-to-Know, CDA Requirements</a:t>
            </a:r>
          </a:p>
        </p:txBody>
      </p:sp>
      <p:sp>
        <p:nvSpPr>
          <p:cNvPr id="18" name="TextBox 17"/>
          <p:cNvSpPr txBox="1"/>
          <p:nvPr/>
        </p:nvSpPr>
        <p:spPr>
          <a:xfrm>
            <a:off x="10058400" y="2752344"/>
            <a:ext cx="731520" cy="365760"/>
          </a:xfrm>
          <a:prstGeom prst="rect">
            <a:avLst/>
          </a:prstGeom>
          <a:noFill/>
        </p:spPr>
        <p:txBody>
          <a:bodyPr wrap="square">
            <a:spAutoFit/>
          </a:bodyPr>
          <a:lstStyle/>
          <a:p>
            <a:pPr algn="ctr">
              <a:defRPr sz="1400" b="0">
                <a:solidFill>
                  <a:srgbClr val="FFFFFF"/>
                </a:solidFill>
                <a:latin typeface="Calibri"/>
              </a:defRPr>
            </a:pPr>
            <a:r>
              <a:t>✅</a:t>
            </a:r>
          </a:p>
        </p:txBody>
      </p:sp>
      <p:sp>
        <p:nvSpPr>
          <p:cNvPr id="19" name="Rectangle 18"/>
          <p:cNvSpPr/>
          <p:nvPr/>
        </p:nvSpPr>
        <p:spPr>
          <a:xfrm>
            <a:off x="731520" y="3328416"/>
            <a:ext cx="10515600" cy="530352"/>
          </a:xfrm>
          <a:prstGeom prst="rect">
            <a:avLst/>
          </a:prstGeom>
          <a:solidFill>
            <a:srgbClr val="20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374136"/>
            <a:ext cx="1371600" cy="365760"/>
          </a:xfrm>
          <a:prstGeom prst="rect">
            <a:avLst/>
          </a:prstGeom>
          <a:noFill/>
        </p:spPr>
        <p:txBody>
          <a:bodyPr wrap="square">
            <a:spAutoFit/>
          </a:bodyPr>
          <a:lstStyle/>
          <a:p>
            <a:pPr algn="l">
              <a:defRPr sz="1200" b="1">
                <a:solidFill>
                  <a:srgbClr val="007BFF"/>
                </a:solidFill>
                <a:latin typeface="Calibri"/>
              </a:defRPr>
            </a:pPr>
            <a:r>
              <a:t>Application Security Standard</a:t>
            </a:r>
          </a:p>
        </p:txBody>
      </p:sp>
      <p:sp>
        <p:nvSpPr>
          <p:cNvPr id="21" name="TextBox 20"/>
          <p:cNvSpPr txBox="1"/>
          <p:nvPr/>
        </p:nvSpPr>
        <p:spPr>
          <a:xfrm>
            <a:off x="2286000" y="3374136"/>
            <a:ext cx="2286000" cy="365760"/>
          </a:xfrm>
          <a:prstGeom prst="rect">
            <a:avLst/>
          </a:prstGeom>
          <a:noFill/>
        </p:spPr>
        <p:txBody>
          <a:bodyPr wrap="square">
            <a:spAutoFit/>
          </a:bodyPr>
          <a:lstStyle/>
          <a:p>
            <a:pPr algn="l">
              <a:defRPr sz="1200" b="1">
                <a:solidFill>
                  <a:srgbClr val="FFFFFF"/>
                </a:solidFill>
                <a:latin typeface="Calibri"/>
              </a:defRPr>
            </a:pPr>
            <a:r>
              <a:t>Application Security</a:t>
            </a:r>
          </a:p>
        </p:txBody>
      </p:sp>
      <p:sp>
        <p:nvSpPr>
          <p:cNvPr id="22" name="TextBox 21"/>
          <p:cNvSpPr txBox="1"/>
          <p:nvPr/>
        </p:nvSpPr>
        <p:spPr>
          <a:xfrm>
            <a:off x="4754880" y="3374136"/>
            <a:ext cx="5029200" cy="365760"/>
          </a:xfrm>
          <a:prstGeom prst="rect">
            <a:avLst/>
          </a:prstGeom>
          <a:noFill/>
        </p:spPr>
        <p:txBody>
          <a:bodyPr wrap="square">
            <a:spAutoFit/>
          </a:bodyPr>
          <a:lstStyle/>
          <a:p>
            <a:pPr algn="l">
              <a:defRPr sz="1200" b="0">
                <a:solidFill>
                  <a:srgbClr val="E0E0E0"/>
                </a:solidFill>
                <a:latin typeface="Calibri"/>
              </a:defRPr>
            </a:pPr>
            <a:r>
              <a:t>OWASP Top 10, Input Validation, TLS 1.3</a:t>
            </a:r>
          </a:p>
        </p:txBody>
      </p:sp>
      <p:sp>
        <p:nvSpPr>
          <p:cNvPr id="23" name="TextBox 22"/>
          <p:cNvSpPr txBox="1"/>
          <p:nvPr/>
        </p:nvSpPr>
        <p:spPr>
          <a:xfrm>
            <a:off x="10058400" y="3374136"/>
            <a:ext cx="731520" cy="365760"/>
          </a:xfrm>
          <a:prstGeom prst="rect">
            <a:avLst/>
          </a:prstGeom>
          <a:noFill/>
        </p:spPr>
        <p:txBody>
          <a:bodyPr wrap="square">
            <a:spAutoFit/>
          </a:bodyPr>
          <a:lstStyle/>
          <a:p>
            <a:pPr algn="ctr">
              <a:defRPr sz="1400" b="0">
                <a:solidFill>
                  <a:srgbClr val="FFFFFF"/>
                </a:solidFill>
                <a:latin typeface="Calibri"/>
              </a:defRPr>
            </a:pPr>
            <a:r>
              <a:t>✅</a:t>
            </a:r>
          </a:p>
        </p:txBody>
      </p:sp>
      <p:sp>
        <p:nvSpPr>
          <p:cNvPr id="24" name="Rectangle 23"/>
          <p:cNvSpPr/>
          <p:nvPr/>
        </p:nvSpPr>
        <p:spPr>
          <a:xfrm>
            <a:off x="731520" y="3950208"/>
            <a:ext cx="10515600" cy="530352"/>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3995928"/>
            <a:ext cx="1371600" cy="365760"/>
          </a:xfrm>
          <a:prstGeom prst="rect">
            <a:avLst/>
          </a:prstGeom>
          <a:noFill/>
        </p:spPr>
        <p:txBody>
          <a:bodyPr wrap="square">
            <a:spAutoFit/>
          </a:bodyPr>
          <a:lstStyle/>
          <a:p>
            <a:pPr algn="l">
              <a:defRPr sz="1200" b="1">
                <a:solidFill>
                  <a:srgbClr val="007BFF"/>
                </a:solidFill>
                <a:latin typeface="Calibri"/>
              </a:defRPr>
            </a:pPr>
            <a:r>
              <a:t>SOC 2 Type II</a:t>
            </a:r>
          </a:p>
        </p:txBody>
      </p:sp>
      <p:sp>
        <p:nvSpPr>
          <p:cNvPr id="26" name="TextBox 25"/>
          <p:cNvSpPr txBox="1"/>
          <p:nvPr/>
        </p:nvSpPr>
        <p:spPr>
          <a:xfrm>
            <a:off x="2286000" y="3995928"/>
            <a:ext cx="2286000" cy="365760"/>
          </a:xfrm>
          <a:prstGeom prst="rect">
            <a:avLst/>
          </a:prstGeom>
          <a:noFill/>
        </p:spPr>
        <p:txBody>
          <a:bodyPr wrap="square">
            <a:spAutoFit/>
          </a:bodyPr>
          <a:lstStyle/>
          <a:p>
            <a:pPr algn="l">
              <a:defRPr sz="1200" b="1">
                <a:solidFill>
                  <a:srgbClr val="FFFFFF"/>
                </a:solidFill>
                <a:latin typeface="Calibri"/>
              </a:defRPr>
            </a:pPr>
            <a:r>
              <a:t>Security Controls</a:t>
            </a:r>
          </a:p>
        </p:txBody>
      </p:sp>
      <p:sp>
        <p:nvSpPr>
          <p:cNvPr id="27" name="TextBox 26"/>
          <p:cNvSpPr txBox="1"/>
          <p:nvPr/>
        </p:nvSpPr>
        <p:spPr>
          <a:xfrm>
            <a:off x="4754880" y="3995928"/>
            <a:ext cx="5029200" cy="365760"/>
          </a:xfrm>
          <a:prstGeom prst="rect">
            <a:avLst/>
          </a:prstGeom>
          <a:noFill/>
        </p:spPr>
        <p:txBody>
          <a:bodyPr wrap="square">
            <a:spAutoFit/>
          </a:bodyPr>
          <a:lstStyle/>
          <a:p>
            <a:pPr algn="l">
              <a:defRPr sz="1200" b="0">
                <a:solidFill>
                  <a:srgbClr val="E0E0E0"/>
                </a:solidFill>
                <a:latin typeface="Calibri"/>
              </a:defRPr>
            </a:pPr>
            <a:r>
              <a:t>Automated Evidence Export, Audit Logs</a:t>
            </a:r>
          </a:p>
        </p:txBody>
      </p:sp>
      <p:sp>
        <p:nvSpPr>
          <p:cNvPr id="28" name="TextBox 27"/>
          <p:cNvSpPr txBox="1"/>
          <p:nvPr/>
        </p:nvSpPr>
        <p:spPr>
          <a:xfrm>
            <a:off x="10058400" y="3995928"/>
            <a:ext cx="731520" cy="365760"/>
          </a:xfrm>
          <a:prstGeom prst="rect">
            <a:avLst/>
          </a:prstGeom>
          <a:noFill/>
        </p:spPr>
        <p:txBody>
          <a:bodyPr wrap="square">
            <a:spAutoFit/>
          </a:bodyPr>
          <a:lstStyle/>
          <a:p>
            <a:pPr algn="ctr">
              <a:defRPr sz="1400" b="0">
                <a:solidFill>
                  <a:srgbClr val="FFFFFF"/>
                </a:solidFill>
                <a:latin typeface="Calibri"/>
              </a:defRPr>
            </a:pPr>
            <a:r>
              <a:t>✅</a:t>
            </a:r>
          </a:p>
        </p:txBody>
      </p:sp>
      <p:sp>
        <p:nvSpPr>
          <p:cNvPr id="29" name="Rectangle 28"/>
          <p:cNvSpPr/>
          <p:nvPr/>
        </p:nvSpPr>
        <p:spPr>
          <a:xfrm>
            <a:off x="731520" y="4572000"/>
            <a:ext cx="10515600" cy="530352"/>
          </a:xfrm>
          <a:prstGeom prst="rect">
            <a:avLst/>
          </a:prstGeom>
          <a:solidFill>
            <a:srgbClr val="20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617720"/>
            <a:ext cx="1371600" cy="365760"/>
          </a:xfrm>
          <a:prstGeom prst="rect">
            <a:avLst/>
          </a:prstGeom>
          <a:noFill/>
        </p:spPr>
        <p:txBody>
          <a:bodyPr wrap="square">
            <a:spAutoFit/>
          </a:bodyPr>
          <a:lstStyle/>
          <a:p>
            <a:pPr algn="l">
              <a:defRPr sz="1200" b="1">
                <a:solidFill>
                  <a:srgbClr val="007BFF"/>
                </a:solidFill>
                <a:latin typeface="Calibri"/>
              </a:defRPr>
            </a:pPr>
            <a:r>
              <a:t>GDPR</a:t>
            </a:r>
          </a:p>
        </p:txBody>
      </p:sp>
      <p:sp>
        <p:nvSpPr>
          <p:cNvPr id="31" name="TextBox 30"/>
          <p:cNvSpPr txBox="1"/>
          <p:nvPr/>
        </p:nvSpPr>
        <p:spPr>
          <a:xfrm>
            <a:off x="2286000" y="4617720"/>
            <a:ext cx="2286000" cy="365760"/>
          </a:xfrm>
          <a:prstGeom prst="rect">
            <a:avLst/>
          </a:prstGeom>
          <a:noFill/>
        </p:spPr>
        <p:txBody>
          <a:bodyPr wrap="square">
            <a:spAutoFit/>
          </a:bodyPr>
          <a:lstStyle/>
          <a:p>
            <a:pPr algn="l">
              <a:defRPr sz="1200" b="1">
                <a:solidFill>
                  <a:srgbClr val="FFFFFF"/>
                </a:solidFill>
                <a:latin typeface="Calibri"/>
              </a:defRPr>
            </a:pPr>
            <a:r>
              <a:t>Data Protection</a:t>
            </a:r>
          </a:p>
        </p:txBody>
      </p:sp>
      <p:sp>
        <p:nvSpPr>
          <p:cNvPr id="32" name="TextBox 31"/>
          <p:cNvSpPr txBox="1"/>
          <p:nvPr/>
        </p:nvSpPr>
        <p:spPr>
          <a:xfrm>
            <a:off x="4754880" y="4617720"/>
            <a:ext cx="5029200" cy="365760"/>
          </a:xfrm>
          <a:prstGeom prst="rect">
            <a:avLst/>
          </a:prstGeom>
          <a:noFill/>
        </p:spPr>
        <p:txBody>
          <a:bodyPr wrap="square">
            <a:spAutoFit/>
          </a:bodyPr>
          <a:lstStyle/>
          <a:p>
            <a:pPr algn="l">
              <a:defRPr sz="1200" b="0">
                <a:solidFill>
                  <a:srgbClr val="E0E0E0"/>
                </a:solidFill>
                <a:latin typeface="Calibri"/>
              </a:defRPr>
            </a:pPr>
            <a:r>
              <a:t>Data Subject Rights API (Art. 15/17/20)</a:t>
            </a:r>
          </a:p>
        </p:txBody>
      </p:sp>
      <p:sp>
        <p:nvSpPr>
          <p:cNvPr id="33" name="TextBox 32"/>
          <p:cNvSpPr txBox="1"/>
          <p:nvPr/>
        </p:nvSpPr>
        <p:spPr>
          <a:xfrm>
            <a:off x="10058400" y="4617720"/>
            <a:ext cx="731520" cy="365760"/>
          </a:xfrm>
          <a:prstGeom prst="rect">
            <a:avLst/>
          </a:prstGeom>
          <a:noFill/>
        </p:spPr>
        <p:txBody>
          <a:bodyPr wrap="square">
            <a:spAutoFit/>
          </a:bodyPr>
          <a:lstStyle/>
          <a:p>
            <a:pPr algn="ctr">
              <a:defRPr sz="1400" b="0">
                <a:solidFill>
                  <a:srgbClr val="FFFFFF"/>
                </a:solidFill>
                <a:latin typeface="Calibri"/>
              </a:defRPr>
            </a:pPr>
            <a:r>
              <a:t>✅</a:t>
            </a:r>
          </a:p>
        </p:txBody>
      </p:sp>
      <p:sp>
        <p:nvSpPr>
          <p:cNvPr id="34" name="Rectangle 33"/>
          <p:cNvSpPr/>
          <p:nvPr/>
        </p:nvSpPr>
        <p:spPr>
          <a:xfrm>
            <a:off x="731520" y="5193792"/>
            <a:ext cx="10515600" cy="530352"/>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5239512"/>
            <a:ext cx="1371600" cy="365760"/>
          </a:xfrm>
          <a:prstGeom prst="rect">
            <a:avLst/>
          </a:prstGeom>
          <a:noFill/>
        </p:spPr>
        <p:txBody>
          <a:bodyPr wrap="square">
            <a:spAutoFit/>
          </a:bodyPr>
          <a:lstStyle/>
          <a:p>
            <a:pPr algn="l">
              <a:defRPr sz="1200" b="1">
                <a:solidFill>
                  <a:srgbClr val="007BFF"/>
                </a:solidFill>
                <a:latin typeface="Calibri"/>
              </a:defRPr>
            </a:pPr>
            <a:r>
              <a:t>ISO 27001</a:t>
            </a:r>
          </a:p>
        </p:txBody>
      </p:sp>
      <p:sp>
        <p:nvSpPr>
          <p:cNvPr id="36" name="TextBox 35"/>
          <p:cNvSpPr txBox="1"/>
          <p:nvPr/>
        </p:nvSpPr>
        <p:spPr>
          <a:xfrm>
            <a:off x="2286000" y="5239512"/>
            <a:ext cx="2286000" cy="365760"/>
          </a:xfrm>
          <a:prstGeom prst="rect">
            <a:avLst/>
          </a:prstGeom>
          <a:noFill/>
        </p:spPr>
        <p:txBody>
          <a:bodyPr wrap="square">
            <a:spAutoFit/>
          </a:bodyPr>
          <a:lstStyle/>
          <a:p>
            <a:pPr algn="l">
              <a:defRPr sz="1200" b="1">
                <a:solidFill>
                  <a:srgbClr val="FFFFFF"/>
                </a:solidFill>
                <a:latin typeface="Calibri"/>
              </a:defRPr>
            </a:pPr>
            <a:r>
              <a:t>Info Security Mgmt</a:t>
            </a:r>
          </a:p>
        </p:txBody>
      </p:sp>
      <p:sp>
        <p:nvSpPr>
          <p:cNvPr id="37" name="TextBox 36"/>
          <p:cNvSpPr txBox="1"/>
          <p:nvPr/>
        </p:nvSpPr>
        <p:spPr>
          <a:xfrm>
            <a:off x="4754880" y="5239512"/>
            <a:ext cx="5029200" cy="365760"/>
          </a:xfrm>
          <a:prstGeom prst="rect">
            <a:avLst/>
          </a:prstGeom>
          <a:noFill/>
        </p:spPr>
        <p:txBody>
          <a:bodyPr wrap="square">
            <a:spAutoFit/>
          </a:bodyPr>
          <a:lstStyle/>
          <a:p>
            <a:pPr algn="l">
              <a:defRPr sz="1200" b="0">
                <a:solidFill>
                  <a:srgbClr val="E0E0E0"/>
                </a:solidFill>
                <a:latin typeface="Calibri"/>
              </a:defRPr>
            </a:pPr>
            <a:r>
              <a:t>Control Mapping + Verification Automation</a:t>
            </a:r>
          </a:p>
        </p:txBody>
      </p:sp>
      <p:sp>
        <p:nvSpPr>
          <p:cNvPr id="38" name="TextBox 37"/>
          <p:cNvSpPr txBox="1"/>
          <p:nvPr/>
        </p:nvSpPr>
        <p:spPr>
          <a:xfrm>
            <a:off x="10058400" y="5239512"/>
            <a:ext cx="731520" cy="365760"/>
          </a:xfrm>
          <a:prstGeom prst="rect">
            <a:avLst/>
          </a:prstGeom>
          <a:noFill/>
        </p:spPr>
        <p:txBody>
          <a:bodyPr wrap="square">
            <a:spAutoFit/>
          </a:bodyPr>
          <a:lstStyle/>
          <a:p>
            <a:pPr algn="ctr">
              <a:defRPr sz="1400" b="0">
                <a:solidFill>
                  <a:srgbClr val="FFFFFF"/>
                </a:solidFill>
                <a:latin typeface="Calibri"/>
              </a:defRPr>
            </a:pPr>
            <a:r>
              <a:t>✅</a:t>
            </a:r>
          </a:p>
        </p:txBody>
      </p:sp>
      <p:sp>
        <p:nvSpPr>
          <p:cNvPr id="39" name="Rectangle 38"/>
          <p:cNvSpPr/>
          <p:nvPr/>
        </p:nvSpPr>
        <p:spPr>
          <a:xfrm>
            <a:off x="731520" y="5815584"/>
            <a:ext cx="10515600" cy="530352"/>
          </a:xfrm>
          <a:prstGeom prst="rect">
            <a:avLst/>
          </a:prstGeom>
          <a:solidFill>
            <a:srgbClr val="20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5861304"/>
            <a:ext cx="1371600" cy="365760"/>
          </a:xfrm>
          <a:prstGeom prst="rect">
            <a:avLst/>
          </a:prstGeom>
          <a:noFill/>
        </p:spPr>
        <p:txBody>
          <a:bodyPr wrap="square">
            <a:spAutoFit/>
          </a:bodyPr>
          <a:lstStyle/>
          <a:p>
            <a:pPr algn="l">
              <a:defRPr sz="1200" b="1">
                <a:solidFill>
                  <a:srgbClr val="007BFF"/>
                </a:solidFill>
                <a:latin typeface="Calibri"/>
              </a:defRPr>
            </a:pPr>
            <a:r>
              <a:t>IAM Standard</a:t>
            </a:r>
          </a:p>
        </p:txBody>
      </p:sp>
      <p:sp>
        <p:nvSpPr>
          <p:cNvPr id="41" name="TextBox 40"/>
          <p:cNvSpPr txBox="1"/>
          <p:nvPr/>
        </p:nvSpPr>
        <p:spPr>
          <a:xfrm>
            <a:off x="2286000" y="5861304"/>
            <a:ext cx="2286000" cy="365760"/>
          </a:xfrm>
          <a:prstGeom prst="rect">
            <a:avLst/>
          </a:prstGeom>
          <a:noFill/>
        </p:spPr>
        <p:txBody>
          <a:bodyPr wrap="square">
            <a:spAutoFit/>
          </a:bodyPr>
          <a:lstStyle/>
          <a:p>
            <a:pPr algn="l">
              <a:defRPr sz="1200" b="1">
                <a:solidFill>
                  <a:srgbClr val="FFFFFF"/>
                </a:solidFill>
                <a:latin typeface="Calibri"/>
              </a:defRPr>
            </a:pPr>
            <a:r>
              <a:t>Access Management</a:t>
            </a:r>
          </a:p>
        </p:txBody>
      </p:sp>
      <p:sp>
        <p:nvSpPr>
          <p:cNvPr id="42" name="TextBox 41"/>
          <p:cNvSpPr txBox="1"/>
          <p:nvPr/>
        </p:nvSpPr>
        <p:spPr>
          <a:xfrm>
            <a:off x="4754880" y="5861304"/>
            <a:ext cx="5029200" cy="365760"/>
          </a:xfrm>
          <a:prstGeom prst="rect">
            <a:avLst/>
          </a:prstGeom>
          <a:noFill/>
        </p:spPr>
        <p:txBody>
          <a:bodyPr wrap="square">
            <a:spAutoFit/>
          </a:bodyPr>
          <a:lstStyle/>
          <a:p>
            <a:pPr algn="l">
              <a:defRPr sz="1200" b="0">
                <a:solidFill>
                  <a:srgbClr val="E0E0E0"/>
                </a:solidFill>
                <a:latin typeface="Calibri"/>
              </a:defRPr>
            </a:pPr>
            <a:r>
              <a:t>Azure Entra ID SSO, MFA, RBAC</a:t>
            </a:r>
          </a:p>
        </p:txBody>
      </p:sp>
      <p:sp>
        <p:nvSpPr>
          <p:cNvPr id="43" name="TextBox 42"/>
          <p:cNvSpPr txBox="1"/>
          <p:nvPr/>
        </p:nvSpPr>
        <p:spPr>
          <a:xfrm>
            <a:off x="10058400" y="5861304"/>
            <a:ext cx="731520" cy="365760"/>
          </a:xfrm>
          <a:prstGeom prst="rect">
            <a:avLst/>
          </a:prstGeom>
          <a:noFill/>
        </p:spPr>
        <p:txBody>
          <a:bodyPr wrap="square">
            <a:spAutoFit/>
          </a:bodyPr>
          <a:lstStyle/>
          <a:p>
            <a:pPr algn="ctr">
              <a:defRPr sz="1400" b="0">
                <a:solidFill>
                  <a:srgbClr val="FFFFFF"/>
                </a:solidFill>
                <a:latin typeface="Calibri"/>
              </a:defRPr>
            </a:pPr>
            <a: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914400"/>
            <a:ext cx="914400" cy="914400"/>
          </a:xfrm>
          <a:prstGeom prst="rect">
            <a:avLst/>
          </a:prstGeom>
          <a:noFill/>
        </p:spPr>
        <p:txBody>
          <a:bodyPr wrap="square">
            <a:spAutoFit/>
          </a:bodyPr>
          <a:lstStyle/>
          <a:p>
            <a:pPr algn="l">
              <a:defRPr sz="7200" b="1">
                <a:solidFill>
                  <a:srgbClr val="007BFF"/>
                </a:solidFill>
                <a:latin typeface="Calibri"/>
              </a:defRPr>
            </a:pPr>
            <a:r>
              <a:t>“</a:t>
            </a:r>
          </a:p>
        </p:txBody>
      </p:sp>
      <p:sp>
        <p:nvSpPr>
          <p:cNvPr id="3" name="TextBox 2"/>
          <p:cNvSpPr txBox="1"/>
          <p:nvPr/>
        </p:nvSpPr>
        <p:spPr>
          <a:xfrm>
            <a:off x="1371600" y="1645920"/>
            <a:ext cx="9144000" cy="3200400"/>
          </a:xfrm>
          <a:prstGeom prst="rect">
            <a:avLst/>
          </a:prstGeom>
          <a:noFill/>
        </p:spPr>
        <p:txBody>
          <a:bodyPr wrap="square">
            <a:spAutoFit/>
          </a:bodyPr>
          <a:lstStyle/>
          <a:p>
            <a:pPr algn="l">
              <a:defRPr sz="2000" b="0">
                <a:solidFill>
                  <a:srgbClr val="FFFFFF"/>
                </a:solidFill>
                <a:latin typeface="Calibri"/>
              </a:defRPr>
            </a:pPr>
            <a:r>
              <a:t>Enterprise confidential data shall never be used to enhance any non-Enterprise owned Large Language Models or used to train models that are shared with other organizations.</a:t>
            </a:r>
          </a:p>
        </p:txBody>
      </p:sp>
      <p:sp>
        <p:nvSpPr>
          <p:cNvPr id="4" name="TextBox 3"/>
          <p:cNvSpPr txBox="1"/>
          <p:nvPr/>
        </p:nvSpPr>
        <p:spPr>
          <a:xfrm>
            <a:off x="1371600" y="5029200"/>
            <a:ext cx="9144000" cy="457200"/>
          </a:xfrm>
          <a:prstGeom prst="rect">
            <a:avLst/>
          </a:prstGeom>
          <a:noFill/>
        </p:spPr>
        <p:txBody>
          <a:bodyPr wrap="square">
            <a:spAutoFit/>
          </a:bodyPr>
          <a:lstStyle/>
          <a:p>
            <a:pPr algn="l">
              <a:defRPr sz="1400" b="1">
                <a:solidFill>
                  <a:srgbClr val="00C9A7"/>
                </a:solidFill>
                <a:latin typeface="Calibri"/>
              </a:defRPr>
            </a:pPr>
            <a:r>
              <a:t>— Export Control Policy — Global AI Policy, Section 8, Page 3</a:t>
            </a:r>
          </a:p>
        </p:txBody>
      </p:sp>
      <p:sp>
        <p:nvSpPr>
          <p:cNvPr id="5" name="TextBox 4"/>
          <p:cNvSpPr txBox="1"/>
          <p:nvPr/>
        </p:nvSpPr>
        <p:spPr>
          <a:xfrm>
            <a:off x="1371600" y="5577840"/>
            <a:ext cx="9144000" cy="457200"/>
          </a:xfrm>
          <a:prstGeom prst="rect">
            <a:avLst/>
          </a:prstGeom>
          <a:noFill/>
        </p:spPr>
        <p:txBody>
          <a:bodyPr wrap="square">
            <a:spAutoFit/>
          </a:bodyPr>
          <a:lstStyle/>
          <a:p>
            <a:pPr algn="l">
              <a:defRPr sz="1300" b="0">
                <a:solidFill>
                  <a:srgbClr val="999999"/>
                </a:solidFill>
                <a:latin typeface="Calibri"/>
              </a:defRPr>
            </a:pPr>
            <a:r>
              <a:t>This AI Opt-Out requirement effectively mandates on-premise or fully controlled AI infrastructure.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914400"/>
            <a:ext cx="914400" cy="914400"/>
          </a:xfrm>
          <a:prstGeom prst="rect">
            <a:avLst/>
          </a:prstGeom>
          <a:noFill/>
        </p:spPr>
        <p:txBody>
          <a:bodyPr wrap="square">
            <a:spAutoFit/>
          </a:bodyPr>
          <a:lstStyle/>
          <a:p>
            <a:pPr algn="l">
              <a:defRPr sz="7200" b="1">
                <a:solidFill>
                  <a:srgbClr val="007BFF"/>
                </a:solidFill>
                <a:latin typeface="Calibri"/>
              </a:defRPr>
            </a:pPr>
            <a:r>
              <a:t>“</a:t>
            </a:r>
          </a:p>
        </p:txBody>
      </p:sp>
      <p:sp>
        <p:nvSpPr>
          <p:cNvPr id="3" name="TextBox 2"/>
          <p:cNvSpPr txBox="1"/>
          <p:nvPr/>
        </p:nvSpPr>
        <p:spPr>
          <a:xfrm>
            <a:off x="1371600" y="1645920"/>
            <a:ext cx="9144000" cy="3200400"/>
          </a:xfrm>
          <a:prstGeom prst="rect">
            <a:avLst/>
          </a:prstGeom>
          <a:noFill/>
        </p:spPr>
        <p:txBody>
          <a:bodyPr wrap="square">
            <a:spAutoFit/>
          </a:bodyPr>
          <a:lstStyle/>
          <a:p>
            <a:pPr algn="l">
              <a:defRPr sz="2000" b="0">
                <a:solidFill>
                  <a:srgbClr val="FFFFFF"/>
                </a:solidFill>
                <a:latin typeface="Calibri"/>
              </a:defRPr>
            </a:pPr>
            <a:r>
              <a:t>IT security controls must be in place to enforce authentication, authorization, management, and protection of AI services, including the underlying platform and Large Language Models, from cyber security attacks, vulnerabilities, or any other threats that could compromise the integrity of the service.</a:t>
            </a:r>
          </a:p>
        </p:txBody>
      </p:sp>
      <p:sp>
        <p:nvSpPr>
          <p:cNvPr id="4" name="TextBox 3"/>
          <p:cNvSpPr txBox="1"/>
          <p:nvPr/>
        </p:nvSpPr>
        <p:spPr>
          <a:xfrm>
            <a:off x="1371600" y="5029200"/>
            <a:ext cx="9144000" cy="457200"/>
          </a:xfrm>
          <a:prstGeom prst="rect">
            <a:avLst/>
          </a:prstGeom>
          <a:noFill/>
        </p:spPr>
        <p:txBody>
          <a:bodyPr wrap="square">
            <a:spAutoFit/>
          </a:bodyPr>
          <a:lstStyle/>
          <a:p>
            <a:pPr algn="l">
              <a:defRPr sz="1400" b="1">
                <a:solidFill>
                  <a:srgbClr val="00C9A7"/>
                </a:solidFill>
                <a:latin typeface="Calibri"/>
              </a:defRPr>
            </a:pPr>
            <a:r>
              <a:t>— Export Control Policy — Global AI Policy, Section 8, Page 4</a:t>
            </a:r>
          </a:p>
        </p:txBody>
      </p:sp>
      <p:sp>
        <p:nvSpPr>
          <p:cNvPr id="5" name="TextBox 4"/>
          <p:cNvSpPr txBox="1"/>
          <p:nvPr/>
        </p:nvSpPr>
        <p:spPr>
          <a:xfrm>
            <a:off x="1371600" y="5577840"/>
            <a:ext cx="9144000" cy="457200"/>
          </a:xfrm>
          <a:prstGeom prst="rect">
            <a:avLst/>
          </a:prstGeom>
          <a:noFill/>
        </p:spPr>
        <p:txBody>
          <a:bodyPr wrap="square">
            <a:spAutoFit/>
          </a:bodyPr>
          <a:lstStyle/>
          <a:p>
            <a:pPr algn="l">
              <a:defRPr sz="1300" b="0">
                <a:solidFill>
                  <a:srgbClr val="999999"/>
                </a:solidFill>
                <a:latin typeface="Calibri"/>
              </a:defRPr>
            </a:pPr>
            <a:r>
              <a:t>Full control over the AI platform and models is only achievable with on-premise deployment.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914400"/>
            <a:ext cx="914400" cy="914400"/>
          </a:xfrm>
          <a:prstGeom prst="rect">
            <a:avLst/>
          </a:prstGeom>
          <a:noFill/>
        </p:spPr>
        <p:txBody>
          <a:bodyPr wrap="square">
            <a:spAutoFit/>
          </a:bodyPr>
          <a:lstStyle/>
          <a:p>
            <a:pPr algn="l">
              <a:defRPr sz="7200" b="1">
                <a:solidFill>
                  <a:srgbClr val="007BFF"/>
                </a:solidFill>
                <a:latin typeface="Calibri"/>
              </a:defRPr>
            </a:pPr>
            <a:r>
              <a:t>“</a:t>
            </a:r>
          </a:p>
        </p:txBody>
      </p:sp>
      <p:sp>
        <p:nvSpPr>
          <p:cNvPr id="3" name="TextBox 2"/>
          <p:cNvSpPr txBox="1"/>
          <p:nvPr/>
        </p:nvSpPr>
        <p:spPr>
          <a:xfrm>
            <a:off x="1371600" y="1645920"/>
            <a:ext cx="9144000" cy="3200400"/>
          </a:xfrm>
          <a:prstGeom prst="rect">
            <a:avLst/>
          </a:prstGeom>
          <a:noFill/>
        </p:spPr>
        <p:txBody>
          <a:bodyPr wrap="square">
            <a:spAutoFit/>
          </a:bodyPr>
          <a:lstStyle/>
          <a:p>
            <a:pPr algn="l">
              <a:defRPr sz="2000" b="0">
                <a:solidFill>
                  <a:srgbClr val="FFFFFF"/>
                </a:solidFill>
                <a:latin typeface="Calibri"/>
              </a:defRPr>
            </a:pPr>
            <a:r>
              <a:t>Any system, component, infrastructure, service, interface, etc. outside the current context should be considered as insecure and therefore untrusted. Systems or sub-systems outside the bounds of a receiving component must never be trusted implicitly.</a:t>
            </a:r>
          </a:p>
        </p:txBody>
      </p:sp>
      <p:sp>
        <p:nvSpPr>
          <p:cNvPr id="4" name="TextBox 3"/>
          <p:cNvSpPr txBox="1"/>
          <p:nvPr/>
        </p:nvSpPr>
        <p:spPr>
          <a:xfrm>
            <a:off x="1371600" y="5029200"/>
            <a:ext cx="9144000" cy="457200"/>
          </a:xfrm>
          <a:prstGeom prst="rect">
            <a:avLst/>
          </a:prstGeom>
          <a:noFill/>
        </p:spPr>
        <p:txBody>
          <a:bodyPr wrap="square">
            <a:spAutoFit/>
          </a:bodyPr>
          <a:lstStyle/>
          <a:p>
            <a:pPr algn="l">
              <a:defRPr sz="1400" b="1">
                <a:solidFill>
                  <a:srgbClr val="00C9A7"/>
                </a:solidFill>
                <a:latin typeface="Calibri"/>
              </a:defRPr>
            </a:pPr>
            <a:r>
              <a:t>— Security Architectural Principles, Section IP.3, Page 9</a:t>
            </a:r>
          </a:p>
        </p:txBody>
      </p:sp>
      <p:sp>
        <p:nvSpPr>
          <p:cNvPr id="5" name="TextBox 4"/>
          <p:cNvSpPr txBox="1"/>
          <p:nvPr/>
        </p:nvSpPr>
        <p:spPr>
          <a:xfrm>
            <a:off x="1371600" y="5577840"/>
            <a:ext cx="9144000" cy="457200"/>
          </a:xfrm>
          <a:prstGeom prst="rect">
            <a:avLst/>
          </a:prstGeom>
          <a:noFill/>
        </p:spPr>
        <p:txBody>
          <a:bodyPr wrap="square">
            <a:spAutoFit/>
          </a:bodyPr>
          <a:lstStyle/>
          <a:p>
            <a:pPr algn="l">
              <a:defRPr sz="1300" b="0">
                <a:solidFill>
                  <a:srgbClr val="999999"/>
                </a:solidFill>
                <a:latin typeface="Calibri"/>
              </a:defRPr>
            </a:pPr>
            <a:r>
              <a:t>The Zero Trust principle requires that external AI services are treated as untrusted for sensitive 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600" b="1">
                <a:solidFill>
                  <a:srgbClr val="FFFFFF"/>
                </a:solidFill>
                <a:latin typeface="Calibri"/>
              </a:defRPr>
            </a:pPr>
            <a:r>
              <a:t>Security Architecture — Defense in Depth</a:t>
            </a:r>
          </a:p>
        </p:txBody>
      </p:sp>
      <p:sp>
        <p:nvSpPr>
          <p:cNvPr id="3" name="Rectangle 2"/>
          <p:cNvSpPr/>
          <p:nvPr/>
        </p:nvSpPr>
        <p:spPr>
          <a:xfrm>
            <a:off x="731520" y="1097280"/>
            <a:ext cx="10515600" cy="254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463040"/>
            <a:ext cx="5303520" cy="13716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00200"/>
            <a:ext cx="4754880" cy="457200"/>
          </a:xfrm>
          <a:prstGeom prst="rect">
            <a:avLst/>
          </a:prstGeom>
          <a:noFill/>
        </p:spPr>
        <p:txBody>
          <a:bodyPr wrap="square">
            <a:spAutoFit/>
          </a:bodyPr>
          <a:lstStyle/>
          <a:p>
            <a:pPr algn="l">
              <a:defRPr sz="1800" b="1">
                <a:solidFill>
                  <a:srgbClr val="00C9A7"/>
                </a:solidFill>
                <a:latin typeface="Calibri"/>
              </a:defRPr>
            </a:pPr>
            <a:r>
              <a:t>🔐  Authentication</a:t>
            </a:r>
          </a:p>
        </p:txBody>
      </p:sp>
      <p:sp>
        <p:nvSpPr>
          <p:cNvPr id="6" name="TextBox 5"/>
          <p:cNvSpPr txBox="1"/>
          <p:nvPr/>
        </p:nvSpPr>
        <p:spPr>
          <a:xfrm>
            <a:off x="1005840" y="2148840"/>
            <a:ext cx="4754880" cy="548640"/>
          </a:xfrm>
          <a:prstGeom prst="rect">
            <a:avLst/>
          </a:prstGeom>
          <a:noFill/>
        </p:spPr>
        <p:txBody>
          <a:bodyPr wrap="square">
            <a:spAutoFit/>
          </a:bodyPr>
          <a:lstStyle/>
          <a:p>
            <a:pPr algn="l">
              <a:defRPr sz="1400" b="0">
                <a:solidFill>
                  <a:srgbClr val="E0E0E0"/>
                </a:solidFill>
                <a:latin typeface="Calibri"/>
              </a:defRPr>
            </a:pPr>
            <a:r>
              <a:t>Azure Entra ID (SSO), JWT tokens, MFA for privileged ops</a:t>
            </a:r>
          </a:p>
        </p:txBody>
      </p:sp>
      <p:sp>
        <p:nvSpPr>
          <p:cNvPr id="7" name="Rectangle 6"/>
          <p:cNvSpPr/>
          <p:nvPr/>
        </p:nvSpPr>
        <p:spPr>
          <a:xfrm>
            <a:off x="6400800" y="1463040"/>
            <a:ext cx="5303520" cy="13716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1600200"/>
            <a:ext cx="4754880" cy="457200"/>
          </a:xfrm>
          <a:prstGeom prst="rect">
            <a:avLst/>
          </a:prstGeom>
          <a:noFill/>
        </p:spPr>
        <p:txBody>
          <a:bodyPr wrap="square">
            <a:spAutoFit/>
          </a:bodyPr>
          <a:lstStyle/>
          <a:p>
            <a:pPr algn="l">
              <a:defRPr sz="1800" b="1">
                <a:solidFill>
                  <a:srgbClr val="00C9A7"/>
                </a:solidFill>
                <a:latin typeface="Calibri"/>
              </a:defRPr>
            </a:pPr>
            <a:r>
              <a:t>🛡️  Authorization</a:t>
            </a:r>
          </a:p>
        </p:txBody>
      </p:sp>
      <p:sp>
        <p:nvSpPr>
          <p:cNvPr id="9" name="TextBox 8"/>
          <p:cNvSpPr txBox="1"/>
          <p:nvPr/>
        </p:nvSpPr>
        <p:spPr>
          <a:xfrm>
            <a:off x="6675120" y="2148840"/>
            <a:ext cx="4754880" cy="548640"/>
          </a:xfrm>
          <a:prstGeom prst="rect">
            <a:avLst/>
          </a:prstGeom>
          <a:noFill/>
        </p:spPr>
        <p:txBody>
          <a:bodyPr wrap="square">
            <a:spAutoFit/>
          </a:bodyPr>
          <a:lstStyle/>
          <a:p>
            <a:pPr algn="l">
              <a:defRPr sz="1400" b="0">
                <a:solidFill>
                  <a:srgbClr val="E0E0E0"/>
                </a:solidFill>
                <a:latin typeface="Calibri"/>
              </a:defRPr>
            </a:pPr>
            <a:r>
              <a:t>3-layer RBAC: Admin / Operator / Viewer per tenant</a:t>
            </a:r>
          </a:p>
        </p:txBody>
      </p:sp>
      <p:sp>
        <p:nvSpPr>
          <p:cNvPr id="10" name="Rectangle 9"/>
          <p:cNvSpPr/>
          <p:nvPr/>
        </p:nvSpPr>
        <p:spPr>
          <a:xfrm>
            <a:off x="731520" y="3108960"/>
            <a:ext cx="5303520" cy="13716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246120"/>
            <a:ext cx="4754880" cy="457200"/>
          </a:xfrm>
          <a:prstGeom prst="rect">
            <a:avLst/>
          </a:prstGeom>
          <a:noFill/>
        </p:spPr>
        <p:txBody>
          <a:bodyPr wrap="square">
            <a:spAutoFit/>
          </a:bodyPr>
          <a:lstStyle/>
          <a:p>
            <a:pPr algn="l">
              <a:defRPr sz="1800" b="1">
                <a:solidFill>
                  <a:srgbClr val="00C9A7"/>
                </a:solidFill>
                <a:latin typeface="Calibri"/>
              </a:defRPr>
            </a:pPr>
            <a:r>
              <a:t>🔒  Tenant Isolation</a:t>
            </a:r>
          </a:p>
        </p:txBody>
      </p:sp>
      <p:sp>
        <p:nvSpPr>
          <p:cNvPr id="12" name="TextBox 11"/>
          <p:cNvSpPr txBox="1"/>
          <p:nvPr/>
        </p:nvSpPr>
        <p:spPr>
          <a:xfrm>
            <a:off x="1005840" y="3794760"/>
            <a:ext cx="4754880" cy="548640"/>
          </a:xfrm>
          <a:prstGeom prst="rect">
            <a:avLst/>
          </a:prstGeom>
          <a:noFill/>
        </p:spPr>
        <p:txBody>
          <a:bodyPr wrap="square">
            <a:spAutoFit/>
          </a:bodyPr>
          <a:lstStyle/>
          <a:p>
            <a:pPr algn="l">
              <a:defRPr sz="1400" b="0">
                <a:solidFill>
                  <a:srgbClr val="E0E0E0"/>
                </a:solidFill>
                <a:latin typeface="Calibri"/>
              </a:defRPr>
            </a:pPr>
            <a:r>
              <a:t>Application + Session + Database (Row-Level Security)</a:t>
            </a:r>
          </a:p>
        </p:txBody>
      </p:sp>
      <p:sp>
        <p:nvSpPr>
          <p:cNvPr id="13" name="Rectangle 12"/>
          <p:cNvSpPr/>
          <p:nvPr/>
        </p:nvSpPr>
        <p:spPr>
          <a:xfrm>
            <a:off x="6400800" y="3108960"/>
            <a:ext cx="5303520" cy="13716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3246120"/>
            <a:ext cx="4754880" cy="457200"/>
          </a:xfrm>
          <a:prstGeom prst="rect">
            <a:avLst/>
          </a:prstGeom>
          <a:noFill/>
        </p:spPr>
        <p:txBody>
          <a:bodyPr wrap="square">
            <a:spAutoFit/>
          </a:bodyPr>
          <a:lstStyle/>
          <a:p>
            <a:pPr algn="l">
              <a:defRPr sz="1800" b="1">
                <a:solidFill>
                  <a:srgbClr val="00C9A7"/>
                </a:solidFill>
                <a:latin typeface="Calibri"/>
              </a:defRPr>
            </a:pPr>
            <a:r>
              <a:t>📝  Audit Trail</a:t>
            </a:r>
          </a:p>
        </p:txBody>
      </p:sp>
      <p:sp>
        <p:nvSpPr>
          <p:cNvPr id="15" name="TextBox 14"/>
          <p:cNvSpPr txBox="1"/>
          <p:nvPr/>
        </p:nvSpPr>
        <p:spPr>
          <a:xfrm>
            <a:off x="6675120" y="3794760"/>
            <a:ext cx="4754880" cy="548640"/>
          </a:xfrm>
          <a:prstGeom prst="rect">
            <a:avLst/>
          </a:prstGeom>
          <a:noFill/>
        </p:spPr>
        <p:txBody>
          <a:bodyPr wrap="square">
            <a:spAutoFit/>
          </a:bodyPr>
          <a:lstStyle/>
          <a:p>
            <a:pPr algn="l">
              <a:defRPr sz="1400" b="0">
                <a:solidFill>
                  <a:srgbClr val="E0E0E0"/>
                </a:solidFill>
                <a:latin typeface="Calibri"/>
              </a:defRPr>
            </a:pPr>
            <a:r>
              <a:t>Immutable, append-only logs — 7-year retention, SIEM-ready</a:t>
            </a:r>
          </a:p>
        </p:txBody>
      </p:sp>
      <p:sp>
        <p:nvSpPr>
          <p:cNvPr id="16" name="Rectangle 15"/>
          <p:cNvSpPr/>
          <p:nvPr/>
        </p:nvSpPr>
        <p:spPr>
          <a:xfrm>
            <a:off x="731520" y="4754880"/>
            <a:ext cx="5303520" cy="13716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892040"/>
            <a:ext cx="4754880" cy="457200"/>
          </a:xfrm>
          <a:prstGeom prst="rect">
            <a:avLst/>
          </a:prstGeom>
          <a:noFill/>
        </p:spPr>
        <p:txBody>
          <a:bodyPr wrap="square">
            <a:spAutoFit/>
          </a:bodyPr>
          <a:lstStyle/>
          <a:p>
            <a:pPr algn="l">
              <a:defRPr sz="1800" b="1">
                <a:solidFill>
                  <a:srgbClr val="00C9A7"/>
                </a:solidFill>
                <a:latin typeface="Calibri"/>
              </a:defRPr>
            </a:pPr>
            <a:r>
              <a:t>🚫  Data Classification</a:t>
            </a:r>
          </a:p>
        </p:txBody>
      </p:sp>
      <p:sp>
        <p:nvSpPr>
          <p:cNvPr id="18" name="TextBox 17"/>
          <p:cNvSpPr txBox="1"/>
          <p:nvPr/>
        </p:nvSpPr>
        <p:spPr>
          <a:xfrm>
            <a:off x="1005840" y="5440680"/>
            <a:ext cx="4754880" cy="548640"/>
          </a:xfrm>
          <a:prstGeom prst="rect">
            <a:avLst/>
          </a:prstGeom>
          <a:noFill/>
        </p:spPr>
        <p:txBody>
          <a:bodyPr wrap="square">
            <a:spAutoFit/>
          </a:bodyPr>
          <a:lstStyle/>
          <a:p>
            <a:pPr algn="l">
              <a:defRPr sz="1400" b="0">
                <a:solidFill>
                  <a:srgbClr val="E0E0E0"/>
                </a:solidFill>
                <a:latin typeface="Calibri"/>
              </a:defRPr>
            </a:pPr>
            <a:r>
              <a:t>4-tier system: Class III/IV require data owner approval</a:t>
            </a:r>
          </a:p>
        </p:txBody>
      </p:sp>
      <p:sp>
        <p:nvSpPr>
          <p:cNvPr id="19" name="Rectangle 18"/>
          <p:cNvSpPr/>
          <p:nvPr/>
        </p:nvSpPr>
        <p:spPr>
          <a:xfrm>
            <a:off x="6400800" y="4754880"/>
            <a:ext cx="5303520" cy="13716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4892040"/>
            <a:ext cx="4754880" cy="457200"/>
          </a:xfrm>
          <a:prstGeom prst="rect">
            <a:avLst/>
          </a:prstGeom>
          <a:noFill/>
        </p:spPr>
        <p:txBody>
          <a:bodyPr wrap="square">
            <a:spAutoFit/>
          </a:bodyPr>
          <a:lstStyle/>
          <a:p>
            <a:pPr algn="l">
              <a:defRPr sz="1800" b="1">
                <a:solidFill>
                  <a:srgbClr val="00C9A7"/>
                </a:solidFill>
                <a:latin typeface="Calibri"/>
              </a:defRPr>
            </a:pPr>
            <a:r>
              <a:t>🔍  Security Testing</a:t>
            </a:r>
          </a:p>
        </p:txBody>
      </p:sp>
      <p:sp>
        <p:nvSpPr>
          <p:cNvPr id="21" name="TextBox 20"/>
          <p:cNvSpPr txBox="1"/>
          <p:nvPr/>
        </p:nvSpPr>
        <p:spPr>
          <a:xfrm>
            <a:off x="6675120" y="5440680"/>
            <a:ext cx="4754880" cy="548640"/>
          </a:xfrm>
          <a:prstGeom prst="rect">
            <a:avLst/>
          </a:prstGeom>
          <a:noFill/>
        </p:spPr>
        <p:txBody>
          <a:bodyPr wrap="square">
            <a:spAutoFit/>
          </a:bodyPr>
          <a:lstStyle/>
          <a:p>
            <a:pPr algn="l">
              <a:defRPr sz="1400" b="0">
                <a:solidFill>
                  <a:srgbClr val="E0E0E0"/>
                </a:solidFill>
                <a:latin typeface="Calibri"/>
              </a:defRPr>
            </a:pPr>
            <a:r>
              <a:t>SAST (Bandit) + Dependency Audit (pip-audit) + Container Scan (Trivy) + Secret Detection (TruffleHog) in CI/CD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600" b="1">
                <a:solidFill>
                  <a:srgbClr val="FFFFFF"/>
                </a:solidFill>
                <a:latin typeface="Calibri"/>
              </a:defRPr>
            </a:pPr>
            <a:r>
              <a:t>Deployment Architecture</a:t>
            </a:r>
          </a:p>
        </p:txBody>
      </p:sp>
      <p:sp>
        <p:nvSpPr>
          <p:cNvPr id="3" name="Rectangle 2"/>
          <p:cNvSpPr/>
          <p:nvPr/>
        </p:nvSpPr>
        <p:spPr>
          <a:xfrm>
            <a:off x="731520" y="1097280"/>
            <a:ext cx="10515600" cy="254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645920"/>
            <a:ext cx="2560320" cy="32004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2560320" cy="508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20240"/>
            <a:ext cx="2560320" cy="457200"/>
          </a:xfrm>
          <a:prstGeom prst="rect">
            <a:avLst/>
          </a:prstGeom>
          <a:noFill/>
        </p:spPr>
        <p:txBody>
          <a:bodyPr wrap="square">
            <a:spAutoFit/>
          </a:bodyPr>
          <a:lstStyle/>
          <a:p>
            <a:pPr algn="ctr">
              <a:defRPr sz="1600" b="1">
                <a:solidFill>
                  <a:srgbClr val="FF6B35"/>
                </a:solidFill>
                <a:latin typeface="Calibri"/>
              </a:defRPr>
            </a:pPr>
            <a:r>
              <a:t>GPU Cluster</a:t>
            </a:r>
          </a:p>
        </p:txBody>
      </p:sp>
      <p:sp>
        <p:nvSpPr>
          <p:cNvPr id="7" name="TextBox 6"/>
          <p:cNvSpPr txBox="1"/>
          <p:nvPr/>
        </p:nvSpPr>
        <p:spPr>
          <a:xfrm>
            <a:off x="914400" y="2560320"/>
            <a:ext cx="2194560" cy="2103120"/>
          </a:xfrm>
          <a:prstGeom prst="rect">
            <a:avLst/>
          </a:prstGeom>
          <a:noFill/>
        </p:spPr>
        <p:txBody>
          <a:bodyPr wrap="square">
            <a:spAutoFit/>
          </a:bodyPr>
          <a:lstStyle/>
          <a:p>
            <a:pPr algn="ctr">
              <a:defRPr sz="1300" b="0">
                <a:solidFill>
                  <a:srgbClr val="E0E0E0"/>
                </a:solidFill>
                <a:latin typeface="Calibri"/>
              </a:defRPr>
            </a:pPr>
            <a:r>
              <a:t>vLLM on 2-4x A100/H100</a:t>
            </a:r>
            <a:br/>
            <a:br/>
            <a:r>
              <a:t>Local inference only</a:t>
            </a:r>
            <a:br/>
            <a:r>
              <a:t>No external API calls</a:t>
            </a:r>
          </a:p>
        </p:txBody>
      </p:sp>
      <p:sp>
        <p:nvSpPr>
          <p:cNvPr id="8" name="Rectangle 7"/>
          <p:cNvSpPr/>
          <p:nvPr/>
        </p:nvSpPr>
        <p:spPr>
          <a:xfrm>
            <a:off x="3657600" y="1645920"/>
            <a:ext cx="2560320" cy="32004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0" y="1645920"/>
            <a:ext cx="2560320"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1920240"/>
            <a:ext cx="2560320" cy="457200"/>
          </a:xfrm>
          <a:prstGeom prst="rect">
            <a:avLst/>
          </a:prstGeom>
          <a:noFill/>
        </p:spPr>
        <p:txBody>
          <a:bodyPr wrap="square">
            <a:spAutoFit/>
          </a:bodyPr>
          <a:lstStyle/>
          <a:p>
            <a:pPr algn="ctr">
              <a:defRPr sz="1600" b="1">
                <a:solidFill>
                  <a:srgbClr val="007BFF"/>
                </a:solidFill>
                <a:latin typeface="Calibri"/>
              </a:defRPr>
            </a:pPr>
            <a:r>
              <a:t>Application Tier</a:t>
            </a:r>
          </a:p>
        </p:txBody>
      </p:sp>
      <p:sp>
        <p:nvSpPr>
          <p:cNvPr id="11" name="TextBox 10"/>
          <p:cNvSpPr txBox="1"/>
          <p:nvPr/>
        </p:nvSpPr>
        <p:spPr>
          <a:xfrm>
            <a:off x="3840480" y="2560320"/>
            <a:ext cx="2194560" cy="2103120"/>
          </a:xfrm>
          <a:prstGeom prst="rect">
            <a:avLst/>
          </a:prstGeom>
          <a:noFill/>
        </p:spPr>
        <p:txBody>
          <a:bodyPr wrap="square">
            <a:spAutoFit/>
          </a:bodyPr>
          <a:lstStyle/>
          <a:p>
            <a:pPr algn="ctr">
              <a:defRPr sz="1300" b="0">
                <a:solidFill>
                  <a:srgbClr val="E0E0E0"/>
                </a:solidFill>
                <a:latin typeface="Calibri"/>
              </a:defRPr>
            </a:pPr>
            <a:r>
              <a:t>Kubernetes / Docker</a:t>
            </a:r>
            <a:br/>
            <a:br/>
            <a:r>
              <a:t>API + Workers + Frontend</a:t>
            </a:r>
            <a:br/>
            <a:r>
              <a:t>Horizontal scaling</a:t>
            </a:r>
          </a:p>
        </p:txBody>
      </p:sp>
      <p:sp>
        <p:nvSpPr>
          <p:cNvPr id="12" name="Rectangle 11"/>
          <p:cNvSpPr/>
          <p:nvPr/>
        </p:nvSpPr>
        <p:spPr>
          <a:xfrm>
            <a:off x="6583680" y="1645920"/>
            <a:ext cx="2560320" cy="32004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0" y="1645920"/>
            <a:ext cx="2560320" cy="508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1920240"/>
            <a:ext cx="2560320" cy="457200"/>
          </a:xfrm>
          <a:prstGeom prst="rect">
            <a:avLst/>
          </a:prstGeom>
          <a:noFill/>
        </p:spPr>
        <p:txBody>
          <a:bodyPr wrap="square">
            <a:spAutoFit/>
          </a:bodyPr>
          <a:lstStyle/>
          <a:p>
            <a:pPr algn="ctr">
              <a:defRPr sz="1600" b="1">
                <a:solidFill>
                  <a:srgbClr val="00C9A7"/>
                </a:solidFill>
                <a:latin typeface="Calibri"/>
              </a:defRPr>
            </a:pPr>
            <a:r>
              <a:t>Data Tier</a:t>
            </a:r>
          </a:p>
        </p:txBody>
      </p:sp>
      <p:sp>
        <p:nvSpPr>
          <p:cNvPr id="15" name="TextBox 14"/>
          <p:cNvSpPr txBox="1"/>
          <p:nvPr/>
        </p:nvSpPr>
        <p:spPr>
          <a:xfrm>
            <a:off x="6766560" y="2560320"/>
            <a:ext cx="2194560" cy="2103120"/>
          </a:xfrm>
          <a:prstGeom prst="rect">
            <a:avLst/>
          </a:prstGeom>
          <a:noFill/>
        </p:spPr>
        <p:txBody>
          <a:bodyPr wrap="square">
            <a:spAutoFit/>
          </a:bodyPr>
          <a:lstStyle/>
          <a:p>
            <a:pPr algn="ctr">
              <a:defRPr sz="1300" b="0">
                <a:solidFill>
                  <a:srgbClr val="E0E0E0"/>
                </a:solidFill>
                <a:latin typeface="Calibri"/>
              </a:defRPr>
            </a:pPr>
            <a:r>
              <a:t>PostgreSQL 16 + pgvector</a:t>
            </a:r>
            <a:br/>
            <a:br/>
            <a:r>
              <a:t>Isolated VNET</a:t>
            </a:r>
            <a:br/>
            <a:r>
              <a:t>No external access</a:t>
            </a:r>
          </a:p>
        </p:txBody>
      </p:sp>
      <p:sp>
        <p:nvSpPr>
          <p:cNvPr id="16" name="Rectangle 15"/>
          <p:cNvSpPr/>
          <p:nvPr/>
        </p:nvSpPr>
        <p:spPr>
          <a:xfrm>
            <a:off x="9509760" y="1645920"/>
            <a:ext cx="2560320" cy="32004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509760" y="1645920"/>
            <a:ext cx="2560320" cy="50800"/>
          </a:xfrm>
          <a:prstGeom prst="rect">
            <a:avLst/>
          </a:prstGeom>
          <a:solidFill>
            <a:srgbClr val="00C9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0" y="1920240"/>
            <a:ext cx="2560320" cy="457200"/>
          </a:xfrm>
          <a:prstGeom prst="rect">
            <a:avLst/>
          </a:prstGeom>
          <a:noFill/>
        </p:spPr>
        <p:txBody>
          <a:bodyPr wrap="square">
            <a:spAutoFit/>
          </a:bodyPr>
          <a:lstStyle/>
          <a:p>
            <a:pPr algn="ctr">
              <a:defRPr sz="1600" b="1">
                <a:solidFill>
                  <a:srgbClr val="00C953"/>
                </a:solidFill>
                <a:latin typeface="Calibri"/>
              </a:defRPr>
            </a:pPr>
            <a:r>
              <a:t>Integration</a:t>
            </a:r>
          </a:p>
        </p:txBody>
      </p:sp>
      <p:sp>
        <p:nvSpPr>
          <p:cNvPr id="19" name="TextBox 18"/>
          <p:cNvSpPr txBox="1"/>
          <p:nvPr/>
        </p:nvSpPr>
        <p:spPr>
          <a:xfrm>
            <a:off x="9692640" y="2560320"/>
            <a:ext cx="2194560" cy="2103120"/>
          </a:xfrm>
          <a:prstGeom prst="rect">
            <a:avLst/>
          </a:prstGeom>
          <a:noFill/>
        </p:spPr>
        <p:txBody>
          <a:bodyPr wrap="square">
            <a:spAutoFit/>
          </a:bodyPr>
          <a:lstStyle/>
          <a:p>
            <a:pPr algn="ctr">
              <a:defRPr sz="1300" b="0">
                <a:solidFill>
                  <a:srgbClr val="E0E0E0"/>
                </a:solidFill>
                <a:latin typeface="Calibri"/>
              </a:defRPr>
            </a:pPr>
            <a:r>
              <a:t>SAP / MES Connectors</a:t>
            </a:r>
            <a:br/>
            <a:br/>
            <a:r>
              <a:t>Read-only by default</a:t>
            </a:r>
            <a:br/>
            <a:r>
              <a:t>Write requires approval</a:t>
            </a:r>
          </a:p>
        </p:txBody>
      </p:sp>
      <p:sp>
        <p:nvSpPr>
          <p:cNvPr id="20" name="TextBox 19"/>
          <p:cNvSpPr txBox="1"/>
          <p:nvPr/>
        </p:nvSpPr>
        <p:spPr>
          <a:xfrm>
            <a:off x="731520" y="5120640"/>
            <a:ext cx="10058400" cy="365760"/>
          </a:xfrm>
          <a:prstGeom prst="rect">
            <a:avLst/>
          </a:prstGeom>
          <a:noFill/>
        </p:spPr>
        <p:txBody>
          <a:bodyPr wrap="square">
            <a:spAutoFit/>
          </a:bodyPr>
          <a:lstStyle/>
          <a:p>
            <a:pPr algn="l">
              <a:defRPr sz="1400" b="0">
                <a:solidFill>
                  <a:srgbClr val="999999"/>
                </a:solidFill>
                <a:latin typeface="Calibri"/>
              </a:defRPr>
            </a:pPr>
            <a:r>
              <a:t>Fallback Strategy:  vLLM (GPU) → Ollama (CPU) → Azure OpenAI (optional, explicit config)</a:t>
            </a:r>
          </a:p>
        </p:txBody>
      </p:sp>
      <p:sp>
        <p:nvSpPr>
          <p:cNvPr id="21" name="TextBox 20"/>
          <p:cNvSpPr txBox="1"/>
          <p:nvPr/>
        </p:nvSpPr>
        <p:spPr>
          <a:xfrm>
            <a:off x="731520" y="5577840"/>
            <a:ext cx="10058400" cy="365760"/>
          </a:xfrm>
          <a:prstGeom prst="rect">
            <a:avLst/>
          </a:prstGeom>
          <a:noFill/>
        </p:spPr>
        <p:txBody>
          <a:bodyPr wrap="square">
            <a:spAutoFit/>
          </a:bodyPr>
          <a:lstStyle/>
          <a:p>
            <a:pPr algn="l">
              <a:defRPr sz="1400" b="0">
                <a:solidFill>
                  <a:srgbClr val="00C9A7"/>
                </a:solidFill>
                <a:latin typeface="Calibri"/>
              </a:defRPr>
            </a:pPr>
            <a:r>
              <a:t>All components run within corporate network. Air-gap deployment available for maximum security.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600" b="1">
                <a:solidFill>
                  <a:srgbClr val="FFFFFF"/>
                </a:solidFill>
                <a:latin typeface="Calibri"/>
              </a:defRPr>
            </a:pPr>
            <a:r>
              <a:t>Implementation Roadmap</a:t>
            </a:r>
          </a:p>
        </p:txBody>
      </p:sp>
      <p:sp>
        <p:nvSpPr>
          <p:cNvPr id="3" name="Rectangle 2"/>
          <p:cNvSpPr/>
          <p:nvPr/>
        </p:nvSpPr>
        <p:spPr>
          <a:xfrm>
            <a:off x="731520" y="1097280"/>
            <a:ext cx="10515600" cy="254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 y="1600200"/>
            <a:ext cx="274320" cy="274320"/>
          </a:xfrm>
          <a:prstGeom prst="rect">
            <a:avLst/>
          </a:prstGeom>
          <a:solidFill>
            <a:srgbClr val="00C9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88720" y="1874520"/>
            <a:ext cx="50800" cy="548640"/>
          </a:xfrm>
          <a:prstGeom prst="rect">
            <a:avLst/>
          </a:prstGeom>
          <a:solidFill>
            <a:srgbClr val="40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0" y="1463040"/>
            <a:ext cx="1828800" cy="457200"/>
          </a:xfrm>
          <a:prstGeom prst="rect">
            <a:avLst/>
          </a:prstGeom>
          <a:noFill/>
        </p:spPr>
        <p:txBody>
          <a:bodyPr wrap="square">
            <a:spAutoFit/>
          </a:bodyPr>
          <a:lstStyle/>
          <a:p>
            <a:pPr algn="l">
              <a:defRPr sz="1600" b="1">
                <a:solidFill>
                  <a:srgbClr val="FFFFFF"/>
                </a:solidFill>
                <a:latin typeface="Calibri"/>
              </a:defRPr>
            </a:pPr>
            <a:r>
              <a:t>Phase 1-2 — Core Platform</a:t>
            </a:r>
          </a:p>
        </p:txBody>
      </p:sp>
      <p:sp>
        <p:nvSpPr>
          <p:cNvPr id="7" name="TextBox 6"/>
          <p:cNvSpPr txBox="1"/>
          <p:nvPr/>
        </p:nvSpPr>
        <p:spPr>
          <a:xfrm>
            <a:off x="3840480" y="1463040"/>
            <a:ext cx="1188720" cy="457200"/>
          </a:xfrm>
          <a:prstGeom prst="rect">
            <a:avLst/>
          </a:prstGeom>
          <a:noFill/>
        </p:spPr>
        <p:txBody>
          <a:bodyPr wrap="square">
            <a:spAutoFit/>
          </a:bodyPr>
          <a:lstStyle/>
          <a:p>
            <a:pPr algn="l">
              <a:defRPr sz="1400" b="1">
                <a:solidFill>
                  <a:srgbClr val="00C953"/>
                </a:solidFill>
                <a:latin typeface="Calibri"/>
              </a:defRPr>
            </a:pPr>
            <a:r>
              <a:t>✅ DONE</a:t>
            </a:r>
          </a:p>
        </p:txBody>
      </p:sp>
      <p:sp>
        <p:nvSpPr>
          <p:cNvPr id="8" name="TextBox 7"/>
          <p:cNvSpPr txBox="1"/>
          <p:nvPr/>
        </p:nvSpPr>
        <p:spPr>
          <a:xfrm>
            <a:off x="5303520" y="1463040"/>
            <a:ext cx="5943600" cy="457200"/>
          </a:xfrm>
          <a:prstGeom prst="rect">
            <a:avLst/>
          </a:prstGeom>
          <a:noFill/>
        </p:spPr>
        <p:txBody>
          <a:bodyPr wrap="square">
            <a:spAutoFit/>
          </a:bodyPr>
          <a:lstStyle/>
          <a:p>
            <a:pPr algn="l">
              <a:defRPr sz="1400" b="0">
                <a:solidFill>
                  <a:srgbClr val="E0E0E0"/>
                </a:solidFill>
                <a:latin typeface="Calibri"/>
              </a:defRPr>
            </a:pPr>
            <a:r>
              <a:t>Multi-tenant, Auth, Basic RAG, Agent Runtime</a:t>
            </a:r>
          </a:p>
        </p:txBody>
      </p:sp>
      <p:sp>
        <p:nvSpPr>
          <p:cNvPr id="9" name="Rectangle 8"/>
          <p:cNvSpPr/>
          <p:nvPr/>
        </p:nvSpPr>
        <p:spPr>
          <a:xfrm>
            <a:off x="1097280" y="2560320"/>
            <a:ext cx="274320" cy="274320"/>
          </a:xfrm>
          <a:prstGeom prst="rect">
            <a:avLst/>
          </a:prstGeom>
          <a:solidFill>
            <a:srgbClr val="00C9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88720" y="2834640"/>
            <a:ext cx="50800" cy="548640"/>
          </a:xfrm>
          <a:prstGeom prst="rect">
            <a:avLst/>
          </a:prstGeom>
          <a:solidFill>
            <a:srgbClr val="40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45920" y="2423160"/>
            <a:ext cx="1828800" cy="457200"/>
          </a:xfrm>
          <a:prstGeom prst="rect">
            <a:avLst/>
          </a:prstGeom>
          <a:noFill/>
        </p:spPr>
        <p:txBody>
          <a:bodyPr wrap="square">
            <a:spAutoFit/>
          </a:bodyPr>
          <a:lstStyle/>
          <a:p>
            <a:pPr algn="l">
              <a:defRPr sz="1600" b="1">
                <a:solidFill>
                  <a:srgbClr val="FFFFFF"/>
                </a:solidFill>
                <a:latin typeface="Calibri"/>
              </a:defRPr>
            </a:pPr>
            <a:r>
              <a:t>Phase 3 — Enterprise Features</a:t>
            </a:r>
          </a:p>
        </p:txBody>
      </p:sp>
      <p:sp>
        <p:nvSpPr>
          <p:cNvPr id="12" name="TextBox 11"/>
          <p:cNvSpPr txBox="1"/>
          <p:nvPr/>
        </p:nvSpPr>
        <p:spPr>
          <a:xfrm>
            <a:off x="3840480" y="2423160"/>
            <a:ext cx="1188720" cy="457200"/>
          </a:xfrm>
          <a:prstGeom prst="rect">
            <a:avLst/>
          </a:prstGeom>
          <a:noFill/>
        </p:spPr>
        <p:txBody>
          <a:bodyPr wrap="square">
            <a:spAutoFit/>
          </a:bodyPr>
          <a:lstStyle/>
          <a:p>
            <a:pPr algn="l">
              <a:defRPr sz="1400" b="1">
                <a:solidFill>
                  <a:srgbClr val="00C953"/>
                </a:solidFill>
                <a:latin typeface="Calibri"/>
              </a:defRPr>
            </a:pPr>
            <a:r>
              <a:t>✅ DONE</a:t>
            </a:r>
          </a:p>
        </p:txBody>
      </p:sp>
      <p:sp>
        <p:nvSpPr>
          <p:cNvPr id="13" name="TextBox 12"/>
          <p:cNvSpPr txBox="1"/>
          <p:nvPr/>
        </p:nvSpPr>
        <p:spPr>
          <a:xfrm>
            <a:off x="5303520" y="2423160"/>
            <a:ext cx="5943600" cy="457200"/>
          </a:xfrm>
          <a:prstGeom prst="rect">
            <a:avLst/>
          </a:prstGeom>
          <a:noFill/>
        </p:spPr>
        <p:txBody>
          <a:bodyPr wrap="square">
            <a:spAutoFit/>
          </a:bodyPr>
          <a:lstStyle/>
          <a:p>
            <a:pPr algn="l">
              <a:defRPr sz="1400" b="0">
                <a:solidFill>
                  <a:srgbClr val="E0E0E0"/>
                </a:solidFill>
                <a:latin typeface="Calibri"/>
              </a:defRPr>
            </a:pPr>
            <a:r>
              <a:t>Advanced RAG, SAP/MES, Thinking Tools, Web UI</a:t>
            </a:r>
          </a:p>
        </p:txBody>
      </p:sp>
      <p:sp>
        <p:nvSpPr>
          <p:cNvPr id="14" name="Rectangle 13"/>
          <p:cNvSpPr/>
          <p:nvPr/>
        </p:nvSpPr>
        <p:spPr>
          <a:xfrm>
            <a:off x="1097280" y="3520440"/>
            <a:ext cx="274320" cy="274320"/>
          </a:xfrm>
          <a:prstGeom prst="rect">
            <a:avLst/>
          </a:prstGeom>
          <a:solidFill>
            <a:srgbClr val="00C9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88720" y="3794760"/>
            <a:ext cx="50800" cy="548640"/>
          </a:xfrm>
          <a:prstGeom prst="rect">
            <a:avLst/>
          </a:prstGeom>
          <a:solidFill>
            <a:srgbClr val="40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45920" y="3383280"/>
            <a:ext cx="1828800" cy="457200"/>
          </a:xfrm>
          <a:prstGeom prst="rect">
            <a:avLst/>
          </a:prstGeom>
          <a:noFill/>
        </p:spPr>
        <p:txBody>
          <a:bodyPr wrap="square">
            <a:spAutoFit/>
          </a:bodyPr>
          <a:lstStyle/>
          <a:p>
            <a:pPr algn="l">
              <a:defRPr sz="1600" b="1">
                <a:solidFill>
                  <a:srgbClr val="FFFFFF"/>
                </a:solidFill>
                <a:latin typeface="Calibri"/>
              </a:defRPr>
            </a:pPr>
            <a:r>
              <a:t>Phase 4 — Production Features</a:t>
            </a:r>
          </a:p>
        </p:txBody>
      </p:sp>
      <p:sp>
        <p:nvSpPr>
          <p:cNvPr id="17" name="TextBox 16"/>
          <p:cNvSpPr txBox="1"/>
          <p:nvPr/>
        </p:nvSpPr>
        <p:spPr>
          <a:xfrm>
            <a:off x="3840480" y="3383280"/>
            <a:ext cx="1188720" cy="457200"/>
          </a:xfrm>
          <a:prstGeom prst="rect">
            <a:avLst/>
          </a:prstGeom>
          <a:noFill/>
        </p:spPr>
        <p:txBody>
          <a:bodyPr wrap="square">
            <a:spAutoFit/>
          </a:bodyPr>
          <a:lstStyle/>
          <a:p>
            <a:pPr algn="l">
              <a:defRPr sz="1400" b="1">
                <a:solidFill>
                  <a:srgbClr val="00C953"/>
                </a:solidFill>
                <a:latin typeface="Calibri"/>
              </a:defRPr>
            </a:pPr>
            <a:r>
              <a:t>✅ DONE</a:t>
            </a:r>
          </a:p>
        </p:txBody>
      </p:sp>
      <p:sp>
        <p:nvSpPr>
          <p:cNvPr id="18" name="TextBox 17"/>
          <p:cNvSpPr txBox="1"/>
          <p:nvPr/>
        </p:nvSpPr>
        <p:spPr>
          <a:xfrm>
            <a:off x="5303520" y="3383280"/>
            <a:ext cx="5943600" cy="457200"/>
          </a:xfrm>
          <a:prstGeom prst="rect">
            <a:avLst/>
          </a:prstGeom>
          <a:noFill/>
        </p:spPr>
        <p:txBody>
          <a:bodyPr wrap="square">
            <a:spAutoFit/>
          </a:bodyPr>
          <a:lstStyle/>
          <a:p>
            <a:pPr algn="l">
              <a:defRPr sz="1400" b="0">
                <a:solidFill>
                  <a:srgbClr val="E0E0E0"/>
                </a:solidFill>
                <a:latin typeface="Calibri"/>
              </a:defRPr>
            </a:pPr>
            <a:r>
              <a:t>Multi-Agent, HITL Write Ops, Compliance, Model Routing</a:t>
            </a:r>
          </a:p>
        </p:txBody>
      </p:sp>
      <p:sp>
        <p:nvSpPr>
          <p:cNvPr id="19" name="Rectangle 18"/>
          <p:cNvSpPr/>
          <p:nvPr/>
        </p:nvSpPr>
        <p:spPr>
          <a:xfrm>
            <a:off x="1097280" y="4480560"/>
            <a:ext cx="274320" cy="2743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88720" y="4754880"/>
            <a:ext cx="50800" cy="548640"/>
          </a:xfrm>
          <a:prstGeom prst="rect">
            <a:avLst/>
          </a:prstGeom>
          <a:solidFill>
            <a:srgbClr val="40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45920" y="4343400"/>
            <a:ext cx="1828800" cy="457200"/>
          </a:xfrm>
          <a:prstGeom prst="rect">
            <a:avLst/>
          </a:prstGeom>
          <a:noFill/>
        </p:spPr>
        <p:txBody>
          <a:bodyPr wrap="square">
            <a:spAutoFit/>
          </a:bodyPr>
          <a:lstStyle/>
          <a:p>
            <a:pPr algn="l">
              <a:defRPr sz="1600" b="1">
                <a:solidFill>
                  <a:srgbClr val="FFFFFF"/>
                </a:solidFill>
                <a:latin typeface="Calibri"/>
              </a:defRPr>
            </a:pPr>
            <a:r>
              <a:t>Phase 5-6 — Hardening &amp; Advanced</a:t>
            </a:r>
          </a:p>
        </p:txBody>
      </p:sp>
      <p:sp>
        <p:nvSpPr>
          <p:cNvPr id="22" name="TextBox 21"/>
          <p:cNvSpPr txBox="1"/>
          <p:nvPr/>
        </p:nvSpPr>
        <p:spPr>
          <a:xfrm>
            <a:off x="3840480" y="4343400"/>
            <a:ext cx="1188720" cy="457200"/>
          </a:xfrm>
          <a:prstGeom prst="rect">
            <a:avLst/>
          </a:prstGeom>
          <a:noFill/>
        </p:spPr>
        <p:txBody>
          <a:bodyPr wrap="square">
            <a:spAutoFit/>
          </a:bodyPr>
          <a:lstStyle/>
          <a:p>
            <a:pPr algn="l">
              <a:defRPr sz="1400" b="1">
                <a:solidFill>
                  <a:srgbClr val="007BFF"/>
                </a:solidFill>
                <a:latin typeface="Calibri"/>
              </a:defRPr>
            </a:pPr>
            <a:r>
              <a:t>✅ DONE</a:t>
            </a:r>
          </a:p>
        </p:txBody>
      </p:sp>
      <p:sp>
        <p:nvSpPr>
          <p:cNvPr id="23" name="TextBox 22"/>
          <p:cNvSpPr txBox="1"/>
          <p:nvPr/>
        </p:nvSpPr>
        <p:spPr>
          <a:xfrm>
            <a:off x="5303520" y="4343400"/>
            <a:ext cx="5943600" cy="457200"/>
          </a:xfrm>
          <a:prstGeom prst="rect">
            <a:avLst/>
          </a:prstGeom>
          <a:noFill/>
        </p:spPr>
        <p:txBody>
          <a:bodyPr wrap="square">
            <a:spAutoFit/>
          </a:bodyPr>
          <a:lstStyle/>
          <a:p>
            <a:pPr algn="l">
              <a:defRPr sz="1400" b="0">
                <a:solidFill>
                  <a:srgbClr val="E0E0E0"/>
                </a:solidFill>
                <a:latin typeface="Calibri"/>
              </a:defRPr>
            </a:pPr>
            <a:r>
              <a:t>Helm Charts, Multi-Region, Analytics, Plugin SDK</a:t>
            </a:r>
          </a:p>
        </p:txBody>
      </p:sp>
      <p:sp>
        <p:nvSpPr>
          <p:cNvPr id="24" name="Rectangle 23"/>
          <p:cNvSpPr/>
          <p:nvPr/>
        </p:nvSpPr>
        <p:spPr>
          <a:xfrm>
            <a:off x="1097280" y="5440680"/>
            <a:ext cx="274320" cy="274320"/>
          </a:xfrm>
          <a:prstGeom prst="rect">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45920" y="5303520"/>
            <a:ext cx="1828800" cy="457200"/>
          </a:xfrm>
          <a:prstGeom prst="rect">
            <a:avLst/>
          </a:prstGeom>
          <a:noFill/>
        </p:spPr>
        <p:txBody>
          <a:bodyPr wrap="square">
            <a:spAutoFit/>
          </a:bodyPr>
          <a:lstStyle/>
          <a:p>
            <a:pPr algn="l">
              <a:defRPr sz="1600" b="1">
                <a:solidFill>
                  <a:srgbClr val="FFFFFF"/>
                </a:solidFill>
                <a:latin typeface="Calibri"/>
              </a:defRPr>
            </a:pPr>
            <a:r>
              <a:t>Phase 7 — CI/CD &amp; Persistence</a:t>
            </a:r>
          </a:p>
        </p:txBody>
      </p:sp>
      <p:sp>
        <p:nvSpPr>
          <p:cNvPr id="26" name="TextBox 25"/>
          <p:cNvSpPr txBox="1"/>
          <p:nvPr/>
        </p:nvSpPr>
        <p:spPr>
          <a:xfrm>
            <a:off x="3840480" y="5303520"/>
            <a:ext cx="1188720" cy="457200"/>
          </a:xfrm>
          <a:prstGeom prst="rect">
            <a:avLst/>
          </a:prstGeom>
          <a:noFill/>
        </p:spPr>
        <p:txBody>
          <a:bodyPr wrap="square">
            <a:spAutoFit/>
          </a:bodyPr>
          <a:lstStyle/>
          <a:p>
            <a:pPr algn="l">
              <a:defRPr sz="1400" b="1">
                <a:solidFill>
                  <a:srgbClr val="999999"/>
                </a:solidFill>
                <a:latin typeface="Calibri"/>
              </a:defRPr>
            </a:pPr>
            <a:r>
              <a:t>✅ DONE</a:t>
            </a:r>
          </a:p>
        </p:txBody>
      </p:sp>
      <p:sp>
        <p:nvSpPr>
          <p:cNvPr id="27" name="TextBox 26"/>
          <p:cNvSpPr txBox="1"/>
          <p:nvPr/>
        </p:nvSpPr>
        <p:spPr>
          <a:xfrm>
            <a:off x="5303520" y="5303520"/>
            <a:ext cx="5943600" cy="457200"/>
          </a:xfrm>
          <a:prstGeom prst="rect">
            <a:avLst/>
          </a:prstGeom>
          <a:noFill/>
        </p:spPr>
        <p:txBody>
          <a:bodyPr wrap="square">
            <a:spAutoFit/>
          </a:bodyPr>
          <a:lstStyle/>
          <a:p>
            <a:pPr algn="l">
              <a:defRPr sz="1400" b="0">
                <a:solidFill>
                  <a:srgbClr val="E0E0E0"/>
                </a:solidFill>
                <a:latin typeface="Calibri"/>
              </a:defRPr>
            </a:pPr>
            <a:r>
              <a:t>CI/CD Pipeline, DB Persistence, Integration Tests, Security Scanning</a:t>
            </a:r>
          </a:p>
        </p:txBody>
      </p:sp>
      <p:sp>
        <p:nvSpPr>
          <p:cNvPr id="28" name="TextBox 27"/>
          <p:cNvSpPr txBox="1"/>
          <p:nvPr/>
        </p:nvSpPr>
        <p:spPr>
          <a:xfrm>
            <a:off x="731520" y="5852160"/>
            <a:ext cx="10058400" cy="457200"/>
          </a:xfrm>
          <a:prstGeom prst="rect">
            <a:avLst/>
          </a:prstGeom>
          <a:noFill/>
        </p:spPr>
        <p:txBody>
          <a:bodyPr wrap="square">
            <a:spAutoFit/>
          </a:bodyPr>
          <a:lstStyle/>
          <a:p>
            <a:pPr algn="l">
              <a:defRPr sz="1600" b="1">
                <a:solidFill>
                  <a:srgbClr val="00C9A7"/>
                </a:solidFill>
                <a:latin typeface="Calibri"/>
              </a:defRPr>
            </a:pPr>
            <a:r>
              <a:t>Phases 8: Grafana Monitoring, Runbook, Load Testing, Backup  |  Phase 9: MFA Validation, Escalation Notifications, Operations DB  |  Platform is 100% complete (Phases 1-9 done). Production-ready for deployment.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600" b="1">
                <a:solidFill>
                  <a:srgbClr val="FFFFFF"/>
                </a:solidFill>
                <a:latin typeface="Calibri"/>
              </a:defRPr>
            </a:pPr>
            <a:r>
              <a:t>Data Classification Enforcement</a:t>
            </a:r>
          </a:p>
        </p:txBody>
      </p:sp>
      <p:sp>
        <p:nvSpPr>
          <p:cNvPr id="3" name="Rectangle 2"/>
          <p:cNvSpPr/>
          <p:nvPr/>
        </p:nvSpPr>
        <p:spPr>
          <a:xfrm>
            <a:off x="731520" y="1097280"/>
            <a:ext cx="10515600" cy="254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554480"/>
            <a:ext cx="1371600" cy="914400"/>
          </a:xfrm>
          <a:prstGeom prst="rect">
            <a:avLst/>
          </a:prstGeom>
          <a:solidFill>
            <a:srgbClr val="00C9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371600" cy="365760"/>
          </a:xfrm>
          <a:prstGeom prst="rect">
            <a:avLst/>
          </a:prstGeom>
          <a:noFill/>
        </p:spPr>
        <p:txBody>
          <a:bodyPr wrap="square">
            <a:spAutoFit/>
          </a:bodyPr>
          <a:lstStyle/>
          <a:p>
            <a:pPr algn="ctr">
              <a:defRPr sz="1600" b="1">
                <a:solidFill>
                  <a:srgbClr val="FFFFFF"/>
                </a:solidFill>
                <a:latin typeface="Calibri"/>
              </a:defRPr>
            </a:pPr>
            <a:r>
              <a:t>Class I</a:t>
            </a:r>
          </a:p>
        </p:txBody>
      </p:sp>
      <p:sp>
        <p:nvSpPr>
          <p:cNvPr id="6" name="TextBox 5"/>
          <p:cNvSpPr txBox="1"/>
          <p:nvPr/>
        </p:nvSpPr>
        <p:spPr>
          <a:xfrm>
            <a:off x="731520" y="2011680"/>
            <a:ext cx="1371600" cy="365760"/>
          </a:xfrm>
          <a:prstGeom prst="rect">
            <a:avLst/>
          </a:prstGeom>
          <a:noFill/>
        </p:spPr>
        <p:txBody>
          <a:bodyPr wrap="square">
            <a:spAutoFit/>
          </a:bodyPr>
          <a:lstStyle/>
          <a:p>
            <a:pPr algn="ctr">
              <a:defRPr sz="1200" b="0">
                <a:solidFill>
                  <a:srgbClr val="FFFFFF"/>
                </a:solidFill>
                <a:latin typeface="Calibri"/>
              </a:defRPr>
            </a:pPr>
            <a:r>
              <a:t>Public</a:t>
            </a:r>
          </a:p>
        </p:txBody>
      </p:sp>
      <p:sp>
        <p:nvSpPr>
          <p:cNvPr id="7" name="TextBox 6"/>
          <p:cNvSpPr txBox="1"/>
          <p:nvPr/>
        </p:nvSpPr>
        <p:spPr>
          <a:xfrm>
            <a:off x="2286000" y="1645920"/>
            <a:ext cx="3657600" cy="365760"/>
          </a:xfrm>
          <a:prstGeom prst="rect">
            <a:avLst/>
          </a:prstGeom>
          <a:noFill/>
        </p:spPr>
        <p:txBody>
          <a:bodyPr wrap="square">
            <a:spAutoFit/>
          </a:bodyPr>
          <a:lstStyle/>
          <a:p>
            <a:pPr algn="l">
              <a:defRPr sz="1500" b="1">
                <a:solidFill>
                  <a:srgbClr val="FFFFFF"/>
                </a:solidFill>
                <a:latin typeface="Calibri"/>
              </a:defRPr>
            </a:pPr>
            <a:r>
              <a:t>Open access, no restrictions</a:t>
            </a:r>
          </a:p>
        </p:txBody>
      </p:sp>
      <p:sp>
        <p:nvSpPr>
          <p:cNvPr id="8" name="TextBox 7"/>
          <p:cNvSpPr txBox="1"/>
          <p:nvPr/>
        </p:nvSpPr>
        <p:spPr>
          <a:xfrm>
            <a:off x="2286000" y="2057400"/>
            <a:ext cx="3657600" cy="365760"/>
          </a:xfrm>
          <a:prstGeom prst="rect">
            <a:avLst/>
          </a:prstGeom>
          <a:noFill/>
        </p:spPr>
        <p:txBody>
          <a:bodyPr wrap="square">
            <a:spAutoFit/>
          </a:bodyPr>
          <a:lstStyle/>
          <a:p>
            <a:pPr algn="l">
              <a:defRPr sz="1100" b="0">
                <a:solidFill>
                  <a:srgbClr val="999999"/>
                </a:solidFill>
                <a:latin typeface="Calibri"/>
              </a:defRPr>
            </a:pPr>
            <a:r>
              <a:t>Ref: Data Classification Policy, Section 4.1</a:t>
            </a:r>
          </a:p>
        </p:txBody>
      </p:sp>
      <p:sp>
        <p:nvSpPr>
          <p:cNvPr id="9" name="Rectangle 8"/>
          <p:cNvSpPr/>
          <p:nvPr/>
        </p:nvSpPr>
        <p:spPr>
          <a:xfrm>
            <a:off x="6400800" y="1554480"/>
            <a:ext cx="5029200" cy="9144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645920"/>
            <a:ext cx="4663440" cy="365760"/>
          </a:xfrm>
          <a:prstGeom prst="rect">
            <a:avLst/>
          </a:prstGeom>
          <a:noFill/>
        </p:spPr>
        <p:txBody>
          <a:bodyPr wrap="square">
            <a:spAutoFit/>
          </a:bodyPr>
          <a:lstStyle/>
          <a:p>
            <a:pPr algn="l">
              <a:defRPr sz="1100" b="0">
                <a:solidFill>
                  <a:srgbClr val="999999"/>
                </a:solidFill>
                <a:latin typeface="Calibri"/>
              </a:defRPr>
            </a:pPr>
            <a:r>
              <a:t>Platform Handling:</a:t>
            </a:r>
          </a:p>
        </p:txBody>
      </p:sp>
      <p:sp>
        <p:nvSpPr>
          <p:cNvPr id="11" name="TextBox 10"/>
          <p:cNvSpPr txBox="1"/>
          <p:nvPr/>
        </p:nvSpPr>
        <p:spPr>
          <a:xfrm>
            <a:off x="6583680" y="2011680"/>
            <a:ext cx="4663440" cy="365760"/>
          </a:xfrm>
          <a:prstGeom prst="rect">
            <a:avLst/>
          </a:prstGeom>
          <a:noFill/>
        </p:spPr>
        <p:txBody>
          <a:bodyPr wrap="square">
            <a:spAutoFit/>
          </a:bodyPr>
          <a:lstStyle/>
          <a:p>
            <a:pPr algn="l">
              <a:defRPr sz="1400" b="1">
                <a:solidFill>
                  <a:srgbClr val="00C953"/>
                </a:solidFill>
                <a:latin typeface="Calibri"/>
              </a:defRPr>
            </a:pPr>
            <a:r>
              <a:t>AI processes freely</a:t>
            </a:r>
          </a:p>
        </p:txBody>
      </p:sp>
      <p:sp>
        <p:nvSpPr>
          <p:cNvPr id="12" name="Rectangle 11"/>
          <p:cNvSpPr/>
          <p:nvPr/>
        </p:nvSpPr>
        <p:spPr>
          <a:xfrm>
            <a:off x="731520" y="2743200"/>
            <a:ext cx="1371600" cy="9144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834640"/>
            <a:ext cx="1371600" cy="365760"/>
          </a:xfrm>
          <a:prstGeom prst="rect">
            <a:avLst/>
          </a:prstGeom>
          <a:noFill/>
        </p:spPr>
        <p:txBody>
          <a:bodyPr wrap="square">
            <a:spAutoFit/>
          </a:bodyPr>
          <a:lstStyle/>
          <a:p>
            <a:pPr algn="ctr">
              <a:defRPr sz="1600" b="1">
                <a:solidFill>
                  <a:srgbClr val="FFFFFF"/>
                </a:solidFill>
                <a:latin typeface="Calibri"/>
              </a:defRPr>
            </a:pPr>
            <a:r>
              <a:t>Class II</a:t>
            </a:r>
          </a:p>
        </p:txBody>
      </p:sp>
      <p:sp>
        <p:nvSpPr>
          <p:cNvPr id="14" name="TextBox 13"/>
          <p:cNvSpPr txBox="1"/>
          <p:nvPr/>
        </p:nvSpPr>
        <p:spPr>
          <a:xfrm>
            <a:off x="731520" y="3200400"/>
            <a:ext cx="1371600" cy="365760"/>
          </a:xfrm>
          <a:prstGeom prst="rect">
            <a:avLst/>
          </a:prstGeom>
          <a:noFill/>
        </p:spPr>
        <p:txBody>
          <a:bodyPr wrap="square">
            <a:spAutoFit/>
          </a:bodyPr>
          <a:lstStyle/>
          <a:p>
            <a:pPr algn="ctr">
              <a:defRPr sz="1200" b="0">
                <a:solidFill>
                  <a:srgbClr val="FFFFFF"/>
                </a:solidFill>
                <a:latin typeface="Calibri"/>
              </a:defRPr>
            </a:pPr>
            <a:r>
              <a:t>Confidential</a:t>
            </a:r>
          </a:p>
        </p:txBody>
      </p:sp>
      <p:sp>
        <p:nvSpPr>
          <p:cNvPr id="15" name="TextBox 14"/>
          <p:cNvSpPr txBox="1"/>
          <p:nvPr/>
        </p:nvSpPr>
        <p:spPr>
          <a:xfrm>
            <a:off x="2286000" y="2834640"/>
            <a:ext cx="3657600" cy="365760"/>
          </a:xfrm>
          <a:prstGeom prst="rect">
            <a:avLst/>
          </a:prstGeom>
          <a:noFill/>
        </p:spPr>
        <p:txBody>
          <a:bodyPr wrap="square">
            <a:spAutoFit/>
          </a:bodyPr>
          <a:lstStyle/>
          <a:p>
            <a:pPr algn="l">
              <a:defRPr sz="1500" b="1">
                <a:solidFill>
                  <a:srgbClr val="FFFFFF"/>
                </a:solidFill>
                <a:latin typeface="Calibri"/>
              </a:defRPr>
            </a:pPr>
            <a:r>
              <a:t>Proprietary, enhanced protection</a:t>
            </a:r>
          </a:p>
        </p:txBody>
      </p:sp>
      <p:sp>
        <p:nvSpPr>
          <p:cNvPr id="16" name="TextBox 15"/>
          <p:cNvSpPr txBox="1"/>
          <p:nvPr/>
        </p:nvSpPr>
        <p:spPr>
          <a:xfrm>
            <a:off x="2286000" y="3246120"/>
            <a:ext cx="3657600" cy="365760"/>
          </a:xfrm>
          <a:prstGeom prst="rect">
            <a:avLst/>
          </a:prstGeom>
          <a:noFill/>
        </p:spPr>
        <p:txBody>
          <a:bodyPr wrap="square">
            <a:spAutoFit/>
          </a:bodyPr>
          <a:lstStyle/>
          <a:p>
            <a:pPr algn="l">
              <a:defRPr sz="1100" b="0">
                <a:solidFill>
                  <a:srgbClr val="999999"/>
                </a:solidFill>
                <a:latin typeface="Calibri"/>
              </a:defRPr>
            </a:pPr>
            <a:r>
              <a:t>Ref: Data Classification Policy, Section 4.2</a:t>
            </a:r>
          </a:p>
        </p:txBody>
      </p:sp>
      <p:sp>
        <p:nvSpPr>
          <p:cNvPr id="17" name="Rectangle 16"/>
          <p:cNvSpPr/>
          <p:nvPr/>
        </p:nvSpPr>
        <p:spPr>
          <a:xfrm>
            <a:off x="6400800" y="2743200"/>
            <a:ext cx="5029200" cy="9144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2834640"/>
            <a:ext cx="4663440" cy="365760"/>
          </a:xfrm>
          <a:prstGeom prst="rect">
            <a:avLst/>
          </a:prstGeom>
          <a:noFill/>
        </p:spPr>
        <p:txBody>
          <a:bodyPr wrap="square">
            <a:spAutoFit/>
          </a:bodyPr>
          <a:lstStyle/>
          <a:p>
            <a:pPr algn="l">
              <a:defRPr sz="1100" b="0">
                <a:solidFill>
                  <a:srgbClr val="999999"/>
                </a:solidFill>
                <a:latin typeface="Calibri"/>
              </a:defRPr>
            </a:pPr>
            <a:r>
              <a:t>Platform Handling:</a:t>
            </a:r>
          </a:p>
        </p:txBody>
      </p:sp>
      <p:sp>
        <p:nvSpPr>
          <p:cNvPr id="19" name="TextBox 18"/>
          <p:cNvSpPr txBox="1"/>
          <p:nvPr/>
        </p:nvSpPr>
        <p:spPr>
          <a:xfrm>
            <a:off x="6583680" y="3200400"/>
            <a:ext cx="4663440" cy="365760"/>
          </a:xfrm>
          <a:prstGeom prst="rect">
            <a:avLst/>
          </a:prstGeom>
          <a:noFill/>
        </p:spPr>
        <p:txBody>
          <a:bodyPr wrap="square">
            <a:spAutoFit/>
          </a:bodyPr>
          <a:lstStyle/>
          <a:p>
            <a:pPr algn="l">
              <a:defRPr sz="1400" b="1">
                <a:solidFill>
                  <a:srgbClr val="007BFF"/>
                </a:solidFill>
                <a:latin typeface="Calibri"/>
              </a:defRPr>
            </a:pPr>
            <a:r>
              <a:t>On-prem AI only, audit logged</a:t>
            </a:r>
          </a:p>
        </p:txBody>
      </p:sp>
      <p:sp>
        <p:nvSpPr>
          <p:cNvPr id="20" name="Rectangle 19"/>
          <p:cNvSpPr/>
          <p:nvPr/>
        </p:nvSpPr>
        <p:spPr>
          <a:xfrm>
            <a:off x="731520" y="3931920"/>
            <a:ext cx="1371600" cy="9144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023360"/>
            <a:ext cx="1371600" cy="365760"/>
          </a:xfrm>
          <a:prstGeom prst="rect">
            <a:avLst/>
          </a:prstGeom>
          <a:noFill/>
        </p:spPr>
        <p:txBody>
          <a:bodyPr wrap="square">
            <a:spAutoFit/>
          </a:bodyPr>
          <a:lstStyle/>
          <a:p>
            <a:pPr algn="ctr">
              <a:defRPr sz="1600" b="1">
                <a:solidFill>
                  <a:srgbClr val="FFFFFF"/>
                </a:solidFill>
                <a:latin typeface="Calibri"/>
              </a:defRPr>
            </a:pPr>
            <a:r>
              <a:t>Class III</a:t>
            </a:r>
          </a:p>
        </p:txBody>
      </p:sp>
      <p:sp>
        <p:nvSpPr>
          <p:cNvPr id="22" name="TextBox 21"/>
          <p:cNvSpPr txBox="1"/>
          <p:nvPr/>
        </p:nvSpPr>
        <p:spPr>
          <a:xfrm>
            <a:off x="731520" y="4389120"/>
            <a:ext cx="1371600" cy="365760"/>
          </a:xfrm>
          <a:prstGeom prst="rect">
            <a:avLst/>
          </a:prstGeom>
          <a:noFill/>
        </p:spPr>
        <p:txBody>
          <a:bodyPr wrap="square">
            <a:spAutoFit/>
          </a:bodyPr>
          <a:lstStyle/>
          <a:p>
            <a:pPr algn="ctr">
              <a:defRPr sz="1200" b="0">
                <a:solidFill>
                  <a:srgbClr val="FFFFFF"/>
                </a:solidFill>
                <a:latin typeface="Calibri"/>
              </a:defRPr>
            </a:pPr>
            <a:r>
              <a:t>Critical</a:t>
            </a:r>
          </a:p>
        </p:txBody>
      </p:sp>
      <p:sp>
        <p:nvSpPr>
          <p:cNvPr id="23" name="TextBox 22"/>
          <p:cNvSpPr txBox="1"/>
          <p:nvPr/>
        </p:nvSpPr>
        <p:spPr>
          <a:xfrm>
            <a:off x="2286000" y="4023360"/>
            <a:ext cx="3657600" cy="365760"/>
          </a:xfrm>
          <a:prstGeom prst="rect">
            <a:avLst/>
          </a:prstGeom>
          <a:noFill/>
        </p:spPr>
        <p:txBody>
          <a:bodyPr wrap="square">
            <a:spAutoFit/>
          </a:bodyPr>
          <a:lstStyle/>
          <a:p>
            <a:pPr algn="l">
              <a:defRPr sz="1500" b="1">
                <a:solidFill>
                  <a:srgbClr val="FFFFFF"/>
                </a:solidFill>
                <a:latin typeface="Calibri"/>
              </a:defRPr>
            </a:pPr>
            <a:r>
              <a:t>Need-to-know, highest sensitivity</a:t>
            </a:r>
          </a:p>
        </p:txBody>
      </p:sp>
      <p:sp>
        <p:nvSpPr>
          <p:cNvPr id="24" name="TextBox 23"/>
          <p:cNvSpPr txBox="1"/>
          <p:nvPr/>
        </p:nvSpPr>
        <p:spPr>
          <a:xfrm>
            <a:off x="2286000" y="4434840"/>
            <a:ext cx="3657600" cy="365760"/>
          </a:xfrm>
          <a:prstGeom prst="rect">
            <a:avLst/>
          </a:prstGeom>
          <a:noFill/>
        </p:spPr>
        <p:txBody>
          <a:bodyPr wrap="square">
            <a:spAutoFit/>
          </a:bodyPr>
          <a:lstStyle/>
          <a:p>
            <a:pPr algn="l">
              <a:defRPr sz="1100" b="0">
                <a:solidFill>
                  <a:srgbClr val="999999"/>
                </a:solidFill>
                <a:latin typeface="Calibri"/>
              </a:defRPr>
            </a:pPr>
            <a:r>
              <a:t>Ref: Data Classification Policy, Section 4.3</a:t>
            </a:r>
          </a:p>
        </p:txBody>
      </p:sp>
      <p:sp>
        <p:nvSpPr>
          <p:cNvPr id="25" name="Rectangle 24"/>
          <p:cNvSpPr/>
          <p:nvPr/>
        </p:nvSpPr>
        <p:spPr>
          <a:xfrm>
            <a:off x="6400800" y="3931920"/>
            <a:ext cx="5029200" cy="9144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4023360"/>
            <a:ext cx="4663440" cy="365760"/>
          </a:xfrm>
          <a:prstGeom prst="rect">
            <a:avLst/>
          </a:prstGeom>
          <a:noFill/>
        </p:spPr>
        <p:txBody>
          <a:bodyPr wrap="square">
            <a:spAutoFit/>
          </a:bodyPr>
          <a:lstStyle/>
          <a:p>
            <a:pPr algn="l">
              <a:defRPr sz="1100" b="0">
                <a:solidFill>
                  <a:srgbClr val="999999"/>
                </a:solidFill>
                <a:latin typeface="Calibri"/>
              </a:defRPr>
            </a:pPr>
            <a:r>
              <a:t>Platform Handling:</a:t>
            </a:r>
          </a:p>
        </p:txBody>
      </p:sp>
      <p:sp>
        <p:nvSpPr>
          <p:cNvPr id="27" name="TextBox 26"/>
          <p:cNvSpPr txBox="1"/>
          <p:nvPr/>
        </p:nvSpPr>
        <p:spPr>
          <a:xfrm>
            <a:off x="6583680" y="4389120"/>
            <a:ext cx="4663440" cy="365760"/>
          </a:xfrm>
          <a:prstGeom prst="rect">
            <a:avLst/>
          </a:prstGeom>
          <a:noFill/>
        </p:spPr>
        <p:txBody>
          <a:bodyPr wrap="square">
            <a:spAutoFit/>
          </a:bodyPr>
          <a:lstStyle/>
          <a:p>
            <a:pPr algn="l">
              <a:defRPr sz="1400" b="1">
                <a:solidFill>
                  <a:srgbClr val="FF6B35"/>
                </a:solidFill>
                <a:latin typeface="Calibri"/>
              </a:defRPr>
            </a:pPr>
            <a:r>
              <a:t>On-prem AI + data owner approval</a:t>
            </a:r>
          </a:p>
        </p:txBody>
      </p:sp>
      <p:sp>
        <p:nvSpPr>
          <p:cNvPr id="28" name="Rectangle 27"/>
          <p:cNvSpPr/>
          <p:nvPr/>
        </p:nvSpPr>
        <p:spPr>
          <a:xfrm>
            <a:off x="731520" y="5120640"/>
            <a:ext cx="1371600" cy="914400"/>
          </a:xfrm>
          <a:prstGeom prst="rect">
            <a:avLst/>
          </a:prstGeom>
          <a:solidFill>
            <a:srgbClr val="FF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5212080"/>
            <a:ext cx="1371600" cy="365760"/>
          </a:xfrm>
          <a:prstGeom prst="rect">
            <a:avLst/>
          </a:prstGeom>
          <a:noFill/>
        </p:spPr>
        <p:txBody>
          <a:bodyPr wrap="square">
            <a:spAutoFit/>
          </a:bodyPr>
          <a:lstStyle/>
          <a:p>
            <a:pPr algn="ctr">
              <a:defRPr sz="1600" b="1">
                <a:solidFill>
                  <a:srgbClr val="FFFFFF"/>
                </a:solidFill>
                <a:latin typeface="Calibri"/>
              </a:defRPr>
            </a:pPr>
            <a:r>
              <a:t>Class IV</a:t>
            </a:r>
          </a:p>
        </p:txBody>
      </p:sp>
      <p:sp>
        <p:nvSpPr>
          <p:cNvPr id="30" name="TextBox 29"/>
          <p:cNvSpPr txBox="1"/>
          <p:nvPr/>
        </p:nvSpPr>
        <p:spPr>
          <a:xfrm>
            <a:off x="731520" y="5577840"/>
            <a:ext cx="1371600" cy="365760"/>
          </a:xfrm>
          <a:prstGeom prst="rect">
            <a:avLst/>
          </a:prstGeom>
          <a:noFill/>
        </p:spPr>
        <p:txBody>
          <a:bodyPr wrap="square">
            <a:spAutoFit/>
          </a:bodyPr>
          <a:lstStyle/>
          <a:p>
            <a:pPr algn="ctr">
              <a:defRPr sz="1200" b="0">
                <a:solidFill>
                  <a:srgbClr val="FFFFFF"/>
                </a:solidFill>
                <a:latin typeface="Calibri"/>
              </a:defRPr>
            </a:pPr>
            <a:r>
              <a:t>Restricted</a:t>
            </a:r>
          </a:p>
        </p:txBody>
      </p:sp>
      <p:sp>
        <p:nvSpPr>
          <p:cNvPr id="31" name="TextBox 30"/>
          <p:cNvSpPr txBox="1"/>
          <p:nvPr/>
        </p:nvSpPr>
        <p:spPr>
          <a:xfrm>
            <a:off x="2286000" y="5212080"/>
            <a:ext cx="3657600" cy="365760"/>
          </a:xfrm>
          <a:prstGeom prst="rect">
            <a:avLst/>
          </a:prstGeom>
          <a:noFill/>
        </p:spPr>
        <p:txBody>
          <a:bodyPr wrap="square">
            <a:spAutoFit/>
          </a:bodyPr>
          <a:lstStyle/>
          <a:p>
            <a:pPr algn="l">
              <a:defRPr sz="1500" b="1">
                <a:solidFill>
                  <a:srgbClr val="FFFFFF"/>
                </a:solidFill>
                <a:latin typeface="Calibri"/>
              </a:defRPr>
            </a:pPr>
            <a:r>
              <a:t>Legal/export-controlled (CUI, ITAR)</a:t>
            </a:r>
          </a:p>
        </p:txBody>
      </p:sp>
      <p:sp>
        <p:nvSpPr>
          <p:cNvPr id="32" name="TextBox 31"/>
          <p:cNvSpPr txBox="1"/>
          <p:nvPr/>
        </p:nvSpPr>
        <p:spPr>
          <a:xfrm>
            <a:off x="2286000" y="5623560"/>
            <a:ext cx="3657600" cy="365760"/>
          </a:xfrm>
          <a:prstGeom prst="rect">
            <a:avLst/>
          </a:prstGeom>
          <a:noFill/>
        </p:spPr>
        <p:txBody>
          <a:bodyPr wrap="square">
            <a:spAutoFit/>
          </a:bodyPr>
          <a:lstStyle/>
          <a:p>
            <a:pPr algn="l">
              <a:defRPr sz="1100" b="0">
                <a:solidFill>
                  <a:srgbClr val="999999"/>
                </a:solidFill>
                <a:latin typeface="Calibri"/>
              </a:defRPr>
            </a:pPr>
            <a:r>
              <a:t>Ref: Data Classification Policy, Section 4.4</a:t>
            </a:r>
          </a:p>
        </p:txBody>
      </p:sp>
      <p:sp>
        <p:nvSpPr>
          <p:cNvPr id="33" name="Rectangle 32"/>
          <p:cNvSpPr/>
          <p:nvPr/>
        </p:nvSpPr>
        <p:spPr>
          <a:xfrm>
            <a:off x="6400800" y="5120640"/>
            <a:ext cx="5029200" cy="914400"/>
          </a:xfrm>
          <a:prstGeom prst="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0" y="5212080"/>
            <a:ext cx="4663440" cy="365760"/>
          </a:xfrm>
          <a:prstGeom prst="rect">
            <a:avLst/>
          </a:prstGeom>
          <a:noFill/>
        </p:spPr>
        <p:txBody>
          <a:bodyPr wrap="square">
            <a:spAutoFit/>
          </a:bodyPr>
          <a:lstStyle/>
          <a:p>
            <a:pPr algn="l">
              <a:defRPr sz="1100" b="0">
                <a:solidFill>
                  <a:srgbClr val="999999"/>
                </a:solidFill>
                <a:latin typeface="Calibri"/>
              </a:defRPr>
            </a:pPr>
            <a:r>
              <a:t>Platform Handling:</a:t>
            </a:r>
          </a:p>
        </p:txBody>
      </p:sp>
      <p:sp>
        <p:nvSpPr>
          <p:cNvPr id="35" name="TextBox 34"/>
          <p:cNvSpPr txBox="1"/>
          <p:nvPr/>
        </p:nvSpPr>
        <p:spPr>
          <a:xfrm>
            <a:off x="6583680" y="5577840"/>
            <a:ext cx="4663440" cy="365760"/>
          </a:xfrm>
          <a:prstGeom prst="rect">
            <a:avLst/>
          </a:prstGeom>
          <a:noFill/>
        </p:spPr>
        <p:txBody>
          <a:bodyPr wrap="square">
            <a:spAutoFit/>
          </a:bodyPr>
          <a:lstStyle/>
          <a:p>
            <a:pPr algn="l">
              <a:defRPr sz="1400" b="1">
                <a:solidFill>
                  <a:srgbClr val="FF4545"/>
                </a:solidFill>
                <a:latin typeface="Calibri"/>
              </a:defRPr>
            </a:pPr>
            <a:r>
              <a:t>On-prem AI + approval + PII sanitization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600" b="1">
                <a:solidFill>
                  <a:srgbClr val="FFFFFF"/>
                </a:solidFill>
                <a:latin typeface="Calibri"/>
              </a:defRPr>
            </a:pPr>
            <a:r>
              <a:t>Recommended Next Steps</a:t>
            </a:r>
          </a:p>
        </p:txBody>
      </p:sp>
      <p:sp>
        <p:nvSpPr>
          <p:cNvPr id="3" name="Rectangle 2"/>
          <p:cNvSpPr/>
          <p:nvPr/>
        </p:nvSpPr>
        <p:spPr>
          <a:xfrm>
            <a:off x="731520" y="1097280"/>
            <a:ext cx="10515600" cy="254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1554480"/>
            <a:ext cx="548640" cy="54864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548640" cy="457200"/>
          </a:xfrm>
          <a:prstGeom prst="rect">
            <a:avLst/>
          </a:prstGeom>
          <a:noFill/>
        </p:spPr>
        <p:txBody>
          <a:bodyPr wrap="square">
            <a:spAutoFit/>
          </a:bodyPr>
          <a:lstStyle/>
          <a:p>
            <a:pPr algn="ctr">
              <a:defRPr sz="2200" b="1">
                <a:solidFill>
                  <a:srgbClr val="FFFFFF"/>
                </a:solidFill>
                <a:latin typeface="Calibri"/>
              </a:defRPr>
            </a:pPr>
            <a:r>
              <a:t>1</a:t>
            </a:r>
          </a:p>
        </p:txBody>
      </p:sp>
      <p:sp>
        <p:nvSpPr>
          <p:cNvPr id="6" name="TextBox 5"/>
          <p:cNvSpPr txBox="1"/>
          <p:nvPr/>
        </p:nvSpPr>
        <p:spPr>
          <a:xfrm>
            <a:off x="1737360" y="1554480"/>
            <a:ext cx="8229600" cy="365760"/>
          </a:xfrm>
          <a:prstGeom prst="rect">
            <a:avLst/>
          </a:prstGeom>
          <a:noFill/>
        </p:spPr>
        <p:txBody>
          <a:bodyPr wrap="square">
            <a:spAutoFit/>
          </a:bodyPr>
          <a:lstStyle/>
          <a:p>
            <a:pPr algn="l">
              <a:defRPr sz="2000" b="1">
                <a:solidFill>
                  <a:srgbClr val="FFFFFF"/>
                </a:solidFill>
                <a:latin typeface="Calibri"/>
              </a:defRPr>
            </a:pPr>
            <a:r>
              <a:t>Approve GPU Procurement</a:t>
            </a:r>
          </a:p>
        </p:txBody>
      </p:sp>
      <p:sp>
        <p:nvSpPr>
          <p:cNvPr id="7" name="TextBox 6"/>
          <p:cNvSpPr txBox="1"/>
          <p:nvPr/>
        </p:nvSpPr>
        <p:spPr>
          <a:xfrm>
            <a:off x="1737360" y="2011680"/>
            <a:ext cx="8229600" cy="365760"/>
          </a:xfrm>
          <a:prstGeom prst="rect">
            <a:avLst/>
          </a:prstGeom>
          <a:noFill/>
        </p:spPr>
        <p:txBody>
          <a:bodyPr wrap="square">
            <a:spAutoFit/>
          </a:bodyPr>
          <a:lstStyle/>
          <a:p>
            <a:pPr algn="l">
              <a:defRPr sz="1400" b="0">
                <a:solidFill>
                  <a:srgbClr val="E0E0E0"/>
                </a:solidFill>
                <a:latin typeface="Calibri"/>
              </a:defRPr>
            </a:pPr>
            <a:r>
              <a:t>2-4x NVIDIA A100 or H100 GPUs for the on-premise cluster</a:t>
            </a:r>
          </a:p>
        </p:txBody>
      </p:sp>
      <p:sp>
        <p:nvSpPr>
          <p:cNvPr id="8" name="Rectangle 7"/>
          <p:cNvSpPr/>
          <p:nvPr/>
        </p:nvSpPr>
        <p:spPr>
          <a:xfrm>
            <a:off x="914400" y="2514600"/>
            <a:ext cx="548640" cy="54864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60320"/>
            <a:ext cx="548640" cy="457200"/>
          </a:xfrm>
          <a:prstGeom prst="rect">
            <a:avLst/>
          </a:prstGeom>
          <a:noFill/>
        </p:spPr>
        <p:txBody>
          <a:bodyPr wrap="square">
            <a:spAutoFit/>
          </a:bodyPr>
          <a:lstStyle/>
          <a:p>
            <a:pPr algn="ctr">
              <a:defRPr sz="2200" b="1">
                <a:solidFill>
                  <a:srgbClr val="FFFFFF"/>
                </a:solidFill>
                <a:latin typeface="Calibri"/>
              </a:defRPr>
            </a:pPr>
            <a:r>
              <a:t>2</a:t>
            </a:r>
          </a:p>
        </p:txBody>
      </p:sp>
      <p:sp>
        <p:nvSpPr>
          <p:cNvPr id="10" name="TextBox 9"/>
          <p:cNvSpPr txBox="1"/>
          <p:nvPr/>
        </p:nvSpPr>
        <p:spPr>
          <a:xfrm>
            <a:off x="1737360" y="2514600"/>
            <a:ext cx="8229600" cy="365760"/>
          </a:xfrm>
          <a:prstGeom prst="rect">
            <a:avLst/>
          </a:prstGeom>
          <a:noFill/>
        </p:spPr>
        <p:txBody>
          <a:bodyPr wrap="square">
            <a:spAutoFit/>
          </a:bodyPr>
          <a:lstStyle/>
          <a:p>
            <a:pPr algn="l">
              <a:defRPr sz="2000" b="1">
                <a:solidFill>
                  <a:srgbClr val="FFFFFF"/>
                </a:solidFill>
                <a:latin typeface="Calibri"/>
              </a:defRPr>
            </a:pPr>
            <a:r>
              <a:t>Security Review &amp; Penetration Test</a:t>
            </a:r>
          </a:p>
        </p:txBody>
      </p:sp>
      <p:sp>
        <p:nvSpPr>
          <p:cNvPr id="11" name="TextBox 10"/>
          <p:cNvSpPr txBox="1"/>
          <p:nvPr/>
        </p:nvSpPr>
        <p:spPr>
          <a:xfrm>
            <a:off x="1737360" y="2971800"/>
            <a:ext cx="8229600" cy="365760"/>
          </a:xfrm>
          <a:prstGeom prst="rect">
            <a:avLst/>
          </a:prstGeom>
          <a:noFill/>
        </p:spPr>
        <p:txBody>
          <a:bodyPr wrap="square">
            <a:spAutoFit/>
          </a:bodyPr>
          <a:lstStyle/>
          <a:p>
            <a:pPr algn="l">
              <a:defRPr sz="1400" b="0">
                <a:solidFill>
                  <a:srgbClr val="E0E0E0"/>
                </a:solidFill>
                <a:latin typeface="Calibri"/>
              </a:defRPr>
            </a:pPr>
            <a:r>
              <a:t>Independent assessment (platform includes built-in SAST, dependency audit, container scanning)</a:t>
            </a:r>
          </a:p>
        </p:txBody>
      </p:sp>
      <p:sp>
        <p:nvSpPr>
          <p:cNvPr id="12" name="Rectangle 11"/>
          <p:cNvSpPr/>
          <p:nvPr/>
        </p:nvSpPr>
        <p:spPr>
          <a:xfrm>
            <a:off x="914400" y="3474720"/>
            <a:ext cx="548640" cy="548640"/>
          </a:xfrm>
          <a:prstGeom prst="rect">
            <a:avLst/>
          </a:prstGeom>
          <a:solidFill>
            <a:srgbClr val="00C9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520440"/>
            <a:ext cx="548640" cy="457200"/>
          </a:xfrm>
          <a:prstGeom prst="rect">
            <a:avLst/>
          </a:prstGeom>
          <a:noFill/>
        </p:spPr>
        <p:txBody>
          <a:bodyPr wrap="square">
            <a:spAutoFit/>
          </a:bodyPr>
          <a:lstStyle/>
          <a:p>
            <a:pPr algn="ctr">
              <a:defRPr sz="2200" b="1">
                <a:solidFill>
                  <a:srgbClr val="FFFFFF"/>
                </a:solidFill>
                <a:latin typeface="Calibri"/>
              </a:defRPr>
            </a:pPr>
            <a:r>
              <a:t>3</a:t>
            </a:r>
          </a:p>
        </p:txBody>
      </p:sp>
      <p:sp>
        <p:nvSpPr>
          <p:cNvPr id="14" name="TextBox 13"/>
          <p:cNvSpPr txBox="1"/>
          <p:nvPr/>
        </p:nvSpPr>
        <p:spPr>
          <a:xfrm>
            <a:off x="1737360" y="3474720"/>
            <a:ext cx="8229600" cy="365760"/>
          </a:xfrm>
          <a:prstGeom prst="rect">
            <a:avLst/>
          </a:prstGeom>
          <a:noFill/>
        </p:spPr>
        <p:txBody>
          <a:bodyPr wrap="square">
            <a:spAutoFit/>
          </a:bodyPr>
          <a:lstStyle/>
          <a:p>
            <a:pPr algn="l">
              <a:defRPr sz="2000" b="1">
                <a:solidFill>
                  <a:srgbClr val="FFFFFF"/>
                </a:solidFill>
                <a:latin typeface="Calibri"/>
              </a:defRPr>
            </a:pPr>
            <a:r>
              <a:t>Pilot Deployment</a:t>
            </a:r>
          </a:p>
        </p:txBody>
      </p:sp>
      <p:sp>
        <p:nvSpPr>
          <p:cNvPr id="15" name="TextBox 14"/>
          <p:cNvSpPr txBox="1"/>
          <p:nvPr/>
        </p:nvSpPr>
        <p:spPr>
          <a:xfrm>
            <a:off x="1737360" y="3931920"/>
            <a:ext cx="8229600" cy="365760"/>
          </a:xfrm>
          <a:prstGeom prst="rect">
            <a:avLst/>
          </a:prstGeom>
          <a:noFill/>
        </p:spPr>
        <p:txBody>
          <a:bodyPr wrap="square">
            <a:spAutoFit/>
          </a:bodyPr>
          <a:lstStyle/>
          <a:p>
            <a:pPr algn="l">
              <a:defRPr sz="1400" b="0">
                <a:solidFill>
                  <a:srgbClr val="E0E0E0"/>
                </a:solidFill>
                <a:latin typeface="Calibri"/>
              </a:defRPr>
            </a:pPr>
            <a:r>
              <a:t>Single business unit with 50-100 users, controlled document library</a:t>
            </a:r>
          </a:p>
        </p:txBody>
      </p:sp>
      <p:sp>
        <p:nvSpPr>
          <p:cNvPr id="16" name="Rectangle 15"/>
          <p:cNvSpPr/>
          <p:nvPr/>
        </p:nvSpPr>
        <p:spPr>
          <a:xfrm>
            <a:off x="914400" y="4434840"/>
            <a:ext cx="548640" cy="54864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480560"/>
            <a:ext cx="548640" cy="457200"/>
          </a:xfrm>
          <a:prstGeom prst="rect">
            <a:avLst/>
          </a:prstGeom>
          <a:noFill/>
        </p:spPr>
        <p:txBody>
          <a:bodyPr wrap="square">
            <a:spAutoFit/>
          </a:bodyPr>
          <a:lstStyle/>
          <a:p>
            <a:pPr algn="ctr">
              <a:defRPr sz="2200" b="1">
                <a:solidFill>
                  <a:srgbClr val="FFFFFF"/>
                </a:solidFill>
                <a:latin typeface="Calibri"/>
              </a:defRPr>
            </a:pPr>
            <a:r>
              <a:t>4</a:t>
            </a:r>
          </a:p>
        </p:txBody>
      </p:sp>
      <p:sp>
        <p:nvSpPr>
          <p:cNvPr id="18" name="TextBox 17"/>
          <p:cNvSpPr txBox="1"/>
          <p:nvPr/>
        </p:nvSpPr>
        <p:spPr>
          <a:xfrm>
            <a:off x="1737360" y="4434840"/>
            <a:ext cx="8229600" cy="365760"/>
          </a:xfrm>
          <a:prstGeom prst="rect">
            <a:avLst/>
          </a:prstGeom>
          <a:noFill/>
        </p:spPr>
        <p:txBody>
          <a:bodyPr wrap="square">
            <a:spAutoFit/>
          </a:bodyPr>
          <a:lstStyle/>
          <a:p>
            <a:pPr algn="l">
              <a:defRPr sz="2000" b="1">
                <a:solidFill>
                  <a:srgbClr val="FFFFFF"/>
                </a:solidFill>
                <a:latin typeface="Calibri"/>
              </a:defRPr>
            </a:pPr>
            <a:r>
              <a:t>Monitoring Setup</a:t>
            </a:r>
          </a:p>
        </p:txBody>
      </p:sp>
      <p:sp>
        <p:nvSpPr>
          <p:cNvPr id="19" name="TextBox 18"/>
          <p:cNvSpPr txBox="1"/>
          <p:nvPr/>
        </p:nvSpPr>
        <p:spPr>
          <a:xfrm>
            <a:off x="1737360" y="4892040"/>
            <a:ext cx="8229600" cy="365760"/>
          </a:xfrm>
          <a:prstGeom prst="rect">
            <a:avLst/>
          </a:prstGeom>
          <a:noFill/>
        </p:spPr>
        <p:txBody>
          <a:bodyPr wrap="square">
            <a:spAutoFit/>
          </a:bodyPr>
          <a:lstStyle/>
          <a:p>
            <a:pPr algn="l">
              <a:defRPr sz="1400" b="0">
                <a:solidFill>
                  <a:srgbClr val="E0E0E0"/>
                </a:solidFill>
                <a:latin typeface="Calibri"/>
              </a:defRPr>
            </a:pPr>
            <a:r>
              <a:t>Grafana dashboards, Prometheus metrics, Loki log aggregation — all pre-configured</a:t>
            </a:r>
          </a:p>
        </p:txBody>
      </p:sp>
      <p:sp>
        <p:nvSpPr>
          <p:cNvPr id="20" name="Rectangle 19"/>
          <p:cNvSpPr/>
          <p:nvPr/>
        </p:nvSpPr>
        <p:spPr>
          <a:xfrm>
            <a:off x="914400" y="5394960"/>
            <a:ext cx="548640" cy="54864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440680"/>
            <a:ext cx="548640" cy="457200"/>
          </a:xfrm>
          <a:prstGeom prst="rect">
            <a:avLst/>
          </a:prstGeom>
          <a:noFill/>
        </p:spPr>
        <p:txBody>
          <a:bodyPr wrap="square">
            <a:spAutoFit/>
          </a:bodyPr>
          <a:lstStyle/>
          <a:p>
            <a:pPr algn="ctr">
              <a:defRPr sz="2200" b="1">
                <a:solidFill>
                  <a:srgbClr val="FFFFFF"/>
                </a:solidFill>
                <a:latin typeface="Calibri"/>
              </a:defRPr>
            </a:pPr>
            <a:r>
              <a:t>5</a:t>
            </a:r>
          </a:p>
        </p:txBody>
      </p:sp>
      <p:sp>
        <p:nvSpPr>
          <p:cNvPr id="22" name="TextBox 21"/>
          <p:cNvSpPr txBox="1"/>
          <p:nvPr/>
        </p:nvSpPr>
        <p:spPr>
          <a:xfrm>
            <a:off x="1737360" y="5394960"/>
            <a:ext cx="8229600" cy="365760"/>
          </a:xfrm>
          <a:prstGeom prst="rect">
            <a:avLst/>
          </a:prstGeom>
          <a:noFill/>
        </p:spPr>
        <p:txBody>
          <a:bodyPr wrap="square">
            <a:spAutoFit/>
          </a:bodyPr>
          <a:lstStyle/>
          <a:p>
            <a:pPr algn="l">
              <a:defRPr sz="2000" b="1">
                <a:solidFill>
                  <a:srgbClr val="FFFFFF"/>
                </a:solidFill>
                <a:latin typeface="Calibri"/>
              </a:defRPr>
            </a:pPr>
            <a:r>
              <a:t>Enterprise Rollout</a:t>
            </a:r>
          </a:p>
        </p:txBody>
      </p:sp>
      <p:sp>
        <p:nvSpPr>
          <p:cNvPr id="23" name="TextBox 22"/>
          <p:cNvSpPr txBox="1"/>
          <p:nvPr/>
        </p:nvSpPr>
        <p:spPr>
          <a:xfrm>
            <a:off x="1737360" y="5852160"/>
            <a:ext cx="8229600" cy="365760"/>
          </a:xfrm>
          <a:prstGeom prst="rect">
            <a:avLst/>
          </a:prstGeom>
          <a:noFill/>
        </p:spPr>
        <p:txBody>
          <a:bodyPr wrap="square">
            <a:spAutoFit/>
          </a:bodyPr>
          <a:lstStyle/>
          <a:p>
            <a:pPr algn="l">
              <a:defRPr sz="1400" b="0">
                <a:solidFill>
                  <a:srgbClr val="E0E0E0"/>
                </a:solidFill>
                <a:latin typeface="Calibri"/>
              </a:defRPr>
            </a:pPr>
            <a:r>
              <a:t>Multi-tenant deployment across business units with SSO integration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2926080"/>
            <a:ext cx="12191695"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058400" cy="914400"/>
          </a:xfrm>
          <a:prstGeom prst="rect">
            <a:avLst/>
          </a:prstGeom>
          <a:noFill/>
        </p:spPr>
        <p:txBody>
          <a:bodyPr wrap="square">
            <a:spAutoFit/>
          </a:bodyPr>
          <a:lstStyle/>
          <a:p>
            <a:pPr algn="ctr">
              <a:defRPr sz="3600" b="1">
                <a:solidFill>
                  <a:srgbClr val="FFFFFF"/>
                </a:solidFill>
                <a:latin typeface="Calibri"/>
              </a:defRPr>
            </a:pPr>
            <a:r>
              <a:t>Enterprise AI — Built for Security, Designed for Scale</a:t>
            </a:r>
          </a:p>
        </p:txBody>
      </p:sp>
      <p:sp>
        <p:nvSpPr>
          <p:cNvPr id="4" name="TextBox 3"/>
          <p:cNvSpPr txBox="1"/>
          <p:nvPr/>
        </p:nvSpPr>
        <p:spPr>
          <a:xfrm>
            <a:off x="1828800" y="3474720"/>
            <a:ext cx="8229600" cy="914400"/>
          </a:xfrm>
          <a:prstGeom prst="rect">
            <a:avLst/>
          </a:prstGeom>
          <a:noFill/>
        </p:spPr>
        <p:txBody>
          <a:bodyPr wrap="square">
            <a:spAutoFit/>
          </a:bodyPr>
          <a:lstStyle/>
          <a:p>
            <a:pPr algn="ctr">
              <a:defRPr sz="2200" b="0">
                <a:solidFill>
                  <a:srgbClr val="00C9A7"/>
                </a:solidFill>
                <a:latin typeface="Calibri"/>
              </a:defRPr>
            </a:pPr>
            <a:r>
              <a:t>On-premise. Compliant. Model-agnostic. Production-ready.</a:t>
            </a:r>
          </a:p>
        </p:txBody>
      </p:sp>
      <p:sp>
        <p:nvSpPr>
          <p:cNvPr id="5" name="TextBox 4"/>
          <p:cNvSpPr txBox="1"/>
          <p:nvPr/>
        </p:nvSpPr>
        <p:spPr>
          <a:xfrm>
            <a:off x="1828800" y="4754880"/>
            <a:ext cx="8229600" cy="457200"/>
          </a:xfrm>
          <a:prstGeom prst="rect">
            <a:avLst/>
          </a:prstGeom>
          <a:noFill/>
        </p:spPr>
        <p:txBody>
          <a:bodyPr wrap="square">
            <a:spAutoFit/>
          </a:bodyPr>
          <a:lstStyle/>
          <a:p>
            <a:pPr algn="ctr">
              <a:defRPr sz="2000" b="0">
                <a:solidFill>
                  <a:srgbClr val="999999"/>
                </a:solidFill>
                <a:latin typeface="Calibri"/>
              </a:defRPr>
            </a:pPr>
            <a:r>
              <a:t>Questions &amp; Discussion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itle"/>
          <p:cNvSpPr txBox="1"/>
          <p:nvPr/>
        </p:nvSpPr>
        <p:spPr>
          <a:xfrm>
            <a:off x="731520" y="365760"/>
            <a:ext cx="10515600" cy="731520"/>
          </a:xfrm>
          <a:prstGeom prst="rect">
            <a:avLst/>
          </a:prstGeom>
          <a:noFill/>
        </p:spPr>
        <p:txBody>
          <a:bodyPr wrap="square">
            <a:spAutoFit/>
          </a:bodyPr>
          <a:lstStyle/>
          <a:p>
            <a:pPr algn="l">
              <a:defRPr sz="3600" b="1">
                <a:solidFill>
                  <a:srgbClr val="FFFFFF"/>
                </a:solidFill>
                <a:latin typeface="Calibri"/>
              </a:defRPr>
            </a:pPr>
            <a:r>
              <a:t>What's Built — By The Numbers</a:t>
            </a:r>
          </a:p>
        </p:txBody>
      </p:sp>
      <p:sp>
        <p:nvSpPr>
          <p:cNvPr id="3" name="Underline"/>
          <p:cNvSpPr/>
          <p:nvPr/>
        </p:nvSpPr>
        <p:spPr>
          <a:xfrm>
            <a:off x="731520" y="1097280"/>
            <a:ext cx="10515600" cy="25400"/>
          </a:xfrm>
          <a:prstGeom prst="rect">
            <a:avLst/>
          </a:prstGeom>
          <a:solidFill>
            <a:srgbClr val="007BFF"/>
          </a:solidFill>
          <a:ln>
            <a:noFill/>
          </a:ln>
        </p:spPr>
        <p:txBody>
          <a:bodyPr rtlCol="0" anchor="ctr"/>
          <a:lstStyle/>
          <a:p>
            <a:pPr algn="ctr"/>
          </a:p>
        </p:txBody>
      </p:sp>
      <p:sp>
        <p:nvSpPr>
          <p:cNvPr id="10" name="CardBg10"/>
          <p:cNvSpPr/>
          <p:nvPr/>
        </p:nvSpPr>
        <p:spPr>
          <a:xfrm>
            <a:off x="365760" y="1463040"/>
            <a:ext cx="2469360" cy="1828800"/>
          </a:xfrm>
          <a:prstGeom prst="rect">
            <a:avLst/>
          </a:prstGeom>
          <a:solidFill>
            <a:srgbClr val="25253A"/>
          </a:solidFill>
          <a:ln>
            <a:noFill/>
          </a:ln>
        </p:spPr>
        <p:txBody>
          <a:bodyPr rtlCol="0" anchor="ctr"/>
          <a:lstStyle/>
          <a:p>
            <a:pPr algn="ctr"/>
          </a:p>
        </p:txBody>
      </p:sp>
      <p:sp>
        <p:nvSpPr>
          <p:cNvPr id="11" name="CardBar10"/>
          <p:cNvSpPr/>
          <p:nvPr/>
        </p:nvSpPr>
        <p:spPr>
          <a:xfrm>
            <a:off x="365760" y="1463040"/>
            <a:ext cx="2469360" cy="38100"/>
          </a:xfrm>
          <a:prstGeom prst="rect">
            <a:avLst/>
          </a:prstGeom>
          <a:solidFill>
            <a:srgbClr val="007BFF"/>
          </a:solidFill>
          <a:ln>
            <a:noFill/>
          </a:ln>
        </p:spPr>
        <p:txBody>
          <a:bodyPr rtlCol="0" anchor="ctr"/>
          <a:lstStyle/>
          <a:p>
            <a:pPr algn="ctr"/>
          </a:p>
        </p:txBody>
      </p:sp>
      <p:sp>
        <p:nvSpPr>
          <p:cNvPr id="12" name="CardNum10"/>
          <p:cNvSpPr txBox="1"/>
          <p:nvPr/>
        </p:nvSpPr>
        <p:spPr>
          <a:xfrm>
            <a:off x="365760" y="1737360"/>
            <a:ext cx="2469360" cy="914400"/>
          </a:xfrm>
          <a:prstGeom prst="rect">
            <a:avLst/>
          </a:prstGeom>
          <a:noFill/>
        </p:spPr>
        <p:txBody>
          <a:bodyPr wrap="square">
            <a:spAutoFit/>
          </a:bodyPr>
          <a:lstStyle/>
          <a:p>
            <a:pPr algn="c">
              <a:defRPr sz="3200" b="1">
                <a:solidFill>
                  <a:srgbClr val="007BFF"/>
                </a:solidFill>
                <a:latin typeface="Calibri"/>
              </a:defRPr>
            </a:pPr>
            <a:r>
              <a:t>207</a:t>
            </a:r>
          </a:p>
        </p:txBody>
      </p:sp>
      <p:sp>
        <p:nvSpPr>
          <p:cNvPr id="13" name="CardLbl10"/>
          <p:cNvSpPr txBox="1"/>
          <p:nvPr/>
        </p:nvSpPr>
        <p:spPr>
          <a:xfrm>
            <a:off x="365760" y="2743200"/>
            <a:ext cx="2469360" cy="457200"/>
          </a:xfrm>
          <a:prstGeom prst="rect">
            <a:avLst/>
          </a:prstGeom>
          <a:noFill/>
        </p:spPr>
        <p:txBody>
          <a:bodyPr wrap="square">
            <a:spAutoFit/>
          </a:bodyPr>
          <a:lstStyle/>
          <a:p>
            <a:pPr algn="c">
              <a:defRPr sz="1100" b="0">
                <a:solidFill>
                  <a:srgbClr val="E0E0E0"/>
                </a:solidFill>
                <a:latin typeface="Calibri"/>
              </a:defRPr>
            </a:pPr>
            <a:r>
              <a:t>Python Source Files</a:t>
            </a:r>
          </a:p>
          <a:p>
            <a:pPr algn="c">
              <a:defRPr sz="1100" b="0">
                <a:solidFill>
                  <a:srgbClr val="E0E0E0"/>
                </a:solidFill>
                <a:latin typeface="Calibri"/>
              </a:defRPr>
            </a:pPr>
            <a:r>
              <a:t>~57,000 lines</a:t>
            </a:r>
          </a:p>
        </p:txBody>
      </p:sp>
      <p:sp>
        <p:nvSpPr>
          <p:cNvPr id="20" name="CardBg20"/>
          <p:cNvSpPr/>
          <p:nvPr/>
        </p:nvSpPr>
        <p:spPr>
          <a:xfrm>
            <a:off x="3362698" y="1463040"/>
            <a:ext cx="2469360" cy="1828800"/>
          </a:xfrm>
          <a:prstGeom prst="rect">
            <a:avLst/>
          </a:prstGeom>
          <a:solidFill>
            <a:srgbClr val="25253A"/>
          </a:solidFill>
          <a:ln>
            <a:noFill/>
          </a:ln>
        </p:spPr>
        <p:txBody>
          <a:bodyPr rtlCol="0" anchor="ctr"/>
          <a:lstStyle/>
          <a:p>
            <a:pPr algn="ctr"/>
          </a:p>
        </p:txBody>
      </p:sp>
      <p:sp>
        <p:nvSpPr>
          <p:cNvPr id="21" name="CardBar20"/>
          <p:cNvSpPr/>
          <p:nvPr/>
        </p:nvSpPr>
        <p:spPr>
          <a:xfrm>
            <a:off x="3362698" y="1463040"/>
            <a:ext cx="2469360" cy="38100"/>
          </a:xfrm>
          <a:prstGeom prst="rect">
            <a:avLst/>
          </a:prstGeom>
          <a:solidFill>
            <a:srgbClr val="007BFF"/>
          </a:solidFill>
          <a:ln>
            <a:noFill/>
          </a:ln>
        </p:spPr>
        <p:txBody>
          <a:bodyPr rtlCol="0" anchor="ctr"/>
          <a:lstStyle/>
          <a:p>
            <a:pPr algn="ctr"/>
          </a:p>
        </p:txBody>
      </p:sp>
      <p:sp>
        <p:nvSpPr>
          <p:cNvPr id="22" name="CardNum20"/>
          <p:cNvSpPr txBox="1"/>
          <p:nvPr/>
        </p:nvSpPr>
        <p:spPr>
          <a:xfrm>
            <a:off x="3362698" y="1737360"/>
            <a:ext cx="2469360" cy="914400"/>
          </a:xfrm>
          <a:prstGeom prst="rect">
            <a:avLst/>
          </a:prstGeom>
          <a:noFill/>
        </p:spPr>
        <p:txBody>
          <a:bodyPr wrap="square">
            <a:spAutoFit/>
          </a:bodyPr>
          <a:lstStyle/>
          <a:p>
            <a:pPr algn="c">
              <a:defRPr sz="3200" b="1">
                <a:solidFill>
                  <a:srgbClr val="007BFF"/>
                </a:solidFill>
                <a:latin typeface="Calibri"/>
              </a:defRPr>
            </a:pPr>
            <a:r>
              <a:t>81</a:t>
            </a:r>
          </a:p>
        </p:txBody>
      </p:sp>
      <p:sp>
        <p:nvSpPr>
          <p:cNvPr id="23" name="CardLbl20"/>
          <p:cNvSpPr txBox="1"/>
          <p:nvPr/>
        </p:nvSpPr>
        <p:spPr>
          <a:xfrm>
            <a:off x="3362698" y="2743200"/>
            <a:ext cx="2469360" cy="457200"/>
          </a:xfrm>
          <a:prstGeom prst="rect">
            <a:avLst/>
          </a:prstGeom>
          <a:noFill/>
        </p:spPr>
        <p:txBody>
          <a:bodyPr wrap="square">
            <a:spAutoFit/>
          </a:bodyPr>
          <a:lstStyle/>
          <a:p>
            <a:pPr algn="c">
              <a:defRPr sz="1100" b="0">
                <a:solidFill>
                  <a:srgbClr val="E0E0E0"/>
                </a:solidFill>
                <a:latin typeface="Calibri"/>
              </a:defRPr>
            </a:pPr>
            <a:r>
              <a:t>Test Files</a:t>
            </a:r>
          </a:p>
          <a:p>
            <a:pPr algn="c">
              <a:defRPr sz="1100" b="0">
                <a:solidFill>
                  <a:srgbClr val="E0E0E0"/>
                </a:solidFill>
                <a:latin typeface="Calibri"/>
              </a:defRPr>
            </a:pPr>
            <a:r>
              <a:t>~27,000 lines</a:t>
            </a:r>
          </a:p>
        </p:txBody>
      </p:sp>
      <p:sp>
        <p:nvSpPr>
          <p:cNvPr id="30" name="CardBg30"/>
          <p:cNvSpPr/>
          <p:nvPr/>
        </p:nvSpPr>
        <p:spPr>
          <a:xfrm>
            <a:off x="6359636" y="1463040"/>
            <a:ext cx="2469360" cy="1828800"/>
          </a:xfrm>
          <a:prstGeom prst="rect">
            <a:avLst/>
          </a:prstGeom>
          <a:solidFill>
            <a:srgbClr val="25253A"/>
          </a:solidFill>
          <a:ln>
            <a:noFill/>
          </a:ln>
        </p:spPr>
        <p:txBody>
          <a:bodyPr rtlCol="0" anchor="ctr"/>
          <a:lstStyle/>
          <a:p>
            <a:pPr algn="ctr"/>
          </a:p>
        </p:txBody>
      </p:sp>
      <p:sp>
        <p:nvSpPr>
          <p:cNvPr id="31" name="CardBar30"/>
          <p:cNvSpPr/>
          <p:nvPr/>
        </p:nvSpPr>
        <p:spPr>
          <a:xfrm>
            <a:off x="6359636" y="1463040"/>
            <a:ext cx="2469360" cy="38100"/>
          </a:xfrm>
          <a:prstGeom prst="rect">
            <a:avLst/>
          </a:prstGeom>
          <a:solidFill>
            <a:srgbClr val="007BFF"/>
          </a:solidFill>
          <a:ln>
            <a:noFill/>
          </a:ln>
        </p:spPr>
        <p:txBody>
          <a:bodyPr rtlCol="0" anchor="ctr"/>
          <a:lstStyle/>
          <a:p>
            <a:pPr algn="ctr"/>
          </a:p>
        </p:txBody>
      </p:sp>
      <p:sp>
        <p:nvSpPr>
          <p:cNvPr id="32" name="CardNum30"/>
          <p:cNvSpPr txBox="1"/>
          <p:nvPr/>
        </p:nvSpPr>
        <p:spPr>
          <a:xfrm>
            <a:off x="6359636" y="1737360"/>
            <a:ext cx="2469360" cy="914400"/>
          </a:xfrm>
          <a:prstGeom prst="rect">
            <a:avLst/>
          </a:prstGeom>
          <a:noFill/>
        </p:spPr>
        <p:txBody>
          <a:bodyPr wrap="square">
            <a:spAutoFit/>
          </a:bodyPr>
          <a:lstStyle/>
          <a:p>
            <a:pPr algn="c">
              <a:defRPr sz="3200" b="1">
                <a:solidFill>
                  <a:srgbClr val="007BFF"/>
                </a:solidFill>
                <a:latin typeface="Calibri"/>
              </a:defRPr>
            </a:pPr>
            <a:r>
              <a:t>14</a:t>
            </a:r>
          </a:p>
        </p:txBody>
      </p:sp>
      <p:sp>
        <p:nvSpPr>
          <p:cNvPr id="33" name="CardLbl30"/>
          <p:cNvSpPr txBox="1"/>
          <p:nvPr/>
        </p:nvSpPr>
        <p:spPr>
          <a:xfrm>
            <a:off x="6359636" y="2743200"/>
            <a:ext cx="2469360" cy="457200"/>
          </a:xfrm>
          <a:prstGeom prst="rect">
            <a:avLst/>
          </a:prstGeom>
          <a:noFill/>
        </p:spPr>
        <p:txBody>
          <a:bodyPr wrap="square">
            <a:spAutoFit/>
          </a:bodyPr>
          <a:lstStyle/>
          <a:p>
            <a:pPr algn="c">
              <a:defRPr sz="1100" b="0">
                <a:solidFill>
                  <a:srgbClr val="E0E0E0"/>
                </a:solidFill>
                <a:latin typeface="Calibri"/>
              </a:defRPr>
            </a:pPr>
            <a:r>
              <a:t>Database Migrations</a:t>
            </a:r>
          </a:p>
          <a:p>
            <a:pPr algn="c">
              <a:defRPr sz="1100" b="0">
                <a:solidFill>
                  <a:srgbClr val="E0E0E0"/>
                </a:solidFill>
                <a:latin typeface="Calibri"/>
              </a:defRPr>
            </a:pPr>
            <a:r>
              <a:t>Production schema</a:t>
            </a:r>
          </a:p>
        </p:txBody>
      </p:sp>
      <p:sp>
        <p:nvSpPr>
          <p:cNvPr id="40" name="CardBg40"/>
          <p:cNvSpPr/>
          <p:nvPr/>
        </p:nvSpPr>
        <p:spPr>
          <a:xfrm>
            <a:off x="9356574" y="1463040"/>
            <a:ext cx="2469360" cy="1828800"/>
          </a:xfrm>
          <a:prstGeom prst="rect">
            <a:avLst/>
          </a:prstGeom>
          <a:solidFill>
            <a:srgbClr val="25253A"/>
          </a:solidFill>
          <a:ln>
            <a:noFill/>
          </a:ln>
        </p:spPr>
        <p:txBody>
          <a:bodyPr rtlCol="0" anchor="ctr"/>
          <a:lstStyle/>
          <a:p>
            <a:pPr algn="ctr"/>
          </a:p>
        </p:txBody>
      </p:sp>
      <p:sp>
        <p:nvSpPr>
          <p:cNvPr id="41" name="CardBar40"/>
          <p:cNvSpPr/>
          <p:nvPr/>
        </p:nvSpPr>
        <p:spPr>
          <a:xfrm>
            <a:off x="9356574" y="1463040"/>
            <a:ext cx="2469360" cy="38100"/>
          </a:xfrm>
          <a:prstGeom prst="rect">
            <a:avLst/>
          </a:prstGeom>
          <a:solidFill>
            <a:srgbClr val="007BFF"/>
          </a:solidFill>
          <a:ln>
            <a:noFill/>
          </a:ln>
        </p:spPr>
        <p:txBody>
          <a:bodyPr rtlCol="0" anchor="ctr"/>
          <a:lstStyle/>
          <a:p>
            <a:pPr algn="ctr"/>
          </a:p>
        </p:txBody>
      </p:sp>
      <p:sp>
        <p:nvSpPr>
          <p:cNvPr id="42" name="CardNum40"/>
          <p:cNvSpPr txBox="1"/>
          <p:nvPr/>
        </p:nvSpPr>
        <p:spPr>
          <a:xfrm>
            <a:off x="9356574" y="1737360"/>
            <a:ext cx="2469360" cy="914400"/>
          </a:xfrm>
          <a:prstGeom prst="rect">
            <a:avLst/>
          </a:prstGeom>
          <a:noFill/>
        </p:spPr>
        <p:txBody>
          <a:bodyPr wrap="square">
            <a:spAutoFit/>
          </a:bodyPr>
          <a:lstStyle/>
          <a:p>
            <a:pPr algn="c">
              <a:defRPr sz="3200" b="1">
                <a:solidFill>
                  <a:srgbClr val="007BFF"/>
                </a:solidFill>
                <a:latin typeface="Calibri"/>
              </a:defRPr>
            </a:pPr>
            <a:r>
              <a:t>9</a:t>
            </a:r>
          </a:p>
        </p:txBody>
      </p:sp>
      <p:sp>
        <p:nvSpPr>
          <p:cNvPr id="43" name="CardLbl40"/>
          <p:cNvSpPr txBox="1"/>
          <p:nvPr/>
        </p:nvSpPr>
        <p:spPr>
          <a:xfrm>
            <a:off x="9356574" y="2743200"/>
            <a:ext cx="2469360" cy="457200"/>
          </a:xfrm>
          <a:prstGeom prst="rect">
            <a:avLst/>
          </a:prstGeom>
          <a:noFill/>
        </p:spPr>
        <p:txBody>
          <a:bodyPr wrap="square">
            <a:spAutoFit/>
          </a:bodyPr>
          <a:lstStyle/>
          <a:p>
            <a:pPr algn="c">
              <a:defRPr sz="1100" b="0">
                <a:solidFill>
                  <a:srgbClr val="E0E0E0"/>
                </a:solidFill>
                <a:latin typeface="Calibri"/>
              </a:defRPr>
            </a:pPr>
            <a:r>
              <a:t>Dev Phases</a:t>
            </a:r>
          </a:p>
          <a:p>
            <a:pPr algn="c">
              <a:defRPr sz="1100" b="0">
                <a:solidFill>
                  <a:srgbClr val="E0E0E0"/>
                </a:solidFill>
                <a:latin typeface="Calibri"/>
              </a:defRPr>
            </a:pPr>
            <a:r>
              <a:t>All completed</a:t>
            </a:r>
          </a:p>
        </p:txBody>
      </p:sp>
      <p:sp>
        <p:nvSpPr>
          <p:cNvPr id="60" name="CardBg60"/>
          <p:cNvSpPr/>
          <p:nvPr/>
        </p:nvSpPr>
        <p:spPr>
          <a:xfrm>
            <a:off x="1864229" y="3474720"/>
            <a:ext cx="2469360" cy="1828800"/>
          </a:xfrm>
          <a:prstGeom prst="rect">
            <a:avLst/>
          </a:prstGeom>
          <a:solidFill>
            <a:srgbClr val="25253A"/>
          </a:solidFill>
          <a:ln>
            <a:noFill/>
          </a:ln>
        </p:spPr>
        <p:txBody>
          <a:bodyPr rtlCol="0" anchor="ctr"/>
          <a:lstStyle/>
          <a:p>
            <a:pPr algn="ctr"/>
          </a:p>
        </p:txBody>
      </p:sp>
      <p:sp>
        <p:nvSpPr>
          <p:cNvPr id="61" name="CardBar60"/>
          <p:cNvSpPr/>
          <p:nvPr/>
        </p:nvSpPr>
        <p:spPr>
          <a:xfrm>
            <a:off x="1864229" y="3474720"/>
            <a:ext cx="2469360" cy="38100"/>
          </a:xfrm>
          <a:prstGeom prst="rect">
            <a:avLst/>
          </a:prstGeom>
          <a:solidFill>
            <a:srgbClr val="007BFF"/>
          </a:solidFill>
          <a:ln>
            <a:noFill/>
          </a:ln>
        </p:spPr>
        <p:txBody>
          <a:bodyPr rtlCol="0" anchor="ctr"/>
          <a:lstStyle/>
          <a:p>
            <a:pPr algn="ctr"/>
          </a:p>
        </p:txBody>
      </p:sp>
      <p:sp>
        <p:nvSpPr>
          <p:cNvPr id="62" name="CardNum60"/>
          <p:cNvSpPr txBox="1"/>
          <p:nvPr/>
        </p:nvSpPr>
        <p:spPr>
          <a:xfrm>
            <a:off x="1864229" y="3749040"/>
            <a:ext cx="2469360" cy="914400"/>
          </a:xfrm>
          <a:prstGeom prst="rect">
            <a:avLst/>
          </a:prstGeom>
          <a:noFill/>
        </p:spPr>
        <p:txBody>
          <a:bodyPr wrap="square">
            <a:spAutoFit/>
          </a:bodyPr>
          <a:lstStyle/>
          <a:p>
            <a:pPr algn="c">
              <a:defRPr sz="3200" b="1">
                <a:solidFill>
                  <a:srgbClr val="007BFF"/>
                </a:solidFill>
                <a:latin typeface="Calibri"/>
              </a:defRPr>
            </a:pPr>
            <a:r>
              <a:t>4</a:t>
            </a:r>
          </a:p>
        </p:txBody>
      </p:sp>
      <p:sp>
        <p:nvSpPr>
          <p:cNvPr id="63" name="CardLbl60"/>
          <p:cNvSpPr txBox="1"/>
          <p:nvPr/>
        </p:nvSpPr>
        <p:spPr>
          <a:xfrm>
            <a:off x="1864229" y="4754880"/>
            <a:ext cx="2469360" cy="457200"/>
          </a:xfrm>
          <a:prstGeom prst="rect">
            <a:avLst/>
          </a:prstGeom>
          <a:noFill/>
        </p:spPr>
        <p:txBody>
          <a:bodyPr wrap="square">
            <a:spAutoFit/>
          </a:bodyPr>
          <a:lstStyle/>
          <a:p>
            <a:pPr algn="c">
              <a:defRPr sz="1100" b="0">
                <a:solidFill>
                  <a:srgbClr val="E0E0E0"/>
                </a:solidFill>
                <a:latin typeface="Calibri"/>
              </a:defRPr>
            </a:pPr>
            <a:r>
              <a:t>Grafana Dashboards</a:t>
            </a:r>
          </a:p>
          <a:p>
            <a:pPr algn="c">
              <a:defRPr sz="1100" b="0">
                <a:solidFill>
                  <a:srgbClr val="E0E0E0"/>
                </a:solidFill>
                <a:latin typeface="Calibri"/>
              </a:defRPr>
            </a:pPr>
            <a:r>
              <a:t>Full observability</a:t>
            </a:r>
          </a:p>
        </p:txBody>
      </p:sp>
      <p:sp>
        <p:nvSpPr>
          <p:cNvPr id="70" name="CardBg70"/>
          <p:cNvSpPr/>
          <p:nvPr/>
        </p:nvSpPr>
        <p:spPr>
          <a:xfrm>
            <a:off x="4861167" y="3474720"/>
            <a:ext cx="2469360" cy="1828800"/>
          </a:xfrm>
          <a:prstGeom prst="rect">
            <a:avLst/>
          </a:prstGeom>
          <a:solidFill>
            <a:srgbClr val="25253A"/>
          </a:solidFill>
          <a:ln>
            <a:noFill/>
          </a:ln>
        </p:spPr>
        <p:txBody>
          <a:bodyPr rtlCol="0" anchor="ctr"/>
          <a:lstStyle/>
          <a:p>
            <a:pPr algn="ctr"/>
          </a:p>
        </p:txBody>
      </p:sp>
      <p:sp>
        <p:nvSpPr>
          <p:cNvPr id="71" name="CardBar70"/>
          <p:cNvSpPr/>
          <p:nvPr/>
        </p:nvSpPr>
        <p:spPr>
          <a:xfrm>
            <a:off x="4861167" y="3474720"/>
            <a:ext cx="2469360" cy="38100"/>
          </a:xfrm>
          <a:prstGeom prst="rect">
            <a:avLst/>
          </a:prstGeom>
          <a:solidFill>
            <a:srgbClr val="007BFF"/>
          </a:solidFill>
          <a:ln>
            <a:noFill/>
          </a:ln>
        </p:spPr>
        <p:txBody>
          <a:bodyPr rtlCol="0" anchor="ctr"/>
          <a:lstStyle/>
          <a:p>
            <a:pPr algn="ctr"/>
          </a:p>
        </p:txBody>
      </p:sp>
      <p:sp>
        <p:nvSpPr>
          <p:cNvPr id="72" name="CardNum70"/>
          <p:cNvSpPr txBox="1"/>
          <p:nvPr/>
        </p:nvSpPr>
        <p:spPr>
          <a:xfrm>
            <a:off x="4861167" y="3749040"/>
            <a:ext cx="2469360" cy="914400"/>
          </a:xfrm>
          <a:prstGeom prst="rect">
            <a:avLst/>
          </a:prstGeom>
          <a:noFill/>
        </p:spPr>
        <p:txBody>
          <a:bodyPr wrap="square">
            <a:spAutoFit/>
          </a:bodyPr>
          <a:lstStyle/>
          <a:p>
            <a:pPr algn="c">
              <a:defRPr sz="3200" b="1">
                <a:solidFill>
                  <a:srgbClr val="007BFF"/>
                </a:solidFill>
                <a:latin typeface="Calibri"/>
              </a:defRPr>
            </a:pPr>
            <a:r>
              <a:t>19</a:t>
            </a:r>
          </a:p>
        </p:txBody>
      </p:sp>
      <p:sp>
        <p:nvSpPr>
          <p:cNvPr id="73" name="CardLbl70"/>
          <p:cNvSpPr txBox="1"/>
          <p:nvPr/>
        </p:nvSpPr>
        <p:spPr>
          <a:xfrm>
            <a:off x="4861167" y="4754880"/>
            <a:ext cx="2469360" cy="457200"/>
          </a:xfrm>
          <a:prstGeom prst="rect">
            <a:avLst/>
          </a:prstGeom>
          <a:noFill/>
        </p:spPr>
        <p:txBody>
          <a:bodyPr wrap="square">
            <a:spAutoFit/>
          </a:bodyPr>
          <a:lstStyle/>
          <a:p>
            <a:pPr algn="c">
              <a:defRPr sz="1100" b="0">
                <a:solidFill>
                  <a:srgbClr val="E0E0E0"/>
                </a:solidFill>
                <a:latin typeface="Calibri"/>
              </a:defRPr>
            </a:pPr>
            <a:r>
              <a:t>API Endpoint Groups</a:t>
            </a:r>
          </a:p>
          <a:p>
            <a:pPr algn="c">
              <a:defRPr sz="1100" b="0">
                <a:solidFill>
                  <a:srgbClr val="E0E0E0"/>
                </a:solidFill>
                <a:latin typeface="Calibri"/>
              </a:defRPr>
            </a:pPr>
            <a:r>
              <a:t>REST + WebSocket</a:t>
            </a:r>
          </a:p>
        </p:txBody>
      </p:sp>
      <p:sp>
        <p:nvSpPr>
          <p:cNvPr id="80" name="CardBg80"/>
          <p:cNvSpPr/>
          <p:nvPr/>
        </p:nvSpPr>
        <p:spPr>
          <a:xfrm>
            <a:off x="7858105" y="3474720"/>
            <a:ext cx="2469360" cy="1828800"/>
          </a:xfrm>
          <a:prstGeom prst="rect">
            <a:avLst/>
          </a:prstGeom>
          <a:solidFill>
            <a:srgbClr val="25253A"/>
          </a:solidFill>
          <a:ln>
            <a:noFill/>
          </a:ln>
        </p:spPr>
        <p:txBody>
          <a:bodyPr rtlCol="0" anchor="ctr"/>
          <a:lstStyle/>
          <a:p>
            <a:pPr algn="ctr"/>
          </a:p>
        </p:txBody>
      </p:sp>
      <p:sp>
        <p:nvSpPr>
          <p:cNvPr id="81" name="CardBar80"/>
          <p:cNvSpPr/>
          <p:nvPr/>
        </p:nvSpPr>
        <p:spPr>
          <a:xfrm>
            <a:off x="7858105" y="3474720"/>
            <a:ext cx="2469360" cy="38100"/>
          </a:xfrm>
          <a:prstGeom prst="rect">
            <a:avLst/>
          </a:prstGeom>
          <a:solidFill>
            <a:srgbClr val="007BFF"/>
          </a:solidFill>
          <a:ln>
            <a:noFill/>
          </a:ln>
        </p:spPr>
        <p:txBody>
          <a:bodyPr rtlCol="0" anchor="ctr"/>
          <a:lstStyle/>
          <a:p>
            <a:pPr algn="ctr"/>
          </a:p>
        </p:txBody>
      </p:sp>
      <p:sp>
        <p:nvSpPr>
          <p:cNvPr id="82" name="CardNum80"/>
          <p:cNvSpPr txBox="1"/>
          <p:nvPr/>
        </p:nvSpPr>
        <p:spPr>
          <a:xfrm>
            <a:off x="7858105" y="3749040"/>
            <a:ext cx="2469360" cy="914400"/>
          </a:xfrm>
          <a:prstGeom prst="rect">
            <a:avLst/>
          </a:prstGeom>
          <a:noFill/>
        </p:spPr>
        <p:txBody>
          <a:bodyPr wrap="square">
            <a:spAutoFit/>
          </a:bodyPr>
          <a:lstStyle/>
          <a:p>
            <a:pPr algn="c">
              <a:defRPr sz="3200" b="1">
                <a:solidFill>
                  <a:srgbClr val="007BFF"/>
                </a:solidFill>
                <a:latin typeface="Calibri"/>
              </a:defRPr>
            </a:pPr>
            <a:r>
              <a:t>6</a:t>
            </a:r>
          </a:p>
        </p:txBody>
      </p:sp>
      <p:sp>
        <p:nvSpPr>
          <p:cNvPr id="83" name="CardLbl80"/>
          <p:cNvSpPr txBox="1"/>
          <p:nvPr/>
        </p:nvSpPr>
        <p:spPr>
          <a:xfrm>
            <a:off x="7858105" y="4754880"/>
            <a:ext cx="2469360" cy="457200"/>
          </a:xfrm>
          <a:prstGeom prst="rect">
            <a:avLst/>
          </a:prstGeom>
          <a:noFill/>
        </p:spPr>
        <p:txBody>
          <a:bodyPr wrap="square">
            <a:spAutoFit/>
          </a:bodyPr>
          <a:lstStyle/>
          <a:p>
            <a:pPr algn="c">
              <a:defRPr sz="1100" b="0">
                <a:solidFill>
                  <a:srgbClr val="E0E0E0"/>
                </a:solidFill>
                <a:latin typeface="Calibri"/>
              </a:defRPr>
            </a:pPr>
            <a:r>
              <a:t>CI/CD Quality Gates</a:t>
            </a:r>
          </a:p>
          <a:p>
            <a:pPr algn="c">
              <a:defRPr sz="1100" b="0">
                <a:solidFill>
                  <a:srgbClr val="E0E0E0"/>
                </a:solidFill>
                <a:latin typeface="Calibri"/>
              </a:defRPr>
            </a:pPr>
            <a:r>
              <a:t>SAST + scan + test</a:t>
            </a:r>
          </a:p>
        </p:txBody>
      </p:sp>
    </p:spTree>
  </p:cSld>
  <p:clrMapOvr>
    <a:masterClr/>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itle"/>
          <p:cNvSpPr txBox="1"/>
          <p:nvPr/>
        </p:nvSpPr>
        <p:spPr>
          <a:xfrm>
            <a:off x="731520" y="365760"/>
            <a:ext cx="10515600" cy="731520"/>
          </a:xfrm>
          <a:prstGeom prst="rect">
            <a:avLst/>
          </a:prstGeom>
          <a:noFill/>
        </p:spPr>
        <p:txBody>
          <a:bodyPr wrap="square">
            <a:spAutoFit/>
          </a:bodyPr>
          <a:lstStyle/>
          <a:p>
            <a:pPr algn="l">
              <a:defRPr sz="3600" b="1">
                <a:solidFill>
                  <a:srgbClr val="FFFFFF"/>
                </a:solidFill>
                <a:latin typeface="Calibri"/>
              </a:defRPr>
            </a:pPr>
            <a:r>
              <a:t>Monitoring &amp; Observability</a:t>
            </a:r>
          </a:p>
        </p:txBody>
      </p:sp>
      <p:sp>
        <p:nvSpPr>
          <p:cNvPr id="3" name="Underline"/>
          <p:cNvSpPr/>
          <p:nvPr/>
        </p:nvSpPr>
        <p:spPr>
          <a:xfrm>
            <a:off x="731520" y="1097280"/>
            <a:ext cx="10515600" cy="25400"/>
          </a:xfrm>
          <a:prstGeom prst="rect">
            <a:avLst/>
          </a:prstGeom>
          <a:solidFill>
            <a:srgbClr val="007BFF"/>
          </a:solidFill>
          <a:ln>
            <a:noFill/>
          </a:ln>
        </p:spPr>
        <p:txBody>
          <a:bodyPr rtlCol="0" anchor="ctr"/>
          <a:lstStyle/>
          <a:p>
            <a:pPr algn="ctr"/>
          </a:p>
        </p:txBody>
      </p:sp>
      <p:sp>
        <p:nvSpPr>
          <p:cNvPr id="10" name="CapBg10"/>
          <p:cNvSpPr/>
          <p:nvPr/>
        </p:nvSpPr>
        <p:spPr>
          <a:xfrm>
            <a:off x="731520" y="1554480"/>
            <a:ext cx="5303520" cy="1371600"/>
          </a:xfrm>
          <a:prstGeom prst="rect">
            <a:avLst/>
          </a:prstGeom>
          <a:solidFill>
            <a:srgbClr val="25253A"/>
          </a:solidFill>
          <a:ln>
            <a:noFill/>
          </a:ln>
        </p:spPr>
        <p:txBody>
          <a:bodyPr rtlCol="0" anchor="ctr"/>
          <a:lstStyle/>
          <a:p>
            <a:pPr algn="ctr"/>
          </a:p>
        </p:txBody>
      </p:sp>
      <p:sp>
        <p:nvSpPr>
          <p:cNvPr id="11" name="CapTitle10"/>
          <p:cNvSpPr txBox="1"/>
          <p:nvPr/>
        </p:nvSpPr>
        <p:spPr>
          <a:xfrm>
            <a:off x="1005840" y="1737360"/>
            <a:ext cx="4754880" cy="457200"/>
          </a:xfrm>
          <a:prstGeom prst="rect">
            <a:avLst/>
          </a:prstGeom>
          <a:noFill/>
        </p:spPr>
        <p:txBody>
          <a:bodyPr wrap="square">
            <a:spAutoFit/>
          </a:bodyPr>
          <a:lstStyle/>
          <a:p>
            <a:pPr algn="l">
              <a:defRPr sz="1800" b="1">
                <a:solidFill>
                  <a:srgbClr val="007BFF"/>
                </a:solidFill>
                <a:latin typeface="Calibri"/>
              </a:defRPr>
            </a:pPr>
            <a:r>
              <a:t>Grafana Dashboards</a:t>
            </a:r>
          </a:p>
        </p:txBody>
      </p:sp>
      <p:sp>
        <p:nvSpPr>
          <p:cNvPr id="12" name="CapDesc10"/>
          <p:cNvSpPr txBox="1"/>
          <p:nvPr/>
        </p:nvSpPr>
        <p:spPr>
          <a:xfrm>
            <a:off x="1005840" y="2286000"/>
            <a:ext cx="4754880" cy="548640"/>
          </a:xfrm>
          <a:prstGeom prst="rect">
            <a:avLst/>
          </a:prstGeom>
          <a:noFill/>
        </p:spPr>
        <p:txBody>
          <a:bodyPr wrap="square">
            <a:spAutoFit/>
          </a:bodyPr>
          <a:lstStyle/>
          <a:p>
            <a:pPr algn="l">
              <a:defRPr sz="1300" b="0">
                <a:solidFill>
                  <a:srgbClr val="E0E0E0"/>
                </a:solidFill>
                <a:latin typeface="Calibri"/>
              </a:defRPr>
            </a:pPr>
            <a:r>
              <a:t>LLM Performance, Agent Operations, Tenant Budgets, System Overview</a:t>
            </a:r>
          </a:p>
        </p:txBody>
      </p:sp>
      <p:sp>
        <p:nvSpPr>
          <p:cNvPr id="20" name="CapBg20"/>
          <p:cNvSpPr/>
          <p:nvPr/>
        </p:nvSpPr>
        <p:spPr>
          <a:xfrm>
            <a:off x="6400800" y="1554480"/>
            <a:ext cx="5303520" cy="1371600"/>
          </a:xfrm>
          <a:prstGeom prst="rect">
            <a:avLst/>
          </a:prstGeom>
          <a:solidFill>
            <a:srgbClr val="25253A"/>
          </a:solidFill>
          <a:ln>
            <a:noFill/>
          </a:ln>
        </p:spPr>
        <p:txBody>
          <a:bodyPr rtlCol="0" anchor="ctr"/>
          <a:lstStyle/>
          <a:p>
            <a:pPr algn="ctr"/>
          </a:p>
        </p:txBody>
      </p:sp>
      <p:sp>
        <p:nvSpPr>
          <p:cNvPr id="21" name="CapTitle20"/>
          <p:cNvSpPr txBox="1"/>
          <p:nvPr/>
        </p:nvSpPr>
        <p:spPr>
          <a:xfrm>
            <a:off x="6675120" y="1737360"/>
            <a:ext cx="4754880" cy="457200"/>
          </a:xfrm>
          <a:prstGeom prst="rect">
            <a:avLst/>
          </a:prstGeom>
          <a:noFill/>
        </p:spPr>
        <p:txBody>
          <a:bodyPr wrap="square">
            <a:spAutoFit/>
          </a:bodyPr>
          <a:lstStyle/>
          <a:p>
            <a:pPr algn="l">
              <a:defRPr sz="1800" b="1">
                <a:solidFill>
                  <a:srgbClr val="007BFF"/>
                </a:solidFill>
                <a:latin typeface="Calibri"/>
              </a:defRPr>
            </a:pPr>
            <a:r>
              <a:t>Prometheus Metrics</a:t>
            </a:r>
          </a:p>
        </p:txBody>
      </p:sp>
      <p:sp>
        <p:nvSpPr>
          <p:cNvPr id="22" name="CapDesc20"/>
          <p:cNvSpPr txBox="1"/>
          <p:nvPr/>
        </p:nvSpPr>
        <p:spPr>
          <a:xfrm>
            <a:off x="6675120" y="2286000"/>
            <a:ext cx="4754880" cy="548640"/>
          </a:xfrm>
          <a:prstGeom prst="rect">
            <a:avLst/>
          </a:prstGeom>
          <a:noFill/>
        </p:spPr>
        <p:txBody>
          <a:bodyPr wrap="square">
            <a:spAutoFit/>
          </a:bodyPr>
          <a:lstStyle/>
          <a:p>
            <a:pPr algn="l">
              <a:defRPr sz="1300" b="0">
                <a:solidFill>
                  <a:srgbClr val="E0E0E0"/>
                </a:solidFill>
                <a:latin typeface="Calibri"/>
              </a:defRPr>
            </a:pPr>
            <a:r>
              <a:t>HTTP latency, LLM tokens, agent runs, tool calls, budget tracking</a:t>
            </a:r>
          </a:p>
        </p:txBody>
      </p:sp>
      <p:sp>
        <p:nvSpPr>
          <p:cNvPr id="30" name="CapBg30"/>
          <p:cNvSpPr/>
          <p:nvPr/>
        </p:nvSpPr>
        <p:spPr>
          <a:xfrm>
            <a:off x="731520" y="3200400"/>
            <a:ext cx="5303520" cy="1371600"/>
          </a:xfrm>
          <a:prstGeom prst="rect">
            <a:avLst/>
          </a:prstGeom>
          <a:solidFill>
            <a:srgbClr val="25253A"/>
          </a:solidFill>
          <a:ln>
            <a:noFill/>
          </a:ln>
        </p:spPr>
        <p:txBody>
          <a:bodyPr rtlCol="0" anchor="ctr"/>
          <a:lstStyle/>
          <a:p>
            <a:pPr algn="ctr"/>
          </a:p>
        </p:txBody>
      </p:sp>
      <p:sp>
        <p:nvSpPr>
          <p:cNvPr id="31" name="CapTitle30"/>
          <p:cNvSpPr txBox="1"/>
          <p:nvPr/>
        </p:nvSpPr>
        <p:spPr>
          <a:xfrm>
            <a:off x="1005840" y="3383280"/>
            <a:ext cx="4754880" cy="457200"/>
          </a:xfrm>
          <a:prstGeom prst="rect">
            <a:avLst/>
          </a:prstGeom>
          <a:noFill/>
        </p:spPr>
        <p:txBody>
          <a:bodyPr wrap="square">
            <a:spAutoFit/>
          </a:bodyPr>
          <a:lstStyle/>
          <a:p>
            <a:pPr algn="l">
              <a:defRPr sz="1800" b="1">
                <a:solidFill>
                  <a:srgbClr val="007BFF"/>
                </a:solidFill>
                <a:latin typeface="Calibri"/>
              </a:defRPr>
            </a:pPr>
            <a:r>
              <a:t>Loki + Promtail Log Aggregation</a:t>
            </a:r>
          </a:p>
        </p:txBody>
      </p:sp>
      <p:sp>
        <p:nvSpPr>
          <p:cNvPr id="32" name="CapDesc30"/>
          <p:cNvSpPr txBox="1"/>
          <p:nvPr/>
        </p:nvSpPr>
        <p:spPr>
          <a:xfrm>
            <a:off x="1005840" y="3931920"/>
            <a:ext cx="4754880" cy="548640"/>
          </a:xfrm>
          <a:prstGeom prst="rect">
            <a:avLst/>
          </a:prstGeom>
          <a:noFill/>
        </p:spPr>
        <p:txBody>
          <a:bodyPr wrap="square">
            <a:spAutoFit/>
          </a:bodyPr>
          <a:lstStyle/>
          <a:p>
            <a:pPr algn="l">
              <a:defRPr sz="1300" b="0">
                <a:solidFill>
                  <a:srgbClr val="E0E0E0"/>
                </a:solidFill>
                <a:latin typeface="Calibri"/>
              </a:defRPr>
            </a:pPr>
            <a:r>
              <a:t>Structured JSON logs, 30-day retention, full-text search via Grafana</a:t>
            </a:r>
          </a:p>
        </p:txBody>
      </p:sp>
      <p:sp>
        <p:nvSpPr>
          <p:cNvPr id="40" name="CapBg40"/>
          <p:cNvSpPr/>
          <p:nvPr/>
        </p:nvSpPr>
        <p:spPr>
          <a:xfrm>
            <a:off x="6400800" y="3200400"/>
            <a:ext cx="5303520" cy="1371600"/>
          </a:xfrm>
          <a:prstGeom prst="rect">
            <a:avLst/>
          </a:prstGeom>
          <a:solidFill>
            <a:srgbClr val="25253A"/>
          </a:solidFill>
          <a:ln>
            <a:noFill/>
          </a:ln>
        </p:spPr>
        <p:txBody>
          <a:bodyPr rtlCol="0" anchor="ctr"/>
          <a:lstStyle/>
          <a:p>
            <a:pPr algn="ctr"/>
          </a:p>
        </p:txBody>
      </p:sp>
      <p:sp>
        <p:nvSpPr>
          <p:cNvPr id="41" name="CapTitle40"/>
          <p:cNvSpPr txBox="1"/>
          <p:nvPr/>
        </p:nvSpPr>
        <p:spPr>
          <a:xfrm>
            <a:off x="6675120" y="3383280"/>
            <a:ext cx="4754880" cy="457200"/>
          </a:xfrm>
          <a:prstGeom prst="rect">
            <a:avLst/>
          </a:prstGeom>
          <a:noFill/>
        </p:spPr>
        <p:txBody>
          <a:bodyPr wrap="square">
            <a:spAutoFit/>
          </a:bodyPr>
          <a:lstStyle/>
          <a:p>
            <a:pPr algn="l">
              <a:defRPr sz="1800" b="1">
                <a:solidFill>
                  <a:srgbClr val="007BFF"/>
                </a:solidFill>
                <a:latin typeface="Calibri"/>
              </a:defRPr>
            </a:pPr>
            <a:r>
              <a:t>Automated Backup &amp; Recovery</a:t>
            </a:r>
          </a:p>
        </p:txBody>
      </p:sp>
      <p:sp>
        <p:nvSpPr>
          <p:cNvPr id="42" name="CapDesc40"/>
          <p:cNvSpPr txBox="1"/>
          <p:nvPr/>
        </p:nvSpPr>
        <p:spPr>
          <a:xfrm>
            <a:off x="6675120" y="3931920"/>
            <a:ext cx="4754880" cy="548640"/>
          </a:xfrm>
          <a:prstGeom prst="rect">
            <a:avLst/>
          </a:prstGeom>
          <a:noFill/>
        </p:spPr>
        <p:txBody>
          <a:bodyPr wrap="square">
            <a:spAutoFit/>
          </a:bodyPr>
          <a:lstStyle/>
          <a:p>
            <a:pPr algn="l">
              <a:defRPr sz="1300" b="0">
                <a:solidFill>
                  <a:srgbClr val="E0E0E0"/>
                </a:solidFill>
                <a:latin typeface="Calibri"/>
              </a:defRPr>
            </a:pPr>
            <a:r>
              <a:t>Scheduled backups with verification scripts and restore procedures</a:t>
            </a:r>
          </a:p>
        </p:txBody>
      </p:sp>
      <p:sp>
        <p:nvSpPr>
          <p:cNvPr id="90" name="Note"/>
          <p:cNvSpPr txBox="1"/>
          <p:nvPr/>
        </p:nvSpPr>
        <p:spPr>
          <a:xfrm>
            <a:off x="731520" y="4892040"/>
            <a:ext cx="10058400" cy="457200"/>
          </a:xfrm>
          <a:prstGeom prst="rect">
            <a:avLst/>
          </a:prstGeom>
          <a:noFill/>
        </p:spPr>
        <p:txBody>
          <a:bodyPr wrap="square">
            <a:spAutoFit/>
          </a:bodyPr>
          <a:lstStyle/>
          <a:p>
            <a:pPr algn="l">
              <a:defRPr sz="1400" b="0">
                <a:solidFill>
                  <a:srgbClr val="E0E0E0"/>
                </a:solidFill>
                <a:latin typeface="Calibri"/>
              </a:defRPr>
            </a:pPr>
            <a:r>
              <a:t>All monitoring infrastructure is pre-configured and ships with the platform — zero additional setup required.</a:t>
            </a:r>
          </a:p>
        </p:txBody>
      </p:sp>
    </p:spTree>
  </p:cSld>
  <p:clrMapOvr>
    <a:masterClr/>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itle"/>
          <p:cNvSpPr txBox="1"/>
          <p:nvPr/>
        </p:nvSpPr>
        <p:spPr>
          <a:xfrm>
            <a:off x="731520" y="274320"/>
            <a:ext cx="10515600" cy="731520"/>
          </a:xfrm>
          <a:prstGeom prst="rect">
            <a:avLst/>
          </a:prstGeom>
          <a:noFill/>
        </p:spPr>
        <p:txBody>
          <a:bodyPr wrap="square">
            <a:spAutoFit/>
          </a:bodyPr>
          <a:lstStyle/>
          <a:p>
            <a:pPr algn="l">
              <a:defRPr sz="3600" b="1">
                <a:solidFill>
                  <a:srgbClr val="FFFFFF"/>
                </a:solidFill>
                <a:latin typeface="Calibri"/>
              </a:defRPr>
            </a:pPr>
            <a:r>
              <a:t>Competitive Comparison</a:t>
            </a:r>
          </a:p>
        </p:txBody>
      </p:sp>
      <p:sp>
        <p:nvSpPr>
          <p:cNvPr id="3" name="Underline"/>
          <p:cNvSpPr/>
          <p:nvPr/>
        </p:nvSpPr>
        <p:spPr>
          <a:xfrm>
            <a:off x="731520" y="1005840"/>
            <a:ext cx="10515600" cy="25400"/>
          </a:xfrm>
          <a:prstGeom prst="rect">
            <a:avLst/>
          </a:prstGeom>
          <a:solidFill>
            <a:srgbClr val="007BFF"/>
          </a:solidFill>
          <a:ln>
            <a:noFill/>
          </a:ln>
        </p:spPr>
        <p:txBody>
          <a:bodyPr rtlCol="0" anchor="ctr"/>
          <a:lstStyle/>
          <a:p>
            <a:pPr algn="ctr"/>
          </a:p>
        </p:txBody>
      </p:sp>
      <p:sp>
        <p:nvSpPr>
          <p:cNvPr id="10" name="HdrBg0"/>
          <p:cNvSpPr/>
          <p:nvPr/>
        </p:nvSpPr>
        <p:spPr>
          <a:xfrm>
            <a:off x="457200" y="1280160"/>
            <a:ext cx="3182112" cy="548640"/>
          </a:xfrm>
          <a:prstGeom prst="rect">
            <a:avLst/>
          </a:prstGeom>
          <a:solidFill>
            <a:srgbClr val="1E3A5F"/>
          </a:solidFill>
          <a:ln>
            <a:noFill/>
          </a:ln>
        </p:spPr>
        <p:txBody>
          <a:bodyPr rtlCol="0" anchor="ctr"/>
          <a:lstStyle/>
          <a:p>
            <a:pPr algn="ctr"/>
          </a:p>
        </p:txBody>
      </p:sp>
      <p:sp>
        <p:nvSpPr>
          <p:cNvPr id="11" name="HdrTxt0"/>
          <p:cNvSpPr txBox="1"/>
          <p:nvPr/>
        </p:nvSpPr>
        <p:spPr>
          <a:xfrm>
            <a:off x="548640" y="1371600"/>
            <a:ext cx="3017520" cy="457200"/>
          </a:xfrm>
          <a:prstGeom prst="rect">
            <a:avLst/>
          </a:prstGeom>
          <a:noFill/>
        </p:spPr>
        <p:txBody>
          <a:bodyPr wrap="square">
            <a:spAutoFit/>
          </a:bodyPr>
          <a:lstStyle/>
          <a:p>
            <a:pPr algn="l">
              <a:defRPr sz="1400" b="1">
                <a:solidFill>
                  <a:srgbClr val="FFFFFF"/>
                </a:solidFill>
                <a:latin typeface="Calibri"/>
              </a:defRPr>
            </a:pPr>
            <a:r>
              <a:t>Feature</a:t>
            </a:r>
          </a:p>
        </p:txBody>
      </p:sp>
      <p:sp>
        <p:nvSpPr>
          <p:cNvPr id="12" name="HdrBg1"/>
          <p:cNvSpPr/>
          <p:nvPr/>
        </p:nvSpPr>
        <p:spPr>
          <a:xfrm>
            <a:off x="3657600" y="1280160"/>
            <a:ext cx="2267712" cy="548640"/>
          </a:xfrm>
          <a:prstGeom prst="rect">
            <a:avLst/>
          </a:prstGeom>
          <a:solidFill>
            <a:srgbClr val="005C2E"/>
          </a:solidFill>
          <a:ln>
            <a:noFill/>
          </a:ln>
        </p:spPr>
        <p:txBody>
          <a:bodyPr rtlCol="0" anchor="ctr"/>
          <a:lstStyle/>
          <a:p>
            <a:pPr algn="ctr"/>
          </a:p>
        </p:txBody>
      </p:sp>
      <p:sp>
        <p:nvSpPr>
          <p:cNvPr id="13" name="HdrTxt1"/>
          <p:cNvSpPr txBox="1"/>
          <p:nvPr/>
        </p:nvSpPr>
        <p:spPr>
          <a:xfrm>
            <a:off x="3749040" y="1371600"/>
            <a:ext cx="2103120" cy="457200"/>
          </a:xfrm>
          <a:prstGeom prst="rect">
            <a:avLst/>
          </a:prstGeom>
          <a:noFill/>
        </p:spPr>
        <p:txBody>
          <a:bodyPr wrap="square">
            <a:spAutoFit/>
          </a:bodyPr>
          <a:lstStyle/>
          <a:p>
            <a:pPr algn="c">
              <a:defRPr sz="1400" b="1">
                <a:solidFill>
                  <a:srgbClr val="FFFFFF"/>
                </a:solidFill>
                <a:latin typeface="Calibri"/>
              </a:defRPr>
            </a:pPr>
            <a:r>
              <a:t>Our Platform</a:t>
            </a:r>
          </a:p>
        </p:txBody>
      </p:sp>
      <p:sp>
        <p:nvSpPr>
          <p:cNvPr id="14" name="HdrBg2"/>
          <p:cNvSpPr/>
          <p:nvPr/>
        </p:nvSpPr>
        <p:spPr>
          <a:xfrm>
            <a:off x="5943600" y="1280160"/>
            <a:ext cx="2724912" cy="548640"/>
          </a:xfrm>
          <a:prstGeom prst="rect">
            <a:avLst/>
          </a:prstGeom>
          <a:solidFill>
            <a:srgbClr val="4A1942"/>
          </a:solidFill>
          <a:ln>
            <a:noFill/>
          </a:ln>
        </p:spPr>
        <p:txBody>
          <a:bodyPr rtlCol="0" anchor="ctr"/>
          <a:lstStyle/>
          <a:p>
            <a:pPr algn="ctr"/>
          </a:p>
        </p:txBody>
      </p:sp>
      <p:sp>
        <p:nvSpPr>
          <p:cNvPr id="15" name="HdrTxt2"/>
          <p:cNvSpPr txBox="1"/>
          <p:nvPr/>
        </p:nvSpPr>
        <p:spPr>
          <a:xfrm>
            <a:off x="6035040" y="1371600"/>
            <a:ext cx="2560320" cy="457200"/>
          </a:xfrm>
          <a:prstGeom prst="rect">
            <a:avLst/>
          </a:prstGeom>
          <a:noFill/>
        </p:spPr>
        <p:txBody>
          <a:bodyPr wrap="square">
            <a:spAutoFit/>
          </a:bodyPr>
          <a:lstStyle/>
          <a:p>
            <a:pPr algn="c">
              <a:defRPr sz="1400" b="1">
                <a:solidFill>
                  <a:srgbClr val="FFFFFF"/>
                </a:solidFill>
                <a:latin typeface="Calibri"/>
              </a:defRPr>
            </a:pPr>
            <a:r>
              <a:t>ChatGPT Enterprise</a:t>
            </a:r>
          </a:p>
        </p:txBody>
      </p:sp>
      <p:sp>
        <p:nvSpPr>
          <p:cNvPr id="16" name="HdrBg3"/>
          <p:cNvSpPr/>
          <p:nvPr/>
        </p:nvSpPr>
        <p:spPr>
          <a:xfrm>
            <a:off x="8686800" y="1280160"/>
            <a:ext cx="2724912" cy="548640"/>
          </a:xfrm>
          <a:prstGeom prst="rect">
            <a:avLst/>
          </a:prstGeom>
          <a:solidFill>
            <a:srgbClr val="1A3A5C"/>
          </a:solidFill>
          <a:ln>
            <a:noFill/>
          </a:ln>
        </p:spPr>
        <p:txBody>
          <a:bodyPr rtlCol="0" anchor="ctr"/>
          <a:lstStyle/>
          <a:p>
            <a:pPr algn="ctr"/>
          </a:p>
        </p:txBody>
      </p:sp>
      <p:sp>
        <p:nvSpPr>
          <p:cNvPr id="17" name="HdrTxt3"/>
          <p:cNvSpPr txBox="1"/>
          <p:nvPr/>
        </p:nvSpPr>
        <p:spPr>
          <a:xfrm>
            <a:off x="8778240" y="1371600"/>
            <a:ext cx="2560320" cy="457200"/>
          </a:xfrm>
          <a:prstGeom prst="rect">
            <a:avLst/>
          </a:prstGeom>
          <a:noFill/>
        </p:spPr>
        <p:txBody>
          <a:bodyPr wrap="square">
            <a:spAutoFit/>
          </a:bodyPr>
          <a:lstStyle/>
          <a:p>
            <a:pPr algn="c">
              <a:defRPr sz="1400" b="1">
                <a:solidFill>
                  <a:srgbClr val="FFFFFF"/>
                </a:solidFill>
                <a:latin typeface="Calibri"/>
              </a:defRPr>
            </a:pPr>
            <a:r>
              <a:t>Azure OpenAI</a:t>
            </a:r>
          </a:p>
        </p:txBody>
      </p:sp>
      <p:sp>
        <p:nvSpPr>
          <p:cNvPr id="18" name="Cell0_0"/>
          <p:cNvSpPr/>
          <p:nvPr/>
        </p:nvSpPr>
        <p:spPr>
          <a:xfrm>
            <a:off x="457200" y="1828800"/>
            <a:ext cx="3182112" cy="438912"/>
          </a:xfrm>
          <a:prstGeom prst="rect">
            <a:avLst/>
          </a:prstGeom>
          <a:solidFill>
            <a:srgbClr val="25253A"/>
          </a:solidFill>
          <a:ln>
            <a:noFill/>
          </a:ln>
        </p:spPr>
        <p:txBody>
          <a:bodyPr rtlCol="0" anchor="ctr"/>
          <a:lstStyle/>
          <a:p>
            <a:pPr algn="ctr"/>
          </a:p>
        </p:txBody>
      </p:sp>
      <p:sp>
        <p:nvSpPr>
          <p:cNvPr id="19" name="CellTxt0_0"/>
          <p:cNvSpPr txBox="1"/>
          <p:nvPr/>
        </p:nvSpPr>
        <p:spPr>
          <a:xfrm>
            <a:off x="548640" y="1920240"/>
            <a:ext cx="3017520" cy="274320"/>
          </a:xfrm>
          <a:prstGeom prst="rect">
            <a:avLst/>
          </a:prstGeom>
          <a:noFill/>
        </p:spPr>
        <p:txBody>
          <a:bodyPr wrap="square">
            <a:spAutoFit/>
          </a:bodyPr>
          <a:lstStyle/>
          <a:p>
            <a:pPr algn="l">
              <a:defRPr sz="1200" b="0">
                <a:solidFill>
                  <a:srgbClr val="E0E0E0"/>
                </a:solidFill>
                <a:latin typeface="Calibri"/>
              </a:defRPr>
            </a:pPr>
            <a:r>
              <a:t>Data stays on-premise</a:t>
            </a:r>
          </a:p>
        </p:txBody>
      </p:sp>
      <p:sp>
        <p:nvSpPr>
          <p:cNvPr id="20" name="Cell0_1"/>
          <p:cNvSpPr/>
          <p:nvPr/>
        </p:nvSpPr>
        <p:spPr>
          <a:xfrm>
            <a:off x="3657600" y="1828800"/>
            <a:ext cx="2267712" cy="438912"/>
          </a:xfrm>
          <a:prstGeom prst="rect">
            <a:avLst/>
          </a:prstGeom>
          <a:solidFill>
            <a:srgbClr val="25253A"/>
          </a:solidFill>
          <a:ln>
            <a:noFill/>
          </a:ln>
        </p:spPr>
        <p:txBody>
          <a:bodyPr rtlCol="0" anchor="ctr"/>
          <a:lstStyle/>
          <a:p>
            <a:pPr algn="ctr"/>
          </a:p>
        </p:txBody>
      </p:sp>
      <p:sp>
        <p:nvSpPr>
          <p:cNvPr id="21" name="CellTxt0_1"/>
          <p:cNvSpPr txBox="1"/>
          <p:nvPr/>
        </p:nvSpPr>
        <p:spPr>
          <a:xfrm>
            <a:off x="3749040" y="1920240"/>
            <a:ext cx="2103120" cy="274320"/>
          </a:xfrm>
          <a:prstGeom prst="rect">
            <a:avLst/>
          </a:prstGeom>
          <a:noFill/>
        </p:spPr>
        <p:txBody>
          <a:bodyPr wrap="square">
            <a:spAutoFit/>
          </a:bodyPr>
          <a:lstStyle/>
          <a:p>
            <a:pPr algn="c">
              <a:defRPr sz="1200" b="1">
                <a:solidFill>
                  <a:srgbClr val="44DD88"/>
                </a:solidFill>
                <a:latin typeface="Calibri"/>
              </a:defRPr>
            </a:pPr>
            <a:r>
              <a:t>YES</a:t>
            </a:r>
          </a:p>
        </p:txBody>
      </p:sp>
      <p:sp>
        <p:nvSpPr>
          <p:cNvPr id="22" name="Cell0_2"/>
          <p:cNvSpPr/>
          <p:nvPr/>
        </p:nvSpPr>
        <p:spPr>
          <a:xfrm>
            <a:off x="5943600" y="1828800"/>
            <a:ext cx="2724912" cy="438912"/>
          </a:xfrm>
          <a:prstGeom prst="rect">
            <a:avLst/>
          </a:prstGeom>
          <a:solidFill>
            <a:srgbClr val="25253A"/>
          </a:solidFill>
          <a:ln>
            <a:noFill/>
          </a:ln>
        </p:spPr>
        <p:txBody>
          <a:bodyPr rtlCol="0" anchor="ctr"/>
          <a:lstStyle/>
          <a:p>
            <a:pPr algn="ctr"/>
          </a:p>
        </p:txBody>
      </p:sp>
      <p:sp>
        <p:nvSpPr>
          <p:cNvPr id="23" name="CellTxt0_2"/>
          <p:cNvSpPr txBox="1"/>
          <p:nvPr/>
        </p:nvSpPr>
        <p:spPr>
          <a:xfrm>
            <a:off x="6035040" y="1920240"/>
            <a:ext cx="2560320" cy="274320"/>
          </a:xfrm>
          <a:prstGeom prst="rect">
            <a:avLst/>
          </a:prstGeom>
          <a:noFill/>
        </p:spPr>
        <p:txBody>
          <a:bodyPr wrap="square">
            <a:spAutoFit/>
          </a:bodyPr>
          <a:lstStyle/>
          <a:p>
            <a:pPr algn="c">
              <a:defRPr sz="1200" b="1">
                <a:solidFill>
                  <a:srgbClr val="DD4444"/>
                </a:solidFill>
                <a:latin typeface="Calibri"/>
              </a:defRPr>
            </a:pPr>
            <a:r>
              <a:t>NO</a:t>
            </a:r>
          </a:p>
        </p:txBody>
      </p:sp>
      <p:sp>
        <p:nvSpPr>
          <p:cNvPr id="24" name="Cell0_3"/>
          <p:cNvSpPr/>
          <p:nvPr/>
        </p:nvSpPr>
        <p:spPr>
          <a:xfrm>
            <a:off x="8686800" y="1828800"/>
            <a:ext cx="2724912" cy="438912"/>
          </a:xfrm>
          <a:prstGeom prst="rect">
            <a:avLst/>
          </a:prstGeom>
          <a:solidFill>
            <a:srgbClr val="25253A"/>
          </a:solidFill>
          <a:ln>
            <a:noFill/>
          </a:ln>
        </p:spPr>
        <p:txBody>
          <a:bodyPr rtlCol="0" anchor="ctr"/>
          <a:lstStyle/>
          <a:p>
            <a:pPr algn="ctr"/>
          </a:p>
        </p:txBody>
      </p:sp>
      <p:sp>
        <p:nvSpPr>
          <p:cNvPr id="25" name="CellTxt0_3"/>
          <p:cNvSpPr txBox="1"/>
          <p:nvPr/>
        </p:nvSpPr>
        <p:spPr>
          <a:xfrm>
            <a:off x="8778240" y="1920240"/>
            <a:ext cx="2560320" cy="274320"/>
          </a:xfrm>
          <a:prstGeom prst="rect">
            <a:avLst/>
          </a:prstGeom>
          <a:noFill/>
        </p:spPr>
        <p:txBody>
          <a:bodyPr wrap="square">
            <a:spAutoFit/>
          </a:bodyPr>
          <a:lstStyle/>
          <a:p>
            <a:pPr algn="c">
              <a:defRPr sz="1200" b="1">
                <a:solidFill>
                  <a:srgbClr val="DD4444"/>
                </a:solidFill>
                <a:latin typeface="Calibri"/>
              </a:defRPr>
            </a:pPr>
            <a:r>
              <a:t>NO</a:t>
            </a:r>
          </a:p>
        </p:txBody>
      </p:sp>
      <p:sp>
        <p:nvSpPr>
          <p:cNvPr id="26" name="Cell1_0"/>
          <p:cNvSpPr/>
          <p:nvPr/>
        </p:nvSpPr>
        <p:spPr>
          <a:xfrm>
            <a:off x="457200" y="2286000"/>
            <a:ext cx="3182112" cy="438912"/>
          </a:xfrm>
          <a:prstGeom prst="rect">
            <a:avLst/>
          </a:prstGeom>
          <a:solidFill>
            <a:srgbClr val="1E2040"/>
          </a:solidFill>
          <a:ln>
            <a:noFill/>
          </a:ln>
        </p:spPr>
        <p:txBody>
          <a:bodyPr rtlCol="0" anchor="ctr"/>
          <a:lstStyle/>
          <a:p>
            <a:pPr algn="ctr"/>
          </a:p>
        </p:txBody>
      </p:sp>
      <p:sp>
        <p:nvSpPr>
          <p:cNvPr id="27" name="CellTxt1_0"/>
          <p:cNvSpPr txBox="1"/>
          <p:nvPr/>
        </p:nvSpPr>
        <p:spPr>
          <a:xfrm>
            <a:off x="548640" y="2377440"/>
            <a:ext cx="3017520" cy="274320"/>
          </a:xfrm>
          <a:prstGeom prst="rect">
            <a:avLst/>
          </a:prstGeom>
          <a:noFill/>
        </p:spPr>
        <p:txBody>
          <a:bodyPr wrap="square">
            <a:spAutoFit/>
          </a:bodyPr>
          <a:lstStyle/>
          <a:p>
            <a:pPr algn="l">
              <a:defRPr sz="1200" b="0">
                <a:solidFill>
                  <a:srgbClr val="E0E0E0"/>
                </a:solidFill>
                <a:latin typeface="Calibri"/>
              </a:defRPr>
            </a:pPr>
            <a:r>
              <a:t>SAP/MES integration</a:t>
            </a:r>
          </a:p>
        </p:txBody>
      </p:sp>
      <p:sp>
        <p:nvSpPr>
          <p:cNvPr id="28" name="Cell1_1"/>
          <p:cNvSpPr/>
          <p:nvPr/>
        </p:nvSpPr>
        <p:spPr>
          <a:xfrm>
            <a:off x="3657600" y="2286000"/>
            <a:ext cx="2267712" cy="438912"/>
          </a:xfrm>
          <a:prstGeom prst="rect">
            <a:avLst/>
          </a:prstGeom>
          <a:solidFill>
            <a:srgbClr val="1E2040"/>
          </a:solidFill>
          <a:ln>
            <a:noFill/>
          </a:ln>
        </p:spPr>
        <p:txBody>
          <a:bodyPr rtlCol="0" anchor="ctr"/>
          <a:lstStyle/>
          <a:p>
            <a:pPr algn="ctr"/>
          </a:p>
        </p:txBody>
      </p:sp>
      <p:sp>
        <p:nvSpPr>
          <p:cNvPr id="29" name="CellTxt1_1"/>
          <p:cNvSpPr txBox="1"/>
          <p:nvPr/>
        </p:nvSpPr>
        <p:spPr>
          <a:xfrm>
            <a:off x="3749040" y="2377440"/>
            <a:ext cx="2103120" cy="274320"/>
          </a:xfrm>
          <a:prstGeom prst="rect">
            <a:avLst/>
          </a:prstGeom>
          <a:noFill/>
        </p:spPr>
        <p:txBody>
          <a:bodyPr wrap="square">
            <a:spAutoFit/>
          </a:bodyPr>
          <a:lstStyle/>
          <a:p>
            <a:pPr algn="c">
              <a:defRPr sz="1200" b="1">
                <a:solidFill>
                  <a:srgbClr val="44DD88"/>
                </a:solidFill>
                <a:latin typeface="Calibri"/>
              </a:defRPr>
            </a:pPr>
            <a:r>
              <a:t>YES</a:t>
            </a:r>
          </a:p>
        </p:txBody>
      </p:sp>
      <p:sp>
        <p:nvSpPr>
          <p:cNvPr id="30" name="Cell1_2"/>
          <p:cNvSpPr/>
          <p:nvPr/>
        </p:nvSpPr>
        <p:spPr>
          <a:xfrm>
            <a:off x="5943600" y="2286000"/>
            <a:ext cx="2724912" cy="438912"/>
          </a:xfrm>
          <a:prstGeom prst="rect">
            <a:avLst/>
          </a:prstGeom>
          <a:solidFill>
            <a:srgbClr val="1E2040"/>
          </a:solidFill>
          <a:ln>
            <a:noFill/>
          </a:ln>
        </p:spPr>
        <p:txBody>
          <a:bodyPr rtlCol="0" anchor="ctr"/>
          <a:lstStyle/>
          <a:p>
            <a:pPr algn="ctr"/>
          </a:p>
        </p:txBody>
      </p:sp>
      <p:sp>
        <p:nvSpPr>
          <p:cNvPr id="31" name="CellTxt1_2"/>
          <p:cNvSpPr txBox="1"/>
          <p:nvPr/>
        </p:nvSpPr>
        <p:spPr>
          <a:xfrm>
            <a:off x="6035040" y="2377440"/>
            <a:ext cx="2560320" cy="274320"/>
          </a:xfrm>
          <a:prstGeom prst="rect">
            <a:avLst/>
          </a:prstGeom>
          <a:noFill/>
        </p:spPr>
        <p:txBody>
          <a:bodyPr wrap="square">
            <a:spAutoFit/>
          </a:bodyPr>
          <a:lstStyle/>
          <a:p>
            <a:pPr algn="c">
              <a:defRPr sz="1200" b="1">
                <a:solidFill>
                  <a:srgbClr val="DD4444"/>
                </a:solidFill>
                <a:latin typeface="Calibri"/>
              </a:defRPr>
            </a:pPr>
            <a:r>
              <a:t>NO</a:t>
            </a:r>
          </a:p>
        </p:txBody>
      </p:sp>
      <p:sp>
        <p:nvSpPr>
          <p:cNvPr id="32" name="Cell1_3"/>
          <p:cNvSpPr/>
          <p:nvPr/>
        </p:nvSpPr>
        <p:spPr>
          <a:xfrm>
            <a:off x="8686800" y="2286000"/>
            <a:ext cx="2724912" cy="438912"/>
          </a:xfrm>
          <a:prstGeom prst="rect">
            <a:avLst/>
          </a:prstGeom>
          <a:solidFill>
            <a:srgbClr val="1E2040"/>
          </a:solidFill>
          <a:ln>
            <a:noFill/>
          </a:ln>
        </p:spPr>
        <p:txBody>
          <a:bodyPr rtlCol="0" anchor="ctr"/>
          <a:lstStyle/>
          <a:p>
            <a:pPr algn="ctr"/>
          </a:p>
        </p:txBody>
      </p:sp>
      <p:sp>
        <p:nvSpPr>
          <p:cNvPr id="33" name="CellTxt1_3"/>
          <p:cNvSpPr txBox="1"/>
          <p:nvPr/>
        </p:nvSpPr>
        <p:spPr>
          <a:xfrm>
            <a:off x="8778240" y="2377440"/>
            <a:ext cx="2560320" cy="274320"/>
          </a:xfrm>
          <a:prstGeom prst="rect">
            <a:avLst/>
          </a:prstGeom>
          <a:noFill/>
        </p:spPr>
        <p:txBody>
          <a:bodyPr wrap="square">
            <a:spAutoFit/>
          </a:bodyPr>
          <a:lstStyle/>
          <a:p>
            <a:pPr algn="c">
              <a:defRPr sz="1200" b="1">
                <a:solidFill>
                  <a:srgbClr val="DD4444"/>
                </a:solidFill>
                <a:latin typeface="Calibri"/>
              </a:defRPr>
            </a:pPr>
            <a:r>
              <a:t>NO</a:t>
            </a:r>
          </a:p>
        </p:txBody>
      </p:sp>
      <p:sp>
        <p:nvSpPr>
          <p:cNvPr id="34" name="Cell2_0"/>
          <p:cNvSpPr/>
          <p:nvPr/>
        </p:nvSpPr>
        <p:spPr>
          <a:xfrm>
            <a:off x="457200" y="2743200"/>
            <a:ext cx="3182112" cy="438912"/>
          </a:xfrm>
          <a:prstGeom prst="rect">
            <a:avLst/>
          </a:prstGeom>
          <a:solidFill>
            <a:srgbClr val="25253A"/>
          </a:solidFill>
          <a:ln>
            <a:noFill/>
          </a:ln>
        </p:spPr>
        <p:txBody>
          <a:bodyPr rtlCol="0" anchor="ctr"/>
          <a:lstStyle/>
          <a:p>
            <a:pPr algn="ctr"/>
          </a:p>
        </p:txBody>
      </p:sp>
      <p:sp>
        <p:nvSpPr>
          <p:cNvPr id="35" name="CellTxt2_0"/>
          <p:cNvSpPr txBox="1"/>
          <p:nvPr/>
        </p:nvSpPr>
        <p:spPr>
          <a:xfrm>
            <a:off x="548640" y="2834640"/>
            <a:ext cx="3017520" cy="274320"/>
          </a:xfrm>
          <a:prstGeom prst="rect">
            <a:avLst/>
          </a:prstGeom>
          <a:noFill/>
        </p:spPr>
        <p:txBody>
          <a:bodyPr wrap="square">
            <a:spAutoFit/>
          </a:bodyPr>
          <a:lstStyle/>
          <a:p>
            <a:pPr algn="l">
              <a:defRPr sz="1200" b="0">
                <a:solidFill>
                  <a:srgbClr val="E0E0E0"/>
                </a:solidFill>
                <a:latin typeface="Calibri"/>
              </a:defRPr>
            </a:pPr>
            <a:r>
              <a:t>Custom reasoning engine</a:t>
            </a:r>
          </a:p>
        </p:txBody>
      </p:sp>
      <p:sp>
        <p:nvSpPr>
          <p:cNvPr id="36" name="Cell2_1"/>
          <p:cNvSpPr/>
          <p:nvPr/>
        </p:nvSpPr>
        <p:spPr>
          <a:xfrm>
            <a:off x="3657600" y="2743200"/>
            <a:ext cx="2267712" cy="438912"/>
          </a:xfrm>
          <a:prstGeom prst="rect">
            <a:avLst/>
          </a:prstGeom>
          <a:solidFill>
            <a:srgbClr val="25253A"/>
          </a:solidFill>
          <a:ln>
            <a:noFill/>
          </a:ln>
        </p:spPr>
        <p:txBody>
          <a:bodyPr rtlCol="0" anchor="ctr"/>
          <a:lstStyle/>
          <a:p>
            <a:pPr algn="ctr"/>
          </a:p>
        </p:txBody>
      </p:sp>
      <p:sp>
        <p:nvSpPr>
          <p:cNvPr id="37" name="CellTxt2_1"/>
          <p:cNvSpPr txBox="1"/>
          <p:nvPr/>
        </p:nvSpPr>
        <p:spPr>
          <a:xfrm>
            <a:off x="3749040" y="2834640"/>
            <a:ext cx="2103120" cy="274320"/>
          </a:xfrm>
          <a:prstGeom prst="rect">
            <a:avLst/>
          </a:prstGeom>
          <a:noFill/>
        </p:spPr>
        <p:txBody>
          <a:bodyPr wrap="square">
            <a:spAutoFit/>
          </a:bodyPr>
          <a:lstStyle/>
          <a:p>
            <a:pPr algn="c">
              <a:defRPr sz="1200" b="1">
                <a:solidFill>
                  <a:srgbClr val="44DD88"/>
                </a:solidFill>
                <a:latin typeface="Calibri"/>
              </a:defRPr>
            </a:pPr>
            <a:r>
              <a:t>YES</a:t>
            </a:r>
          </a:p>
        </p:txBody>
      </p:sp>
      <p:sp>
        <p:nvSpPr>
          <p:cNvPr id="38" name="Cell2_2"/>
          <p:cNvSpPr/>
          <p:nvPr/>
        </p:nvSpPr>
        <p:spPr>
          <a:xfrm>
            <a:off x="5943600" y="2743200"/>
            <a:ext cx="2724912" cy="438912"/>
          </a:xfrm>
          <a:prstGeom prst="rect">
            <a:avLst/>
          </a:prstGeom>
          <a:solidFill>
            <a:srgbClr val="25253A"/>
          </a:solidFill>
          <a:ln>
            <a:noFill/>
          </a:ln>
        </p:spPr>
        <p:txBody>
          <a:bodyPr rtlCol="0" anchor="ctr"/>
          <a:lstStyle/>
          <a:p>
            <a:pPr algn="ctr"/>
          </a:p>
        </p:txBody>
      </p:sp>
      <p:sp>
        <p:nvSpPr>
          <p:cNvPr id="39" name="CellTxt2_2"/>
          <p:cNvSpPr txBox="1"/>
          <p:nvPr/>
        </p:nvSpPr>
        <p:spPr>
          <a:xfrm>
            <a:off x="6035040" y="2834640"/>
            <a:ext cx="2560320" cy="274320"/>
          </a:xfrm>
          <a:prstGeom prst="rect">
            <a:avLst/>
          </a:prstGeom>
          <a:noFill/>
        </p:spPr>
        <p:txBody>
          <a:bodyPr wrap="square">
            <a:spAutoFit/>
          </a:bodyPr>
          <a:lstStyle/>
          <a:p>
            <a:pPr algn="c">
              <a:defRPr sz="1200" b="1">
                <a:solidFill>
                  <a:srgbClr val="DD4444"/>
                </a:solidFill>
                <a:latin typeface="Calibri"/>
              </a:defRPr>
            </a:pPr>
            <a:r>
              <a:t>NO</a:t>
            </a:r>
          </a:p>
        </p:txBody>
      </p:sp>
      <p:sp>
        <p:nvSpPr>
          <p:cNvPr id="40" name="Cell2_3"/>
          <p:cNvSpPr/>
          <p:nvPr/>
        </p:nvSpPr>
        <p:spPr>
          <a:xfrm>
            <a:off x="8686800" y="2743200"/>
            <a:ext cx="2724912" cy="438912"/>
          </a:xfrm>
          <a:prstGeom prst="rect">
            <a:avLst/>
          </a:prstGeom>
          <a:solidFill>
            <a:srgbClr val="25253A"/>
          </a:solidFill>
          <a:ln>
            <a:noFill/>
          </a:ln>
        </p:spPr>
        <p:txBody>
          <a:bodyPr rtlCol="0" anchor="ctr"/>
          <a:lstStyle/>
          <a:p>
            <a:pPr algn="ctr"/>
          </a:p>
        </p:txBody>
      </p:sp>
      <p:sp>
        <p:nvSpPr>
          <p:cNvPr id="41" name="CellTxt2_3"/>
          <p:cNvSpPr txBox="1"/>
          <p:nvPr/>
        </p:nvSpPr>
        <p:spPr>
          <a:xfrm>
            <a:off x="8778240" y="2834640"/>
            <a:ext cx="2560320" cy="274320"/>
          </a:xfrm>
          <a:prstGeom prst="rect">
            <a:avLst/>
          </a:prstGeom>
          <a:noFill/>
        </p:spPr>
        <p:txBody>
          <a:bodyPr wrap="square">
            <a:spAutoFit/>
          </a:bodyPr>
          <a:lstStyle/>
          <a:p>
            <a:pPr algn="c">
              <a:defRPr sz="1200" b="1">
                <a:solidFill>
                  <a:srgbClr val="DD4444"/>
                </a:solidFill>
                <a:latin typeface="Calibri"/>
              </a:defRPr>
            </a:pPr>
            <a:r>
              <a:t>NO</a:t>
            </a:r>
          </a:p>
        </p:txBody>
      </p:sp>
      <p:sp>
        <p:nvSpPr>
          <p:cNvPr id="42" name="Cell3_0"/>
          <p:cNvSpPr/>
          <p:nvPr/>
        </p:nvSpPr>
        <p:spPr>
          <a:xfrm>
            <a:off x="457200" y="3200400"/>
            <a:ext cx="3182112" cy="438912"/>
          </a:xfrm>
          <a:prstGeom prst="rect">
            <a:avLst/>
          </a:prstGeom>
          <a:solidFill>
            <a:srgbClr val="1E2040"/>
          </a:solidFill>
          <a:ln>
            <a:noFill/>
          </a:ln>
        </p:spPr>
        <p:txBody>
          <a:bodyPr rtlCol="0" anchor="ctr"/>
          <a:lstStyle/>
          <a:p>
            <a:pPr algn="ctr"/>
          </a:p>
        </p:txBody>
      </p:sp>
      <p:sp>
        <p:nvSpPr>
          <p:cNvPr id="43" name="CellTxt3_0"/>
          <p:cNvSpPr txBox="1"/>
          <p:nvPr/>
        </p:nvSpPr>
        <p:spPr>
          <a:xfrm>
            <a:off x="548640" y="3291840"/>
            <a:ext cx="3017520" cy="274320"/>
          </a:xfrm>
          <a:prstGeom prst="rect">
            <a:avLst/>
          </a:prstGeom>
          <a:noFill/>
        </p:spPr>
        <p:txBody>
          <a:bodyPr wrap="square">
            <a:spAutoFit/>
          </a:bodyPr>
          <a:lstStyle/>
          <a:p>
            <a:pPr algn="l">
              <a:defRPr sz="1200" b="0">
                <a:solidFill>
                  <a:srgbClr val="E0E0E0"/>
                </a:solidFill>
                <a:latin typeface="Calibri"/>
              </a:defRPr>
            </a:pPr>
            <a:r>
              <a:t>Human-in-the-loop writes</a:t>
            </a:r>
          </a:p>
        </p:txBody>
      </p:sp>
      <p:sp>
        <p:nvSpPr>
          <p:cNvPr id="44" name="Cell3_1"/>
          <p:cNvSpPr/>
          <p:nvPr/>
        </p:nvSpPr>
        <p:spPr>
          <a:xfrm>
            <a:off x="3657600" y="3200400"/>
            <a:ext cx="2267712" cy="438912"/>
          </a:xfrm>
          <a:prstGeom prst="rect">
            <a:avLst/>
          </a:prstGeom>
          <a:solidFill>
            <a:srgbClr val="1E2040"/>
          </a:solidFill>
          <a:ln>
            <a:noFill/>
          </a:ln>
        </p:spPr>
        <p:txBody>
          <a:bodyPr rtlCol="0" anchor="ctr"/>
          <a:lstStyle/>
          <a:p>
            <a:pPr algn="ctr"/>
          </a:p>
        </p:txBody>
      </p:sp>
      <p:sp>
        <p:nvSpPr>
          <p:cNvPr id="45" name="CellTxt3_1"/>
          <p:cNvSpPr txBox="1"/>
          <p:nvPr/>
        </p:nvSpPr>
        <p:spPr>
          <a:xfrm>
            <a:off x="3749040" y="3291840"/>
            <a:ext cx="2103120" cy="274320"/>
          </a:xfrm>
          <a:prstGeom prst="rect">
            <a:avLst/>
          </a:prstGeom>
          <a:noFill/>
        </p:spPr>
        <p:txBody>
          <a:bodyPr wrap="square">
            <a:spAutoFit/>
          </a:bodyPr>
          <a:lstStyle/>
          <a:p>
            <a:pPr algn="c">
              <a:defRPr sz="1200" b="1">
                <a:solidFill>
                  <a:srgbClr val="44DD88"/>
                </a:solidFill>
                <a:latin typeface="Calibri"/>
              </a:defRPr>
            </a:pPr>
            <a:r>
              <a:t>YES</a:t>
            </a:r>
          </a:p>
        </p:txBody>
      </p:sp>
      <p:sp>
        <p:nvSpPr>
          <p:cNvPr id="46" name="Cell3_2"/>
          <p:cNvSpPr/>
          <p:nvPr/>
        </p:nvSpPr>
        <p:spPr>
          <a:xfrm>
            <a:off x="5943600" y="3200400"/>
            <a:ext cx="2724912" cy="438912"/>
          </a:xfrm>
          <a:prstGeom prst="rect">
            <a:avLst/>
          </a:prstGeom>
          <a:solidFill>
            <a:srgbClr val="1E2040"/>
          </a:solidFill>
          <a:ln>
            <a:noFill/>
          </a:ln>
        </p:spPr>
        <p:txBody>
          <a:bodyPr rtlCol="0" anchor="ctr"/>
          <a:lstStyle/>
          <a:p>
            <a:pPr algn="ctr"/>
          </a:p>
        </p:txBody>
      </p:sp>
      <p:sp>
        <p:nvSpPr>
          <p:cNvPr id="47" name="CellTxt3_2"/>
          <p:cNvSpPr txBox="1"/>
          <p:nvPr/>
        </p:nvSpPr>
        <p:spPr>
          <a:xfrm>
            <a:off x="6035040" y="3291840"/>
            <a:ext cx="2560320" cy="274320"/>
          </a:xfrm>
          <a:prstGeom prst="rect">
            <a:avLst/>
          </a:prstGeom>
          <a:noFill/>
        </p:spPr>
        <p:txBody>
          <a:bodyPr wrap="square">
            <a:spAutoFit/>
          </a:bodyPr>
          <a:lstStyle/>
          <a:p>
            <a:pPr algn="c">
              <a:defRPr sz="1200" b="1">
                <a:solidFill>
                  <a:srgbClr val="DD4444"/>
                </a:solidFill>
                <a:latin typeface="Calibri"/>
              </a:defRPr>
            </a:pPr>
            <a:r>
              <a:t>NO</a:t>
            </a:r>
          </a:p>
        </p:txBody>
      </p:sp>
      <p:sp>
        <p:nvSpPr>
          <p:cNvPr id="48" name="Cell3_3"/>
          <p:cNvSpPr/>
          <p:nvPr/>
        </p:nvSpPr>
        <p:spPr>
          <a:xfrm>
            <a:off x="8686800" y="3200400"/>
            <a:ext cx="2724912" cy="438912"/>
          </a:xfrm>
          <a:prstGeom prst="rect">
            <a:avLst/>
          </a:prstGeom>
          <a:solidFill>
            <a:srgbClr val="1E2040"/>
          </a:solidFill>
          <a:ln>
            <a:noFill/>
          </a:ln>
        </p:spPr>
        <p:txBody>
          <a:bodyPr rtlCol="0" anchor="ctr"/>
          <a:lstStyle/>
          <a:p>
            <a:pPr algn="ctr"/>
          </a:p>
        </p:txBody>
      </p:sp>
      <p:sp>
        <p:nvSpPr>
          <p:cNvPr id="49" name="CellTxt3_3"/>
          <p:cNvSpPr txBox="1"/>
          <p:nvPr/>
        </p:nvSpPr>
        <p:spPr>
          <a:xfrm>
            <a:off x="8778240" y="3291840"/>
            <a:ext cx="2560320" cy="274320"/>
          </a:xfrm>
          <a:prstGeom prst="rect">
            <a:avLst/>
          </a:prstGeom>
          <a:noFill/>
        </p:spPr>
        <p:txBody>
          <a:bodyPr wrap="square">
            <a:spAutoFit/>
          </a:bodyPr>
          <a:lstStyle/>
          <a:p>
            <a:pPr algn="c">
              <a:defRPr sz="1200" b="1">
                <a:solidFill>
                  <a:srgbClr val="DD4444"/>
                </a:solidFill>
                <a:latin typeface="Calibri"/>
              </a:defRPr>
            </a:pPr>
            <a:r>
              <a:t>NO</a:t>
            </a:r>
          </a:p>
        </p:txBody>
      </p:sp>
      <p:sp>
        <p:nvSpPr>
          <p:cNvPr id="50" name="Cell4_0"/>
          <p:cNvSpPr/>
          <p:nvPr/>
        </p:nvSpPr>
        <p:spPr>
          <a:xfrm>
            <a:off x="457200" y="3657600"/>
            <a:ext cx="3182112" cy="438912"/>
          </a:xfrm>
          <a:prstGeom prst="rect">
            <a:avLst/>
          </a:prstGeom>
          <a:solidFill>
            <a:srgbClr val="25253A"/>
          </a:solidFill>
          <a:ln>
            <a:noFill/>
          </a:ln>
        </p:spPr>
        <p:txBody>
          <a:bodyPr rtlCol="0" anchor="ctr"/>
          <a:lstStyle/>
          <a:p>
            <a:pPr algn="ctr"/>
          </a:p>
        </p:txBody>
      </p:sp>
      <p:sp>
        <p:nvSpPr>
          <p:cNvPr id="51" name="CellTxt4_0"/>
          <p:cNvSpPr txBox="1"/>
          <p:nvPr/>
        </p:nvSpPr>
        <p:spPr>
          <a:xfrm>
            <a:off x="548640" y="3749040"/>
            <a:ext cx="3017520" cy="274320"/>
          </a:xfrm>
          <a:prstGeom prst="rect">
            <a:avLst/>
          </a:prstGeom>
          <a:noFill/>
        </p:spPr>
        <p:txBody>
          <a:bodyPr wrap="square">
            <a:spAutoFit/>
          </a:bodyPr>
          <a:lstStyle/>
          <a:p>
            <a:pPr algn="l">
              <a:defRPr sz="1200" b="0">
                <a:solidFill>
                  <a:srgbClr val="E0E0E0"/>
                </a:solidFill>
                <a:latin typeface="Calibri"/>
              </a:defRPr>
            </a:pPr>
            <a:r>
              <a:t>Fine-tuning on your data</a:t>
            </a:r>
          </a:p>
        </p:txBody>
      </p:sp>
      <p:sp>
        <p:nvSpPr>
          <p:cNvPr id="52" name="Cell4_1"/>
          <p:cNvSpPr/>
          <p:nvPr/>
        </p:nvSpPr>
        <p:spPr>
          <a:xfrm>
            <a:off x="3657600" y="3657600"/>
            <a:ext cx="2267712" cy="438912"/>
          </a:xfrm>
          <a:prstGeom prst="rect">
            <a:avLst/>
          </a:prstGeom>
          <a:solidFill>
            <a:srgbClr val="25253A"/>
          </a:solidFill>
          <a:ln>
            <a:noFill/>
          </a:ln>
        </p:spPr>
        <p:txBody>
          <a:bodyPr rtlCol="0" anchor="ctr"/>
          <a:lstStyle/>
          <a:p>
            <a:pPr algn="ctr"/>
          </a:p>
        </p:txBody>
      </p:sp>
      <p:sp>
        <p:nvSpPr>
          <p:cNvPr id="53" name="CellTxt4_1"/>
          <p:cNvSpPr txBox="1"/>
          <p:nvPr/>
        </p:nvSpPr>
        <p:spPr>
          <a:xfrm>
            <a:off x="3749040" y="3749040"/>
            <a:ext cx="2103120" cy="274320"/>
          </a:xfrm>
          <a:prstGeom prst="rect">
            <a:avLst/>
          </a:prstGeom>
          <a:noFill/>
        </p:spPr>
        <p:txBody>
          <a:bodyPr wrap="square">
            <a:spAutoFit/>
          </a:bodyPr>
          <a:lstStyle/>
          <a:p>
            <a:pPr algn="c">
              <a:defRPr sz="1200" b="1">
                <a:solidFill>
                  <a:srgbClr val="44DD88"/>
                </a:solidFill>
                <a:latin typeface="Calibri"/>
              </a:defRPr>
            </a:pPr>
            <a:r>
              <a:t>YES</a:t>
            </a:r>
          </a:p>
        </p:txBody>
      </p:sp>
      <p:sp>
        <p:nvSpPr>
          <p:cNvPr id="54" name="Cell4_2"/>
          <p:cNvSpPr/>
          <p:nvPr/>
        </p:nvSpPr>
        <p:spPr>
          <a:xfrm>
            <a:off x="5943600" y="3657600"/>
            <a:ext cx="2724912" cy="438912"/>
          </a:xfrm>
          <a:prstGeom prst="rect">
            <a:avLst/>
          </a:prstGeom>
          <a:solidFill>
            <a:srgbClr val="25253A"/>
          </a:solidFill>
          <a:ln>
            <a:noFill/>
          </a:ln>
        </p:spPr>
        <p:txBody>
          <a:bodyPr rtlCol="0" anchor="ctr"/>
          <a:lstStyle/>
          <a:p>
            <a:pPr algn="ctr"/>
          </a:p>
        </p:txBody>
      </p:sp>
      <p:sp>
        <p:nvSpPr>
          <p:cNvPr id="55" name="CellTxt4_2"/>
          <p:cNvSpPr txBox="1"/>
          <p:nvPr/>
        </p:nvSpPr>
        <p:spPr>
          <a:xfrm>
            <a:off x="6035040" y="3749040"/>
            <a:ext cx="2560320" cy="274320"/>
          </a:xfrm>
          <a:prstGeom prst="rect">
            <a:avLst/>
          </a:prstGeom>
          <a:noFill/>
        </p:spPr>
        <p:txBody>
          <a:bodyPr wrap="square">
            <a:spAutoFit/>
          </a:bodyPr>
          <a:lstStyle/>
          <a:p>
            <a:pPr algn="c">
              <a:defRPr sz="1200" b="1">
                <a:solidFill>
                  <a:srgbClr val="DD4444"/>
                </a:solidFill>
                <a:latin typeface="Calibri"/>
              </a:defRPr>
            </a:pPr>
            <a:r>
              <a:t>NO</a:t>
            </a:r>
          </a:p>
        </p:txBody>
      </p:sp>
      <p:sp>
        <p:nvSpPr>
          <p:cNvPr id="56" name="Cell4_3"/>
          <p:cNvSpPr/>
          <p:nvPr/>
        </p:nvSpPr>
        <p:spPr>
          <a:xfrm>
            <a:off x="8686800" y="3657600"/>
            <a:ext cx="2724912" cy="438912"/>
          </a:xfrm>
          <a:prstGeom prst="rect">
            <a:avLst/>
          </a:prstGeom>
          <a:solidFill>
            <a:srgbClr val="25253A"/>
          </a:solidFill>
          <a:ln>
            <a:noFill/>
          </a:ln>
        </p:spPr>
        <p:txBody>
          <a:bodyPr rtlCol="0" anchor="ctr"/>
          <a:lstStyle/>
          <a:p>
            <a:pPr algn="ctr"/>
          </a:p>
        </p:txBody>
      </p:sp>
      <p:sp>
        <p:nvSpPr>
          <p:cNvPr id="57" name="CellTxt4_3"/>
          <p:cNvSpPr txBox="1"/>
          <p:nvPr/>
        </p:nvSpPr>
        <p:spPr>
          <a:xfrm>
            <a:off x="8778240" y="3749040"/>
            <a:ext cx="2560320" cy="274320"/>
          </a:xfrm>
          <a:prstGeom prst="rect">
            <a:avLst/>
          </a:prstGeom>
          <a:noFill/>
        </p:spPr>
        <p:txBody>
          <a:bodyPr wrap="square">
            <a:spAutoFit/>
          </a:bodyPr>
          <a:lstStyle/>
          <a:p>
            <a:pPr algn="c">
              <a:defRPr sz="1200" b="1">
                <a:solidFill>
                  <a:srgbClr val="DDAA44"/>
                </a:solidFill>
                <a:latin typeface="Calibri"/>
              </a:defRPr>
            </a:pPr>
            <a:r>
              <a:t>Partial</a:t>
            </a:r>
          </a:p>
        </p:txBody>
      </p:sp>
      <p:sp>
        <p:nvSpPr>
          <p:cNvPr id="58" name="Cell5_0"/>
          <p:cNvSpPr/>
          <p:nvPr/>
        </p:nvSpPr>
        <p:spPr>
          <a:xfrm>
            <a:off x="457200" y="4114800"/>
            <a:ext cx="3182112" cy="438912"/>
          </a:xfrm>
          <a:prstGeom prst="rect">
            <a:avLst/>
          </a:prstGeom>
          <a:solidFill>
            <a:srgbClr val="1E2040"/>
          </a:solidFill>
          <a:ln>
            <a:noFill/>
          </a:ln>
        </p:spPr>
        <p:txBody>
          <a:bodyPr rtlCol="0" anchor="ctr"/>
          <a:lstStyle/>
          <a:p>
            <a:pPr algn="ctr"/>
          </a:p>
        </p:txBody>
      </p:sp>
      <p:sp>
        <p:nvSpPr>
          <p:cNvPr id="59" name="CellTxt5_0"/>
          <p:cNvSpPr txBox="1"/>
          <p:nvPr/>
        </p:nvSpPr>
        <p:spPr>
          <a:xfrm>
            <a:off x="548640" y="4206240"/>
            <a:ext cx="3017520" cy="274320"/>
          </a:xfrm>
          <a:prstGeom prst="rect">
            <a:avLst/>
          </a:prstGeom>
          <a:noFill/>
        </p:spPr>
        <p:txBody>
          <a:bodyPr wrap="square">
            <a:spAutoFit/>
          </a:bodyPr>
          <a:lstStyle/>
          <a:p>
            <a:pPr algn="l">
              <a:defRPr sz="1200" b="0">
                <a:solidFill>
                  <a:srgbClr val="E0E0E0"/>
                </a:solidFill>
                <a:latin typeface="Calibri"/>
              </a:defRPr>
            </a:pPr>
            <a:r>
              <a:t>Multi-tenant isolation</a:t>
            </a:r>
          </a:p>
        </p:txBody>
      </p:sp>
      <p:sp>
        <p:nvSpPr>
          <p:cNvPr id="60" name="Cell5_1"/>
          <p:cNvSpPr/>
          <p:nvPr/>
        </p:nvSpPr>
        <p:spPr>
          <a:xfrm>
            <a:off x="3657600" y="4114800"/>
            <a:ext cx="2267712" cy="438912"/>
          </a:xfrm>
          <a:prstGeom prst="rect">
            <a:avLst/>
          </a:prstGeom>
          <a:solidFill>
            <a:srgbClr val="1E2040"/>
          </a:solidFill>
          <a:ln>
            <a:noFill/>
          </a:ln>
        </p:spPr>
        <p:txBody>
          <a:bodyPr rtlCol="0" anchor="ctr"/>
          <a:lstStyle/>
          <a:p>
            <a:pPr algn="ctr"/>
          </a:p>
        </p:txBody>
      </p:sp>
      <p:sp>
        <p:nvSpPr>
          <p:cNvPr id="61" name="CellTxt5_1"/>
          <p:cNvSpPr txBox="1"/>
          <p:nvPr/>
        </p:nvSpPr>
        <p:spPr>
          <a:xfrm>
            <a:off x="3749040" y="4206240"/>
            <a:ext cx="2103120" cy="274320"/>
          </a:xfrm>
          <a:prstGeom prst="rect">
            <a:avLst/>
          </a:prstGeom>
          <a:noFill/>
        </p:spPr>
        <p:txBody>
          <a:bodyPr wrap="square">
            <a:spAutoFit/>
          </a:bodyPr>
          <a:lstStyle/>
          <a:p>
            <a:pPr algn="c">
              <a:defRPr sz="1200" b="1">
                <a:solidFill>
                  <a:srgbClr val="44DD88"/>
                </a:solidFill>
                <a:latin typeface="Calibri"/>
              </a:defRPr>
            </a:pPr>
            <a:r>
              <a:t>YES</a:t>
            </a:r>
          </a:p>
        </p:txBody>
      </p:sp>
      <p:sp>
        <p:nvSpPr>
          <p:cNvPr id="62" name="Cell5_2"/>
          <p:cNvSpPr/>
          <p:nvPr/>
        </p:nvSpPr>
        <p:spPr>
          <a:xfrm>
            <a:off x="5943600" y="4114800"/>
            <a:ext cx="2724912" cy="438912"/>
          </a:xfrm>
          <a:prstGeom prst="rect">
            <a:avLst/>
          </a:prstGeom>
          <a:solidFill>
            <a:srgbClr val="1E2040"/>
          </a:solidFill>
          <a:ln>
            <a:noFill/>
          </a:ln>
        </p:spPr>
        <p:txBody>
          <a:bodyPr rtlCol="0" anchor="ctr"/>
          <a:lstStyle/>
          <a:p>
            <a:pPr algn="ctr"/>
          </a:p>
        </p:txBody>
      </p:sp>
      <p:sp>
        <p:nvSpPr>
          <p:cNvPr id="63" name="CellTxt5_2"/>
          <p:cNvSpPr txBox="1"/>
          <p:nvPr/>
        </p:nvSpPr>
        <p:spPr>
          <a:xfrm>
            <a:off x="6035040" y="4206240"/>
            <a:ext cx="2560320" cy="274320"/>
          </a:xfrm>
          <a:prstGeom prst="rect">
            <a:avLst/>
          </a:prstGeom>
          <a:noFill/>
        </p:spPr>
        <p:txBody>
          <a:bodyPr wrap="square">
            <a:spAutoFit/>
          </a:bodyPr>
          <a:lstStyle/>
          <a:p>
            <a:pPr algn="c">
              <a:defRPr sz="1200" b="1">
                <a:solidFill>
                  <a:srgbClr val="DD4444"/>
                </a:solidFill>
                <a:latin typeface="Calibri"/>
              </a:defRPr>
            </a:pPr>
            <a:r>
              <a:t>NO</a:t>
            </a:r>
          </a:p>
        </p:txBody>
      </p:sp>
      <p:sp>
        <p:nvSpPr>
          <p:cNvPr id="64" name="Cell5_3"/>
          <p:cNvSpPr/>
          <p:nvPr/>
        </p:nvSpPr>
        <p:spPr>
          <a:xfrm>
            <a:off x="8686800" y="4114800"/>
            <a:ext cx="2724912" cy="438912"/>
          </a:xfrm>
          <a:prstGeom prst="rect">
            <a:avLst/>
          </a:prstGeom>
          <a:solidFill>
            <a:srgbClr val="1E2040"/>
          </a:solidFill>
          <a:ln>
            <a:noFill/>
          </a:ln>
        </p:spPr>
        <p:txBody>
          <a:bodyPr rtlCol="0" anchor="ctr"/>
          <a:lstStyle/>
          <a:p>
            <a:pPr algn="ctr"/>
          </a:p>
        </p:txBody>
      </p:sp>
      <p:sp>
        <p:nvSpPr>
          <p:cNvPr id="65" name="CellTxt5_3"/>
          <p:cNvSpPr txBox="1"/>
          <p:nvPr/>
        </p:nvSpPr>
        <p:spPr>
          <a:xfrm>
            <a:off x="8778240" y="4206240"/>
            <a:ext cx="2560320" cy="274320"/>
          </a:xfrm>
          <a:prstGeom prst="rect">
            <a:avLst/>
          </a:prstGeom>
          <a:noFill/>
        </p:spPr>
        <p:txBody>
          <a:bodyPr wrap="square">
            <a:spAutoFit/>
          </a:bodyPr>
          <a:lstStyle/>
          <a:p>
            <a:pPr algn="c">
              <a:defRPr sz="1200" b="1">
                <a:solidFill>
                  <a:srgbClr val="DDAA44"/>
                </a:solidFill>
                <a:latin typeface="Calibri"/>
              </a:defRPr>
            </a:pPr>
            <a:r>
              <a:t>Partial</a:t>
            </a:r>
          </a:p>
        </p:txBody>
      </p:sp>
      <p:sp>
        <p:nvSpPr>
          <p:cNvPr id="66" name="Cell6_0"/>
          <p:cNvSpPr/>
          <p:nvPr/>
        </p:nvSpPr>
        <p:spPr>
          <a:xfrm>
            <a:off x="457200" y="4572000"/>
            <a:ext cx="3182112" cy="438912"/>
          </a:xfrm>
          <a:prstGeom prst="rect">
            <a:avLst/>
          </a:prstGeom>
          <a:solidFill>
            <a:srgbClr val="25253A"/>
          </a:solidFill>
          <a:ln>
            <a:noFill/>
          </a:ln>
        </p:spPr>
        <p:txBody>
          <a:bodyPr rtlCol="0" anchor="ctr"/>
          <a:lstStyle/>
          <a:p>
            <a:pPr algn="ctr"/>
          </a:p>
        </p:txBody>
      </p:sp>
      <p:sp>
        <p:nvSpPr>
          <p:cNvPr id="67" name="CellTxt6_0"/>
          <p:cNvSpPr txBox="1"/>
          <p:nvPr/>
        </p:nvSpPr>
        <p:spPr>
          <a:xfrm>
            <a:off x="548640" y="4663440"/>
            <a:ext cx="3017520" cy="274320"/>
          </a:xfrm>
          <a:prstGeom prst="rect">
            <a:avLst/>
          </a:prstGeom>
          <a:noFill/>
        </p:spPr>
        <p:txBody>
          <a:bodyPr wrap="square">
            <a:spAutoFit/>
          </a:bodyPr>
          <a:lstStyle/>
          <a:p>
            <a:pPr algn="l">
              <a:defRPr sz="1200" b="0">
                <a:solidFill>
                  <a:srgbClr val="E0E0E0"/>
                </a:solidFill>
                <a:latin typeface="Calibri"/>
              </a:defRPr>
            </a:pPr>
            <a:r>
              <a:t>Full audit trail (SOC 2)</a:t>
            </a:r>
          </a:p>
        </p:txBody>
      </p:sp>
      <p:sp>
        <p:nvSpPr>
          <p:cNvPr id="68" name="Cell6_1"/>
          <p:cNvSpPr/>
          <p:nvPr/>
        </p:nvSpPr>
        <p:spPr>
          <a:xfrm>
            <a:off x="3657600" y="4572000"/>
            <a:ext cx="2267712" cy="438912"/>
          </a:xfrm>
          <a:prstGeom prst="rect">
            <a:avLst/>
          </a:prstGeom>
          <a:solidFill>
            <a:srgbClr val="25253A"/>
          </a:solidFill>
          <a:ln>
            <a:noFill/>
          </a:ln>
        </p:spPr>
        <p:txBody>
          <a:bodyPr rtlCol="0" anchor="ctr"/>
          <a:lstStyle/>
          <a:p>
            <a:pPr algn="ctr"/>
          </a:p>
        </p:txBody>
      </p:sp>
      <p:sp>
        <p:nvSpPr>
          <p:cNvPr id="69" name="CellTxt6_1"/>
          <p:cNvSpPr txBox="1"/>
          <p:nvPr/>
        </p:nvSpPr>
        <p:spPr>
          <a:xfrm>
            <a:off x="3749040" y="4663440"/>
            <a:ext cx="2103120" cy="274320"/>
          </a:xfrm>
          <a:prstGeom prst="rect">
            <a:avLst/>
          </a:prstGeom>
          <a:noFill/>
        </p:spPr>
        <p:txBody>
          <a:bodyPr wrap="square">
            <a:spAutoFit/>
          </a:bodyPr>
          <a:lstStyle/>
          <a:p>
            <a:pPr algn="c">
              <a:defRPr sz="1200" b="1">
                <a:solidFill>
                  <a:srgbClr val="44DD88"/>
                </a:solidFill>
                <a:latin typeface="Calibri"/>
              </a:defRPr>
            </a:pPr>
            <a:r>
              <a:t>YES</a:t>
            </a:r>
          </a:p>
        </p:txBody>
      </p:sp>
      <p:sp>
        <p:nvSpPr>
          <p:cNvPr id="70" name="Cell6_2"/>
          <p:cNvSpPr/>
          <p:nvPr/>
        </p:nvSpPr>
        <p:spPr>
          <a:xfrm>
            <a:off x="5943600" y="4572000"/>
            <a:ext cx="2724912" cy="438912"/>
          </a:xfrm>
          <a:prstGeom prst="rect">
            <a:avLst/>
          </a:prstGeom>
          <a:solidFill>
            <a:srgbClr val="25253A"/>
          </a:solidFill>
          <a:ln>
            <a:noFill/>
          </a:ln>
        </p:spPr>
        <p:txBody>
          <a:bodyPr rtlCol="0" anchor="ctr"/>
          <a:lstStyle/>
          <a:p>
            <a:pPr algn="ctr"/>
          </a:p>
        </p:txBody>
      </p:sp>
      <p:sp>
        <p:nvSpPr>
          <p:cNvPr id="71" name="CellTxt6_2"/>
          <p:cNvSpPr txBox="1"/>
          <p:nvPr/>
        </p:nvSpPr>
        <p:spPr>
          <a:xfrm>
            <a:off x="6035040" y="4663440"/>
            <a:ext cx="2560320" cy="274320"/>
          </a:xfrm>
          <a:prstGeom prst="rect">
            <a:avLst/>
          </a:prstGeom>
          <a:noFill/>
        </p:spPr>
        <p:txBody>
          <a:bodyPr wrap="square">
            <a:spAutoFit/>
          </a:bodyPr>
          <a:lstStyle/>
          <a:p>
            <a:pPr algn="c">
              <a:defRPr sz="1200" b="1">
                <a:solidFill>
                  <a:srgbClr val="DDAA44"/>
                </a:solidFill>
                <a:latin typeface="Calibri"/>
              </a:defRPr>
            </a:pPr>
            <a:r>
              <a:t>Partial</a:t>
            </a:r>
          </a:p>
        </p:txBody>
      </p:sp>
      <p:sp>
        <p:nvSpPr>
          <p:cNvPr id="72" name="Cell6_3"/>
          <p:cNvSpPr/>
          <p:nvPr/>
        </p:nvSpPr>
        <p:spPr>
          <a:xfrm>
            <a:off x="8686800" y="4572000"/>
            <a:ext cx="2724912" cy="438912"/>
          </a:xfrm>
          <a:prstGeom prst="rect">
            <a:avLst/>
          </a:prstGeom>
          <a:solidFill>
            <a:srgbClr val="25253A"/>
          </a:solidFill>
          <a:ln>
            <a:noFill/>
          </a:ln>
        </p:spPr>
        <p:txBody>
          <a:bodyPr rtlCol="0" anchor="ctr"/>
          <a:lstStyle/>
          <a:p>
            <a:pPr algn="ctr"/>
          </a:p>
        </p:txBody>
      </p:sp>
      <p:sp>
        <p:nvSpPr>
          <p:cNvPr id="73" name="CellTxt6_3"/>
          <p:cNvSpPr txBox="1"/>
          <p:nvPr/>
        </p:nvSpPr>
        <p:spPr>
          <a:xfrm>
            <a:off x="8778240" y="4663440"/>
            <a:ext cx="2560320" cy="274320"/>
          </a:xfrm>
          <a:prstGeom prst="rect">
            <a:avLst/>
          </a:prstGeom>
          <a:noFill/>
        </p:spPr>
        <p:txBody>
          <a:bodyPr wrap="square">
            <a:spAutoFit/>
          </a:bodyPr>
          <a:lstStyle/>
          <a:p>
            <a:pPr algn="c">
              <a:defRPr sz="1200" b="1">
                <a:solidFill>
                  <a:srgbClr val="DDAA44"/>
                </a:solidFill>
                <a:latin typeface="Calibri"/>
              </a:defRPr>
            </a:pPr>
            <a:r>
              <a:t>Partial</a:t>
            </a:r>
          </a:p>
        </p:txBody>
      </p:sp>
      <p:sp>
        <p:nvSpPr>
          <p:cNvPr id="74" name="Cell7_0"/>
          <p:cNvSpPr/>
          <p:nvPr/>
        </p:nvSpPr>
        <p:spPr>
          <a:xfrm>
            <a:off x="457200" y="5029200"/>
            <a:ext cx="3182112" cy="438912"/>
          </a:xfrm>
          <a:prstGeom prst="rect">
            <a:avLst/>
          </a:prstGeom>
          <a:solidFill>
            <a:srgbClr val="1E2040"/>
          </a:solidFill>
          <a:ln>
            <a:noFill/>
          </a:ln>
        </p:spPr>
        <p:txBody>
          <a:bodyPr rtlCol="0" anchor="ctr"/>
          <a:lstStyle/>
          <a:p>
            <a:pPr algn="ctr"/>
          </a:p>
        </p:txBody>
      </p:sp>
      <p:sp>
        <p:nvSpPr>
          <p:cNvPr id="75" name="CellTxt7_0"/>
          <p:cNvSpPr txBox="1"/>
          <p:nvPr/>
        </p:nvSpPr>
        <p:spPr>
          <a:xfrm>
            <a:off x="548640" y="5120640"/>
            <a:ext cx="3017520" cy="274320"/>
          </a:xfrm>
          <a:prstGeom prst="rect">
            <a:avLst/>
          </a:prstGeom>
          <a:noFill/>
        </p:spPr>
        <p:txBody>
          <a:bodyPr wrap="square">
            <a:spAutoFit/>
          </a:bodyPr>
          <a:lstStyle/>
          <a:p>
            <a:pPr algn="l">
              <a:defRPr sz="1200" b="0">
                <a:solidFill>
                  <a:srgbClr val="E0E0E0"/>
                </a:solidFill>
                <a:latin typeface="Calibri"/>
              </a:defRPr>
            </a:pPr>
            <a:r>
              <a:t>Air-gap deployment</a:t>
            </a:r>
          </a:p>
        </p:txBody>
      </p:sp>
      <p:sp>
        <p:nvSpPr>
          <p:cNvPr id="76" name="Cell7_1"/>
          <p:cNvSpPr/>
          <p:nvPr/>
        </p:nvSpPr>
        <p:spPr>
          <a:xfrm>
            <a:off x="3657600" y="5029200"/>
            <a:ext cx="2267712" cy="438912"/>
          </a:xfrm>
          <a:prstGeom prst="rect">
            <a:avLst/>
          </a:prstGeom>
          <a:solidFill>
            <a:srgbClr val="1E2040"/>
          </a:solidFill>
          <a:ln>
            <a:noFill/>
          </a:ln>
        </p:spPr>
        <p:txBody>
          <a:bodyPr rtlCol="0" anchor="ctr"/>
          <a:lstStyle/>
          <a:p>
            <a:pPr algn="ctr"/>
          </a:p>
        </p:txBody>
      </p:sp>
      <p:sp>
        <p:nvSpPr>
          <p:cNvPr id="77" name="CellTxt7_1"/>
          <p:cNvSpPr txBox="1"/>
          <p:nvPr/>
        </p:nvSpPr>
        <p:spPr>
          <a:xfrm>
            <a:off x="3749040" y="5120640"/>
            <a:ext cx="2103120" cy="274320"/>
          </a:xfrm>
          <a:prstGeom prst="rect">
            <a:avLst/>
          </a:prstGeom>
          <a:noFill/>
        </p:spPr>
        <p:txBody>
          <a:bodyPr wrap="square">
            <a:spAutoFit/>
          </a:bodyPr>
          <a:lstStyle/>
          <a:p>
            <a:pPr algn="c">
              <a:defRPr sz="1200" b="1">
                <a:solidFill>
                  <a:srgbClr val="44DD88"/>
                </a:solidFill>
                <a:latin typeface="Calibri"/>
              </a:defRPr>
            </a:pPr>
            <a:r>
              <a:t>YES</a:t>
            </a:r>
          </a:p>
        </p:txBody>
      </p:sp>
      <p:sp>
        <p:nvSpPr>
          <p:cNvPr id="78" name="Cell7_2"/>
          <p:cNvSpPr/>
          <p:nvPr/>
        </p:nvSpPr>
        <p:spPr>
          <a:xfrm>
            <a:off x="5943600" y="5029200"/>
            <a:ext cx="2724912" cy="438912"/>
          </a:xfrm>
          <a:prstGeom prst="rect">
            <a:avLst/>
          </a:prstGeom>
          <a:solidFill>
            <a:srgbClr val="1E2040"/>
          </a:solidFill>
          <a:ln>
            <a:noFill/>
          </a:ln>
        </p:spPr>
        <p:txBody>
          <a:bodyPr rtlCol="0" anchor="ctr"/>
          <a:lstStyle/>
          <a:p>
            <a:pPr algn="ctr"/>
          </a:p>
        </p:txBody>
      </p:sp>
      <p:sp>
        <p:nvSpPr>
          <p:cNvPr id="79" name="CellTxt7_2"/>
          <p:cNvSpPr txBox="1"/>
          <p:nvPr/>
        </p:nvSpPr>
        <p:spPr>
          <a:xfrm>
            <a:off x="6035040" y="5120640"/>
            <a:ext cx="2560320" cy="274320"/>
          </a:xfrm>
          <a:prstGeom prst="rect">
            <a:avLst/>
          </a:prstGeom>
          <a:noFill/>
        </p:spPr>
        <p:txBody>
          <a:bodyPr wrap="square">
            <a:spAutoFit/>
          </a:bodyPr>
          <a:lstStyle/>
          <a:p>
            <a:pPr algn="c">
              <a:defRPr sz="1200" b="1">
                <a:solidFill>
                  <a:srgbClr val="DD4444"/>
                </a:solidFill>
                <a:latin typeface="Calibri"/>
              </a:defRPr>
            </a:pPr>
            <a:r>
              <a:t>NO</a:t>
            </a:r>
          </a:p>
        </p:txBody>
      </p:sp>
      <p:sp>
        <p:nvSpPr>
          <p:cNvPr id="80" name="Cell7_3"/>
          <p:cNvSpPr/>
          <p:nvPr/>
        </p:nvSpPr>
        <p:spPr>
          <a:xfrm>
            <a:off x="8686800" y="5029200"/>
            <a:ext cx="2724912" cy="438912"/>
          </a:xfrm>
          <a:prstGeom prst="rect">
            <a:avLst/>
          </a:prstGeom>
          <a:solidFill>
            <a:srgbClr val="1E2040"/>
          </a:solidFill>
          <a:ln>
            <a:noFill/>
          </a:ln>
        </p:spPr>
        <p:txBody>
          <a:bodyPr rtlCol="0" anchor="ctr"/>
          <a:lstStyle/>
          <a:p>
            <a:pPr algn="ctr"/>
          </a:p>
        </p:txBody>
      </p:sp>
      <p:sp>
        <p:nvSpPr>
          <p:cNvPr id="81" name="CellTxt7_3"/>
          <p:cNvSpPr txBox="1"/>
          <p:nvPr/>
        </p:nvSpPr>
        <p:spPr>
          <a:xfrm>
            <a:off x="8778240" y="5120640"/>
            <a:ext cx="2560320" cy="274320"/>
          </a:xfrm>
          <a:prstGeom prst="rect">
            <a:avLst/>
          </a:prstGeom>
          <a:noFill/>
        </p:spPr>
        <p:txBody>
          <a:bodyPr wrap="square">
            <a:spAutoFit/>
          </a:bodyPr>
          <a:lstStyle/>
          <a:p>
            <a:pPr algn="c">
              <a:defRPr sz="1200" b="1">
                <a:solidFill>
                  <a:srgbClr val="DD4444"/>
                </a:solidFill>
                <a:latin typeface="Calibri"/>
              </a:defRPr>
            </a:pPr>
            <a:r>
              <a:t>NO</a:t>
            </a:r>
          </a:p>
        </p:txBody>
      </p:sp>
      <p:sp>
        <p:nvSpPr>
          <p:cNvPr id="82" name="Cell8_0"/>
          <p:cNvSpPr/>
          <p:nvPr/>
        </p:nvSpPr>
        <p:spPr>
          <a:xfrm>
            <a:off x="457200" y="5486400"/>
            <a:ext cx="3182112" cy="438912"/>
          </a:xfrm>
          <a:prstGeom prst="rect">
            <a:avLst/>
          </a:prstGeom>
          <a:solidFill>
            <a:srgbClr val="25253A"/>
          </a:solidFill>
          <a:ln>
            <a:noFill/>
          </a:ln>
        </p:spPr>
        <p:txBody>
          <a:bodyPr rtlCol="0" anchor="ctr"/>
          <a:lstStyle/>
          <a:p>
            <a:pPr algn="ctr"/>
          </a:p>
        </p:txBody>
      </p:sp>
      <p:sp>
        <p:nvSpPr>
          <p:cNvPr id="83" name="CellTxt8_0"/>
          <p:cNvSpPr txBox="1"/>
          <p:nvPr/>
        </p:nvSpPr>
        <p:spPr>
          <a:xfrm>
            <a:off x="548640" y="5577840"/>
            <a:ext cx="3017520" cy="274320"/>
          </a:xfrm>
          <a:prstGeom prst="rect">
            <a:avLst/>
          </a:prstGeom>
          <a:noFill/>
        </p:spPr>
        <p:txBody>
          <a:bodyPr wrap="square">
            <a:spAutoFit/>
          </a:bodyPr>
          <a:lstStyle/>
          <a:p>
            <a:pPr algn="l">
              <a:defRPr sz="1200" b="0">
                <a:solidFill>
                  <a:srgbClr val="E0E0E0"/>
                </a:solidFill>
                <a:latin typeface="Calibri"/>
              </a:defRPr>
            </a:pPr>
            <a:r>
              <a:t>Model agnostic</a:t>
            </a:r>
          </a:p>
        </p:txBody>
      </p:sp>
      <p:sp>
        <p:nvSpPr>
          <p:cNvPr id="84" name="Cell8_1"/>
          <p:cNvSpPr/>
          <p:nvPr/>
        </p:nvSpPr>
        <p:spPr>
          <a:xfrm>
            <a:off x="3657600" y="5486400"/>
            <a:ext cx="2267712" cy="438912"/>
          </a:xfrm>
          <a:prstGeom prst="rect">
            <a:avLst/>
          </a:prstGeom>
          <a:solidFill>
            <a:srgbClr val="25253A"/>
          </a:solidFill>
          <a:ln>
            <a:noFill/>
          </a:ln>
        </p:spPr>
        <p:txBody>
          <a:bodyPr rtlCol="0" anchor="ctr"/>
          <a:lstStyle/>
          <a:p>
            <a:pPr algn="ctr"/>
          </a:p>
        </p:txBody>
      </p:sp>
      <p:sp>
        <p:nvSpPr>
          <p:cNvPr id="85" name="CellTxt8_1"/>
          <p:cNvSpPr txBox="1"/>
          <p:nvPr/>
        </p:nvSpPr>
        <p:spPr>
          <a:xfrm>
            <a:off x="3749040" y="5577840"/>
            <a:ext cx="2103120" cy="274320"/>
          </a:xfrm>
          <a:prstGeom prst="rect">
            <a:avLst/>
          </a:prstGeom>
          <a:noFill/>
        </p:spPr>
        <p:txBody>
          <a:bodyPr wrap="square">
            <a:spAutoFit/>
          </a:bodyPr>
          <a:lstStyle/>
          <a:p>
            <a:pPr algn="c">
              <a:defRPr sz="1200" b="1">
                <a:solidFill>
                  <a:srgbClr val="44DD88"/>
                </a:solidFill>
                <a:latin typeface="Calibri"/>
              </a:defRPr>
            </a:pPr>
            <a:r>
              <a:t>YES</a:t>
            </a:r>
          </a:p>
        </p:txBody>
      </p:sp>
      <p:sp>
        <p:nvSpPr>
          <p:cNvPr id="86" name="Cell8_2"/>
          <p:cNvSpPr/>
          <p:nvPr/>
        </p:nvSpPr>
        <p:spPr>
          <a:xfrm>
            <a:off x="5943600" y="5486400"/>
            <a:ext cx="2724912" cy="438912"/>
          </a:xfrm>
          <a:prstGeom prst="rect">
            <a:avLst/>
          </a:prstGeom>
          <a:solidFill>
            <a:srgbClr val="25253A"/>
          </a:solidFill>
          <a:ln>
            <a:noFill/>
          </a:ln>
        </p:spPr>
        <p:txBody>
          <a:bodyPr rtlCol="0" anchor="ctr"/>
          <a:lstStyle/>
          <a:p>
            <a:pPr algn="ctr"/>
          </a:p>
        </p:txBody>
      </p:sp>
      <p:sp>
        <p:nvSpPr>
          <p:cNvPr id="87" name="CellTxt8_2"/>
          <p:cNvSpPr txBox="1"/>
          <p:nvPr/>
        </p:nvSpPr>
        <p:spPr>
          <a:xfrm>
            <a:off x="6035040" y="5577840"/>
            <a:ext cx="2560320" cy="274320"/>
          </a:xfrm>
          <a:prstGeom prst="rect">
            <a:avLst/>
          </a:prstGeom>
          <a:noFill/>
        </p:spPr>
        <p:txBody>
          <a:bodyPr wrap="square">
            <a:spAutoFit/>
          </a:bodyPr>
          <a:lstStyle/>
          <a:p>
            <a:pPr algn="c">
              <a:defRPr sz="1200" b="1">
                <a:solidFill>
                  <a:srgbClr val="DD4444"/>
                </a:solidFill>
                <a:latin typeface="Calibri"/>
              </a:defRPr>
            </a:pPr>
            <a:r>
              <a:t>NO</a:t>
            </a:r>
          </a:p>
        </p:txBody>
      </p:sp>
      <p:sp>
        <p:nvSpPr>
          <p:cNvPr id="88" name="Cell8_3"/>
          <p:cNvSpPr/>
          <p:nvPr/>
        </p:nvSpPr>
        <p:spPr>
          <a:xfrm>
            <a:off x="8686800" y="5486400"/>
            <a:ext cx="2724912" cy="438912"/>
          </a:xfrm>
          <a:prstGeom prst="rect">
            <a:avLst/>
          </a:prstGeom>
          <a:solidFill>
            <a:srgbClr val="25253A"/>
          </a:solidFill>
          <a:ln>
            <a:noFill/>
          </a:ln>
        </p:spPr>
        <p:txBody>
          <a:bodyPr rtlCol="0" anchor="ctr"/>
          <a:lstStyle/>
          <a:p>
            <a:pPr algn="ctr"/>
          </a:p>
        </p:txBody>
      </p:sp>
      <p:sp>
        <p:nvSpPr>
          <p:cNvPr id="89" name="CellTxt8_3"/>
          <p:cNvSpPr txBox="1"/>
          <p:nvPr/>
        </p:nvSpPr>
        <p:spPr>
          <a:xfrm>
            <a:off x="8778240" y="5577840"/>
            <a:ext cx="2560320" cy="274320"/>
          </a:xfrm>
          <a:prstGeom prst="rect">
            <a:avLst/>
          </a:prstGeom>
          <a:noFill/>
        </p:spPr>
        <p:txBody>
          <a:bodyPr wrap="square">
            <a:spAutoFit/>
          </a:bodyPr>
          <a:lstStyle/>
          <a:p>
            <a:pPr algn="c">
              <a:defRPr sz="1200" b="1">
                <a:solidFill>
                  <a:srgbClr val="DD4444"/>
                </a:solidFill>
                <a:latin typeface="Calibri"/>
              </a:defRPr>
            </a:pPr>
            <a:r>
              <a:t>NO</a:t>
            </a:r>
          </a:p>
        </p:txBody>
      </p:sp>
      <p:sp>
        <p:nvSpPr>
          <p:cNvPr id="90" name="Cell9_0"/>
          <p:cNvSpPr/>
          <p:nvPr/>
        </p:nvSpPr>
        <p:spPr>
          <a:xfrm>
            <a:off x="457200" y="5943600"/>
            <a:ext cx="3182112" cy="438912"/>
          </a:xfrm>
          <a:prstGeom prst="rect">
            <a:avLst/>
          </a:prstGeom>
          <a:solidFill>
            <a:srgbClr val="1E2040"/>
          </a:solidFill>
          <a:ln>
            <a:noFill/>
          </a:ln>
        </p:spPr>
        <p:txBody>
          <a:bodyPr rtlCol="0" anchor="ctr"/>
          <a:lstStyle/>
          <a:p>
            <a:pPr algn="ctr"/>
          </a:p>
        </p:txBody>
      </p:sp>
      <p:sp>
        <p:nvSpPr>
          <p:cNvPr id="91" name="CellTxt9_0"/>
          <p:cNvSpPr txBox="1"/>
          <p:nvPr/>
        </p:nvSpPr>
        <p:spPr>
          <a:xfrm>
            <a:off x="548640" y="6035040"/>
            <a:ext cx="3017520" cy="274320"/>
          </a:xfrm>
          <a:prstGeom prst="rect">
            <a:avLst/>
          </a:prstGeom>
          <a:noFill/>
        </p:spPr>
        <p:txBody>
          <a:bodyPr wrap="square">
            <a:spAutoFit/>
          </a:bodyPr>
          <a:lstStyle/>
          <a:p>
            <a:pPr algn="l">
              <a:defRPr sz="1200" b="0">
                <a:solidFill>
                  <a:srgbClr val="E0E0E0"/>
                </a:solidFill>
                <a:latin typeface="Calibri"/>
              </a:defRPr>
            </a:pPr>
            <a:r>
              <a:t>Per-token cost</a:t>
            </a:r>
          </a:p>
        </p:txBody>
      </p:sp>
      <p:sp>
        <p:nvSpPr>
          <p:cNvPr id="92" name="Cell9_1"/>
          <p:cNvSpPr/>
          <p:nvPr/>
        </p:nvSpPr>
        <p:spPr>
          <a:xfrm>
            <a:off x="3657600" y="5943600"/>
            <a:ext cx="2267712" cy="438912"/>
          </a:xfrm>
          <a:prstGeom prst="rect">
            <a:avLst/>
          </a:prstGeom>
          <a:solidFill>
            <a:srgbClr val="1E2040"/>
          </a:solidFill>
          <a:ln>
            <a:noFill/>
          </a:ln>
        </p:spPr>
        <p:txBody>
          <a:bodyPr rtlCol="0" anchor="ctr"/>
          <a:lstStyle/>
          <a:p>
            <a:pPr algn="ctr"/>
          </a:p>
        </p:txBody>
      </p:sp>
      <p:sp>
        <p:nvSpPr>
          <p:cNvPr id="93" name="CellTxt9_1"/>
          <p:cNvSpPr txBox="1"/>
          <p:nvPr/>
        </p:nvSpPr>
        <p:spPr>
          <a:xfrm>
            <a:off x="3749040" y="6035040"/>
            <a:ext cx="2103120" cy="274320"/>
          </a:xfrm>
          <a:prstGeom prst="rect">
            <a:avLst/>
          </a:prstGeom>
          <a:noFill/>
        </p:spPr>
        <p:txBody>
          <a:bodyPr wrap="square">
            <a:spAutoFit/>
          </a:bodyPr>
          <a:lstStyle/>
          <a:p>
            <a:pPr algn="c">
              <a:defRPr sz="1200" b="1">
                <a:solidFill>
                  <a:srgbClr val="44DD88"/>
                </a:solidFill>
                <a:latin typeface="Calibri"/>
              </a:defRPr>
            </a:pPr>
            <a:r>
              <a:t>$0 (fixed)</a:t>
            </a:r>
          </a:p>
        </p:txBody>
      </p:sp>
      <p:sp>
        <p:nvSpPr>
          <p:cNvPr id="94" name="Cell9_2"/>
          <p:cNvSpPr/>
          <p:nvPr/>
        </p:nvSpPr>
        <p:spPr>
          <a:xfrm>
            <a:off x="5943600" y="5943600"/>
            <a:ext cx="2724912" cy="438912"/>
          </a:xfrm>
          <a:prstGeom prst="rect">
            <a:avLst/>
          </a:prstGeom>
          <a:solidFill>
            <a:srgbClr val="1E2040"/>
          </a:solidFill>
          <a:ln>
            <a:noFill/>
          </a:ln>
        </p:spPr>
        <p:txBody>
          <a:bodyPr rtlCol="0" anchor="ctr"/>
          <a:lstStyle/>
          <a:p>
            <a:pPr algn="ctr"/>
          </a:p>
        </p:txBody>
      </p:sp>
      <p:sp>
        <p:nvSpPr>
          <p:cNvPr id="95" name="CellTxt9_2"/>
          <p:cNvSpPr txBox="1"/>
          <p:nvPr/>
        </p:nvSpPr>
        <p:spPr>
          <a:xfrm>
            <a:off x="6035040" y="6035040"/>
            <a:ext cx="2560320" cy="274320"/>
          </a:xfrm>
          <a:prstGeom prst="rect">
            <a:avLst/>
          </a:prstGeom>
          <a:noFill/>
        </p:spPr>
        <p:txBody>
          <a:bodyPr wrap="square">
            <a:spAutoFit/>
          </a:bodyPr>
          <a:lstStyle/>
          <a:p>
            <a:pPr algn="c">
              <a:defRPr sz="1200" b="1">
                <a:solidFill>
                  <a:srgbClr val="DD4444"/>
                </a:solidFill>
                <a:latin typeface="Calibri"/>
              </a:defRPr>
            </a:pPr>
            <a:r>
              <a:t>~$60/user/mo</a:t>
            </a:r>
          </a:p>
        </p:txBody>
      </p:sp>
      <p:sp>
        <p:nvSpPr>
          <p:cNvPr id="96" name="Cell9_3"/>
          <p:cNvSpPr/>
          <p:nvPr/>
        </p:nvSpPr>
        <p:spPr>
          <a:xfrm>
            <a:off x="8686800" y="5943600"/>
            <a:ext cx="2724912" cy="438912"/>
          </a:xfrm>
          <a:prstGeom prst="rect">
            <a:avLst/>
          </a:prstGeom>
          <a:solidFill>
            <a:srgbClr val="1E2040"/>
          </a:solidFill>
          <a:ln>
            <a:noFill/>
          </a:ln>
        </p:spPr>
        <p:txBody>
          <a:bodyPr rtlCol="0" anchor="ctr"/>
          <a:lstStyle/>
          <a:p>
            <a:pPr algn="ctr"/>
          </a:p>
        </p:txBody>
      </p:sp>
      <p:sp>
        <p:nvSpPr>
          <p:cNvPr id="97" name="CellTxt9_3"/>
          <p:cNvSpPr txBox="1"/>
          <p:nvPr/>
        </p:nvSpPr>
        <p:spPr>
          <a:xfrm>
            <a:off x="8778240" y="6035040"/>
            <a:ext cx="2560320" cy="274320"/>
          </a:xfrm>
          <a:prstGeom prst="rect">
            <a:avLst/>
          </a:prstGeom>
          <a:noFill/>
        </p:spPr>
        <p:txBody>
          <a:bodyPr wrap="square">
            <a:spAutoFit/>
          </a:bodyPr>
          <a:lstStyle/>
          <a:p>
            <a:pPr algn="c">
              <a:defRPr sz="1200" b="1">
                <a:solidFill>
                  <a:srgbClr val="DD4444"/>
                </a:solidFill>
                <a:latin typeface="Calibri"/>
              </a:defRPr>
            </a:pPr>
            <a:r>
              <a:t>Per-token</a:t>
            </a:r>
          </a:p>
        </p:txBody>
      </p:sp>
    </p:spTree>
  </p:cSld>
  <p:clrMapOvr>
    <a:masterClr/>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